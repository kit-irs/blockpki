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7"/>
  </p:notesMasterIdLst>
  <p:handoutMasterIdLst>
    <p:handoutMasterId r:id="rId48"/>
  </p:handoutMasterIdLst>
  <p:sldIdLst>
    <p:sldId id="265" r:id="rId5"/>
    <p:sldId id="276" r:id="rId6"/>
    <p:sldId id="350" r:id="rId7"/>
    <p:sldId id="306" r:id="rId8"/>
    <p:sldId id="274" r:id="rId9"/>
    <p:sldId id="339" r:id="rId10"/>
    <p:sldId id="349" r:id="rId11"/>
    <p:sldId id="298" r:id="rId12"/>
    <p:sldId id="279" r:id="rId13"/>
    <p:sldId id="305" r:id="rId14"/>
    <p:sldId id="327" r:id="rId15"/>
    <p:sldId id="329" r:id="rId16"/>
    <p:sldId id="299" r:id="rId17"/>
    <p:sldId id="325" r:id="rId18"/>
    <p:sldId id="330" r:id="rId19"/>
    <p:sldId id="315" r:id="rId20"/>
    <p:sldId id="292" r:id="rId21"/>
    <p:sldId id="314" r:id="rId22"/>
    <p:sldId id="291" r:id="rId23"/>
    <p:sldId id="313" r:id="rId24"/>
    <p:sldId id="300" r:id="rId25"/>
    <p:sldId id="293" r:id="rId26"/>
    <p:sldId id="295" r:id="rId27"/>
    <p:sldId id="332" r:id="rId28"/>
    <p:sldId id="312" r:id="rId29"/>
    <p:sldId id="302" r:id="rId30"/>
    <p:sldId id="333" r:id="rId31"/>
    <p:sldId id="334" r:id="rId32"/>
    <p:sldId id="337" r:id="rId33"/>
    <p:sldId id="341" r:id="rId34"/>
    <p:sldId id="343" r:id="rId35"/>
    <p:sldId id="342" r:id="rId36"/>
    <p:sldId id="351" r:id="rId37"/>
    <p:sldId id="268" r:id="rId38"/>
    <p:sldId id="328" r:id="rId39"/>
    <p:sldId id="289" r:id="rId40"/>
    <p:sldId id="317" r:id="rId41"/>
    <p:sldId id="290" r:id="rId42"/>
    <p:sldId id="318" r:id="rId43"/>
    <p:sldId id="352" r:id="rId44"/>
    <p:sldId id="354" r:id="rId45"/>
    <p:sldId id="353" r:id="rId46"/>
  </p:sldIdLst>
  <p:sldSz cx="12192000" cy="6858000"/>
  <p:notesSz cx="6958013" cy="994727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1E34B143-D781-4E92-BE5A-30E7D1204383}">
          <p14:sldIdLst>
            <p14:sldId id="265"/>
            <p14:sldId id="276"/>
          </p14:sldIdLst>
        </p14:section>
        <p14:section name="Problem Statement Public Key Infrastructure" id="{5566F005-1203-46FA-8527-6332D1FE7002}">
          <p14:sldIdLst>
            <p14:sldId id="350"/>
          </p14:sldIdLst>
        </p14:section>
        <p14:section name="Zusammenfassungsabschnitt" id="{CC87054C-2D8A-4629-83E0-D4384202867B}">
          <p14:sldIdLst/>
        </p14:section>
        <p14:section name="Problem Statement Public Key Infrastructure (PKI)" id="{EF52AE5A-8C9E-449C-824B-D23EFEC3ADBC}">
          <p14:sldIdLst>
            <p14:sldId id="306"/>
          </p14:sldIdLst>
        </p14:section>
        <p14:section name="Problem Statement Given Modular Environment" id="{5D3DDF6C-A851-4097-A997-9B05DEBCEE60}">
          <p14:sldIdLst>
            <p14:sldId id="274"/>
          </p14:sldIdLst>
        </p14:section>
        <p14:section name="Problem Statement Given Modular Environment" id="{CA3DBB35-9C35-452F-BCDA-007802DF97A6}">
          <p14:sldIdLst>
            <p14:sldId id="339"/>
          </p14:sldIdLst>
        </p14:section>
        <p14:section name="Problem Statement Proposed Blockchain Solution" id="{44599C73-7520-4E24-AEE9-1F6B94BF3CBC}">
          <p14:sldIdLst>
            <p14:sldId id="349"/>
            <p14:sldId id="298"/>
          </p14:sldIdLst>
        </p14:section>
        <p14:section name="Fundamentals Blockchain Structure " id="{BA69F0B2-DE56-4413-AFE2-4BB74F672DAF}">
          <p14:sldIdLst>
            <p14:sldId id="279"/>
          </p14:sldIdLst>
        </p14:section>
        <p14:section name=" Immutability" id="{FA5D6327-5B82-4535-8A73-6AFBDDBFCEBB}">
          <p14:sldIdLst>
            <p14:sldId id="305"/>
          </p14:sldIdLst>
        </p14:section>
        <p14:section name=" Smart Contracts" id="{B4E6B621-E17D-44A6-B8E5-982CBF2819FE}">
          <p14:sldIdLst/>
        </p14:section>
        <p14:section name="Fundamentals Basic Blockchain Consensus (PoW)" id="{649C5ECC-520B-40AE-A29A-45469DAFD92C}">
          <p14:sldIdLst/>
        </p14:section>
        <p14:section name="Fundamentals Execute-Order-Validate Model " id="{E54B49D3-C013-414C-A81D-40BAFF9AE9BB}">
          <p14:sldIdLst>
            <p14:sldId id="327"/>
          </p14:sldIdLst>
        </p14:section>
        <p14:section name="Fundamentals Practical Example" id="{DF789E99-1C5E-418C-A3A7-151B0A936A2E}">
          <p14:sldIdLst>
            <p14:sldId id="329"/>
            <p14:sldId id="299"/>
          </p14:sldIdLst>
        </p14:section>
        <p14:section name="State of the Art Structured Literature Research" id="{030865FD-81B4-4490-975E-67E4D613901F}">
          <p14:sldIdLst>
            <p14:sldId id="325"/>
          </p14:sldIdLst>
        </p14:section>
        <p14:section name="State of the Art Blockchain Based PKI Variants" id="{82FBE81F-3F0B-4B78-B9B9-3946AAD1ED24}">
          <p14:sldIdLst>
            <p14:sldId id="330"/>
          </p14:sldIdLst>
        </p14:section>
        <p14:section name="State of the Art Blockchain Based PKI Variants" id="{D5B1EC4A-50BB-471A-AF86-067627C299D6}">
          <p14:sldIdLst>
            <p14:sldId id="315"/>
          </p14:sldIdLst>
        </p14:section>
        <p14:section name="State of the Art Blockchain Based PKI Variants" id="{4BC3FB51-F99E-441D-9FB5-932E4DD5CCBB}">
          <p14:sldIdLst>
            <p14:sldId id="292"/>
          </p14:sldIdLst>
        </p14:section>
        <p14:section name="State of the Art Blockchain Based PKI Variants" id="{4A462045-E79B-4651-9346-130522BBADFE}">
          <p14:sldIdLst>
            <p14:sldId id="314"/>
          </p14:sldIdLst>
        </p14:section>
        <p14:section name="State of the Art Blockchain Based PKI Variants" id="{9674D65D-A1C8-4D96-8D14-4C150F195072}">
          <p14:sldIdLst>
            <p14:sldId id="291"/>
          </p14:sldIdLst>
        </p14:section>
        <p14:section name="State of the Art Blockchain Based PKI Variants" id="{1B82666F-B807-4807-984B-D36BEFEC2B1A}">
          <p14:sldIdLst>
            <p14:sldId id="313"/>
            <p14:sldId id="300"/>
          </p14:sldIdLst>
        </p14:section>
        <p14:section name="Concept  Synthesized System" id="{353E547B-EBAA-447B-AB54-2C807AFA7FE7}">
          <p14:sldIdLst>
            <p14:sldId id="293"/>
          </p14:sldIdLst>
        </p14:section>
        <p14:section name="Concept  Synthesized System" id="{DA0B9481-818A-444C-A1EB-81C899973267}">
          <p14:sldIdLst>
            <p14:sldId id="295"/>
          </p14:sldIdLst>
        </p14:section>
        <p14:section name="Concept  Synthesized System in Hyperledger Fabric" id="{07944946-119F-4633-94A0-CF0CAE8368D9}">
          <p14:sldIdLst>
            <p14:sldId id="332"/>
          </p14:sldIdLst>
        </p14:section>
        <p14:section name="Concept  Stored Audit Trail on the World State" id="{0509A3E8-F867-4C9C-837A-EFD63AED6510}">
          <p14:sldIdLst>
            <p14:sldId id="312"/>
            <p14:sldId id="302"/>
          </p14:sldIdLst>
        </p14:section>
        <p14:section name="Benchmarks System Latency" id="{13F56355-FAA3-4CDC-80F4-072E0EA25DCA}">
          <p14:sldIdLst>
            <p14:sldId id="333"/>
          </p14:sldIdLst>
        </p14:section>
        <p14:section name="Benchmarks Storage Consumption" id="{38B26F1A-E641-4086-86D3-8116BFE05FB9}">
          <p14:sldIdLst>
            <p14:sldId id="334"/>
          </p14:sldIdLst>
        </p14:section>
        <p14:section name="Benchmarks Other Observation" id="{01DD5360-DB8C-4A4E-B76F-628FFC8D4469}">
          <p14:sldIdLst>
            <p14:sldId id="337"/>
          </p14:sldIdLst>
        </p14:section>
        <p14:section name="Discussion Suitability for OT" id="{CF0C52D9-F12D-4D89-9EC1-2D6702219778}">
          <p14:sldIdLst/>
        </p14:section>
        <p14:section name="Discussion Suitability for OT" id="{BCAD34B9-104A-46E8-93FB-0ED939DCCBE5}">
          <p14:sldIdLst/>
        </p14:section>
        <p14:section name="Discussion Suitability for OT" id="{F8DD34C3-735B-4557-AE08-EA7823050CCB}">
          <p14:sldIdLst>
            <p14:sldId id="341"/>
            <p14:sldId id="343"/>
          </p14:sldIdLst>
        </p14:section>
        <p14:section name="Demonstration" id="{44A750A8-40C8-424B-88F6-0AC791E71CB2}">
          <p14:sldIdLst>
            <p14:sldId id="342"/>
          </p14:sldIdLst>
        </p14:section>
        <p14:section name="Conclusion Conclusion and Next Steps" id="{CD9AA53C-FDF2-480C-9DD9-ED7ACBBEA16F}">
          <p14:sldIdLst>
            <p14:sldId id="351"/>
            <p14:sldId id="268"/>
          </p14:sldIdLst>
        </p14:section>
        <p14:section name="Backup" id="{70214718-5F5C-4A10-89F1-3882B3AE3BD1}">
          <p14:sldIdLst>
            <p14:sldId id="328"/>
            <p14:sldId id="289"/>
            <p14:sldId id="317"/>
            <p14:sldId id="290"/>
            <p14:sldId id="318"/>
            <p14:sldId id="352"/>
            <p14:sldId id="354"/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82"/>
    <a:srgbClr val="A7822E"/>
    <a:srgbClr val="4664AA"/>
    <a:srgbClr val="002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5" autoAdjust="0"/>
    <p:restoredTop sz="85413" autoAdjust="0"/>
  </p:normalViewPr>
  <p:slideViewPr>
    <p:cSldViewPr snapToGrid="0" showGuides="1">
      <p:cViewPr varScale="1">
        <p:scale>
          <a:sx n="132" d="100"/>
          <a:sy n="132" d="100"/>
        </p:scale>
        <p:origin x="1434" y="126"/>
      </p:cViewPr>
      <p:guideLst/>
    </p:cSldViewPr>
  </p:slideViewPr>
  <p:outlineViewPr>
    <p:cViewPr>
      <p:scale>
        <a:sx n="33" d="100"/>
        <a:sy n="33" d="100"/>
      </p:scale>
      <p:origin x="0" y="-999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>
        <p:scale>
          <a:sx n="200" d="100"/>
          <a:sy n="200" d="100"/>
        </p:scale>
        <p:origin x="3168" y="-3306"/>
      </p:cViewPr>
      <p:guideLst/>
    </p:cSldViewPr>
  </p:notesViewPr>
  <p:gridSpacing cx="68400" cy="684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opfzeilenplatzhalter 1">
            <a:extLst>
              <a:ext uri="{FF2B5EF4-FFF2-40B4-BE49-F238E27FC236}">
                <a16:creationId xmlns:a16="http://schemas.microsoft.com/office/drawing/2014/main" id="{7021594F-60AF-5030-27F4-B919E0755C0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45C4C54D-5268-2170-0B7D-70659D206B08}"/>
              </a:ext>
            </a:extLst>
          </p:cNvPr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de-DE" smtClean="0"/>
              <a:pPr/>
              <a:t>24.03.2026</a:t>
            </a:fld>
            <a:endParaRPr lang="de-DE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A7568FAF-32D5-F797-5874-241DEBC3A7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6A11AFD2-EF91-BDDC-349A-DB1934250B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06104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704" userDrawn="1">
          <p15:clr>
            <a:srgbClr val="F26B43"/>
          </p15:clr>
        </p15:guide>
        <p15:guide id="2" pos="219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de-DE" smtClean="0"/>
              <a:pPr/>
              <a:t>24.03.2026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84640" y="499091"/>
            <a:ext cx="6588732" cy="3707147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txBody>
          <a:bodyPr vert="horz" lIns="96597" tIns="48299" rIns="96597" bIns="48299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192088" y="4398211"/>
            <a:ext cx="6581284" cy="4679883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85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1200" kern="1200">
        <a:solidFill>
          <a:srgbClr val="000000"/>
        </a:solidFill>
        <a:latin typeface="+mn-lt"/>
        <a:ea typeface="+mn-ea"/>
        <a:cs typeface="+mn-cs"/>
      </a:defRPr>
    </a:lvl1pPr>
    <a:lvl2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Wingdings" panose="05000000000000000000" pitchFamily="2" charset="2"/>
      <a:buChar char="§"/>
      <a:defRPr sz="1200" kern="1200">
        <a:solidFill>
          <a:srgbClr val="000000"/>
        </a:solidFill>
        <a:latin typeface="+mn-lt"/>
        <a:ea typeface="+mn-ea"/>
        <a:cs typeface="+mn-cs"/>
      </a:defRPr>
    </a:lvl2pPr>
    <a:lvl3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+mj-lt"/>
      <a:buAutoNum type="arabicPeriod"/>
      <a:defRPr sz="1200" kern="1200">
        <a:solidFill>
          <a:srgbClr val="000000"/>
        </a:solidFill>
        <a:latin typeface="+mn-lt"/>
        <a:ea typeface="+mn-ea"/>
        <a:cs typeface="+mn-cs"/>
      </a:defRPr>
    </a:lvl3pPr>
    <a:lvl4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Symbol" panose="05050102010706020507" pitchFamily="18" charset="2"/>
      <a:buChar char="-"/>
      <a:defRPr sz="1200" kern="1200">
        <a:solidFill>
          <a:srgbClr val="000000"/>
        </a:solidFill>
        <a:latin typeface="+mn-lt"/>
        <a:ea typeface="+mn-ea"/>
        <a:cs typeface="+mn-cs"/>
      </a:defRPr>
    </a:lvl4pPr>
    <a:lvl5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+mj-lt"/>
      <a:buAutoNum type="alphaLcPeriod"/>
      <a:defRPr sz="1200" kern="1200">
        <a:solidFill>
          <a:srgbClr val="000000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10000"/>
      </a:lnSpc>
      <a:spcBef>
        <a:spcPts val="1000"/>
      </a:spcBef>
      <a:spcAft>
        <a:spcPts val="600"/>
      </a:spcAft>
      <a:defRPr sz="1600" b="1" kern="1200">
        <a:solidFill>
          <a:schemeClr val="accent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772" userDrawn="1">
          <p15:clr>
            <a:srgbClr val="F26B43"/>
          </p15:clr>
        </p15:guide>
        <p15:guide id="2" pos="121" userDrawn="1">
          <p15:clr>
            <a:srgbClr val="F26B43"/>
          </p15:clr>
        </p15:guide>
        <p15:guide id="3" pos="427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813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C5B7B-09C7-BE6B-CCE3-3AE013ADD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1F87114-0037-E059-D5BD-A461E836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4205127-F7CA-6F45-D0D5-9C2476339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40E2BB-D06C-8159-F050-F1DE1E97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5154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7740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045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5D3FF-B358-1041-12A8-1D0DB1B8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F8869F-E3B1-88B5-CF31-17E49E569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D3F484-C787-6D42-B204-8469883E2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Übergang zu </a:t>
            </a:r>
            <a:r>
              <a:rPr lang="de-DE" dirty="0" err="1"/>
              <a:t>blockchain</a:t>
            </a:r>
            <a:r>
              <a:rPr lang="de-DE" dirty="0"/>
              <a:t> mehr hervorheben und motivieren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EE46B2-C53F-CA20-5322-F63328BE0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8640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8051C-0078-5323-3702-B343CA8F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60305A0-C1C4-005D-E362-BDF338336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71E79B7-4366-D5EB-217E-6087F0C7E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Übergang zu </a:t>
            </a:r>
            <a:r>
              <a:rPr lang="de-DE" dirty="0" err="1"/>
              <a:t>blockchain</a:t>
            </a:r>
            <a:r>
              <a:rPr lang="de-DE" dirty="0"/>
              <a:t> mehr hervorheben und motivieren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7A4BC8-3212-0420-DCA7-058727B50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2670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achieved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seen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clearly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fundamentals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blockchain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works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9448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762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2242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952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Mehr </a:t>
            </a:r>
            <a:r>
              <a:rPr lang="de-DE" dirty="0" err="1"/>
              <a:t>fokus</a:t>
            </a:r>
            <a:r>
              <a:rPr lang="de-DE" dirty="0"/>
              <a:t> und erklären was genau gemacht und woher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2978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91E29-EF5B-229D-66D9-23FC52C2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F09541C-411C-6D4D-5976-C10895BDB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2FDCC89-492B-FDC4-7FB9-2A6C01652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1D8894-C8A1-7406-B33F-B7EBB9946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2565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6695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985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878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68782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24027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After </a:t>
            </a:r>
            <a:r>
              <a:rPr lang="de-DE" dirty="0" err="1"/>
              <a:t>examining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relevant </a:t>
            </a:r>
            <a:r>
              <a:rPr lang="de-DE" dirty="0" err="1"/>
              <a:t>solutions</a:t>
            </a:r>
            <a:r>
              <a:rPr lang="de-DE" dirty="0"/>
              <a:t> i </a:t>
            </a:r>
            <a:r>
              <a:rPr lang="de-DE" dirty="0" err="1"/>
              <a:t>developed</a:t>
            </a:r>
            <a:r>
              <a:rPr lang="de-DE" dirty="0"/>
              <a:t> a </a:t>
            </a:r>
            <a:r>
              <a:rPr lang="de-DE" dirty="0" err="1"/>
              <a:t>generic</a:t>
            </a:r>
            <a:r>
              <a:rPr lang="de-DE" dirty="0"/>
              <a:t> </a:t>
            </a:r>
            <a:r>
              <a:rPr lang="de-DE" dirty="0" err="1"/>
              <a:t>base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adapted</a:t>
            </a:r>
            <a:r>
              <a:rPr lang="de-DE" dirty="0"/>
              <a:t> in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aspects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reflect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solutions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1104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3142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01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38768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5536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30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8578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45190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integrates</a:t>
            </a:r>
            <a:r>
              <a:rPr lang="de-DE" dirty="0"/>
              <a:t> a </a:t>
            </a:r>
            <a:r>
              <a:rPr lang="de-DE" dirty="0" err="1"/>
              <a:t>governance</a:t>
            </a:r>
            <a:r>
              <a:rPr lang="de-DE" dirty="0"/>
              <a:t> </a:t>
            </a:r>
            <a:r>
              <a:rPr lang="de-DE" dirty="0" err="1"/>
              <a:t>entity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manages</a:t>
            </a:r>
            <a:r>
              <a:rPr lang="de-DE" dirty="0"/>
              <a:t> </a:t>
            </a:r>
            <a:r>
              <a:rPr lang="de-DE" dirty="0" err="1"/>
              <a:t>policies</a:t>
            </a:r>
            <a:r>
              <a:rPr lang="de-DE" dirty="0"/>
              <a:t>. How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varies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, but </a:t>
            </a:r>
            <a:r>
              <a:rPr lang="de-DE" dirty="0" err="1"/>
              <a:t>generally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CA </a:t>
            </a:r>
            <a:r>
              <a:rPr lang="de-DE" dirty="0" err="1"/>
              <a:t>manages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certificates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governmental</a:t>
            </a:r>
            <a:r>
              <a:rPr lang="de-DE" dirty="0"/>
              <a:t> </a:t>
            </a:r>
            <a:r>
              <a:rPr lang="de-DE" dirty="0" err="1"/>
              <a:t>entity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 </a:t>
            </a:r>
            <a:r>
              <a:rPr lang="de-DE" dirty="0" err="1"/>
              <a:t>defines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trust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anchored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certificates</a:t>
            </a:r>
            <a:r>
              <a:rPr lang="de-DE" dirty="0"/>
              <a:t>. An easy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dirty="0" err="1"/>
              <a:t>black</a:t>
            </a:r>
            <a:r>
              <a:rPr lang="de-DE" dirty="0"/>
              <a:t>/</a:t>
            </a:r>
            <a:r>
              <a:rPr lang="de-DE" dirty="0" err="1"/>
              <a:t>whitelist</a:t>
            </a:r>
            <a:r>
              <a:rPr lang="de-DE" dirty="0"/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36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08304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37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37832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Type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decentralizes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trust</a:t>
            </a:r>
            <a:r>
              <a:rPr lang="de-DE" dirty="0"/>
              <a:t>. </a:t>
            </a:r>
            <a:r>
              <a:rPr lang="de-DE" dirty="0" err="1"/>
              <a:t>Already</a:t>
            </a:r>
            <a:r>
              <a:rPr lang="de-DE" dirty="0"/>
              <a:t> CA </a:t>
            </a:r>
            <a:r>
              <a:rPr lang="de-DE" dirty="0" err="1"/>
              <a:t>issued</a:t>
            </a:r>
            <a:r>
              <a:rPr lang="de-DE" dirty="0"/>
              <a:t> </a:t>
            </a:r>
            <a:r>
              <a:rPr lang="de-DE" dirty="0" err="1"/>
              <a:t>certificates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accepted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denied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blockchain</a:t>
            </a:r>
            <a:r>
              <a:rPr lang="de-DE" dirty="0"/>
              <a:t> </a:t>
            </a:r>
            <a:r>
              <a:rPr lang="de-DE" dirty="0" err="1"/>
              <a:t>consensus</a:t>
            </a:r>
            <a:r>
              <a:rPr lang="de-DE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38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39177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Lets</a:t>
            </a:r>
            <a:r>
              <a:rPr lang="de-DE" dirty="0"/>
              <a:t> </a:t>
            </a:r>
            <a:r>
              <a:rPr lang="de-DE" dirty="0" err="1"/>
              <a:t>say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node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dirty="0" err="1"/>
              <a:t>robot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an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issued</a:t>
            </a:r>
            <a:r>
              <a:rPr lang="de-DE" dirty="0"/>
              <a:t> </a:t>
            </a:r>
            <a:r>
              <a:rPr lang="de-DE" dirty="0" err="1"/>
              <a:t>certificate</a:t>
            </a:r>
            <a:r>
              <a:rPr lang="de-DE" dirty="0"/>
              <a:t>. The network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decide</a:t>
            </a:r>
            <a:r>
              <a:rPr lang="de-DE" dirty="0"/>
              <a:t> on </a:t>
            </a:r>
            <a:r>
              <a:rPr lang="de-DE" dirty="0" err="1"/>
              <a:t>it‘s</a:t>
            </a:r>
            <a:r>
              <a:rPr lang="de-DE" dirty="0"/>
              <a:t> own. </a:t>
            </a:r>
          </a:p>
          <a:p>
            <a:endParaRPr lang="de-DE" dirty="0"/>
          </a:p>
          <a:p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still </a:t>
            </a:r>
            <a:r>
              <a:rPr lang="de-DE" dirty="0" err="1"/>
              <a:t>need</a:t>
            </a:r>
            <a:r>
              <a:rPr lang="de-DE" dirty="0"/>
              <a:t> an </a:t>
            </a:r>
            <a:r>
              <a:rPr lang="de-DE" dirty="0" err="1"/>
              <a:t>entity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</a:t>
            </a:r>
            <a:r>
              <a:rPr lang="de-DE" dirty="0" err="1"/>
              <a:t>certificates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managed</a:t>
            </a:r>
            <a:r>
              <a:rPr lang="de-DE" dirty="0"/>
              <a:t> </a:t>
            </a:r>
            <a:r>
              <a:rPr lang="de-DE" dirty="0" err="1"/>
              <a:t>inside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consensus</a:t>
            </a:r>
            <a:r>
              <a:rPr lang="de-DE" dirty="0"/>
              <a:t> but not </a:t>
            </a:r>
            <a:r>
              <a:rPr lang="de-DE" dirty="0" err="1"/>
              <a:t>created</a:t>
            </a:r>
            <a:r>
              <a:rPr lang="de-DE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de-DE" smtClean="0"/>
              <a:pPr/>
              <a:t>39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889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de-DE" sz="12000" b="1" dirty="0">
                <a:solidFill>
                  <a:schemeClr val="bg1"/>
                </a:solidFill>
              </a:rPr>
              <a:t>Titelfolien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9806C6D-0905-EEEA-0B68-C996F2964FF2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5E157EA1-ECC1-A9AA-1AF8-CA75A4644506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aute 4">
              <a:extLst>
                <a:ext uri="{FF2B5EF4-FFF2-40B4-BE49-F238E27FC236}">
                  <a16:creationId xmlns:a16="http://schemas.microsoft.com/office/drawing/2014/main" id="{FDC88BE7-F254-7F88-E4BE-4948376941CA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2467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Quer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371475" y="4038599"/>
            <a:ext cx="5616575" cy="1694655"/>
          </a:xfrm>
        </p:spPr>
        <p:txBody>
          <a:bodyPr rIns="0" anchor="t"/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733256"/>
            <a:ext cx="5616575" cy="543718"/>
          </a:xfrm>
        </p:spPr>
        <p:txBody>
          <a:bodyPr rIns="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Master-Untertitelformat bearbeiten</a:t>
            </a: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B05E904A-C9EA-86A7-9664-F1BEB574F064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vert="horz" wrap="none" lIns="0" tIns="36000" rIns="0" bIns="0" rtlCol="0" anchor="ctr">
            <a:normAutofit fontScale="25000" lnSpcReduction="20000"/>
          </a:bodyPr>
          <a:lstStyle>
            <a:defPPr>
              <a:defRPr lang="de-DE"/>
            </a:defPPr>
            <a:lvl1pPr marL="0" algn="l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Datum aus technischen Gründen nicht deaktivieren!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46CC5CD-AF6B-4EF0-3308-79576A9A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 dirty="0"/>
              <a:t>Vorname Name - Präsentationstitel</a:t>
            </a:r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EF9ED98-5AE0-9DB9-A2FD-AB2BDC2F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SmartArt-Platzhalter 10">
            <a:extLst>
              <a:ext uri="{FF2B5EF4-FFF2-40B4-BE49-F238E27FC236}">
                <a16:creationId xmlns:a16="http://schemas.microsoft.com/office/drawing/2014/main" id="{A96C0EF9-BA74-F815-E094-6E6D6E1F1198}"/>
              </a:ext>
            </a:extLst>
          </p:cNvPr>
          <p:cNvSpPr>
            <a:spLocks noGrp="1" noChangeAspect="1"/>
          </p:cNvSpPr>
          <p:nvPr>
            <p:ph type="dgm" sz="quarter" idx="20" hasCustomPrompt="1"/>
          </p:nvPr>
        </p:nvSpPr>
        <p:spPr bwMode="gray">
          <a:xfrm>
            <a:off x="10710878" y="368661"/>
            <a:ext cx="861983" cy="309203"/>
          </a:xfrm>
          <a:custGeom>
            <a:avLst/>
            <a:gdLst>
              <a:gd name="connsiteX0" fmla="*/ 672615 w 881062"/>
              <a:gd name="connsiteY0" fmla="*/ 316 h 316047"/>
              <a:gd name="connsiteX1" fmla="*/ 881062 w 881062"/>
              <a:gd name="connsiteY1" fmla="*/ 316 h 316047"/>
              <a:gd name="connsiteX2" fmla="*/ 881062 w 881062"/>
              <a:gd name="connsiteY2" fmla="*/ 71315 h 316047"/>
              <a:gd name="connsiteX3" fmla="*/ 820105 w 881062"/>
              <a:gd name="connsiteY3" fmla="*/ 71315 h 316047"/>
              <a:gd name="connsiteX4" fmla="*/ 820105 w 881062"/>
              <a:gd name="connsiteY4" fmla="*/ 316047 h 316047"/>
              <a:gd name="connsiteX5" fmla="*/ 733572 w 881062"/>
              <a:gd name="connsiteY5" fmla="*/ 316047 h 316047"/>
              <a:gd name="connsiteX6" fmla="*/ 733572 w 881062"/>
              <a:gd name="connsiteY6" fmla="*/ 71315 h 316047"/>
              <a:gd name="connsiteX7" fmla="*/ 672615 w 881062"/>
              <a:gd name="connsiteY7" fmla="*/ 71315 h 316047"/>
              <a:gd name="connsiteX8" fmla="*/ 565331 w 881062"/>
              <a:gd name="connsiteY8" fmla="*/ 316 h 316047"/>
              <a:gd name="connsiteX9" fmla="*/ 651859 w 881062"/>
              <a:gd name="connsiteY9" fmla="*/ 316 h 316047"/>
              <a:gd name="connsiteX10" fmla="*/ 651859 w 881062"/>
              <a:gd name="connsiteY10" fmla="*/ 315733 h 316047"/>
              <a:gd name="connsiteX11" fmla="*/ 565331 w 881062"/>
              <a:gd name="connsiteY11" fmla="*/ 315733 h 316047"/>
              <a:gd name="connsiteX12" fmla="*/ 316992 w 881062"/>
              <a:gd name="connsiteY12" fmla="*/ 316 h 316047"/>
              <a:gd name="connsiteX13" fmla="*/ 319603 w 881062"/>
              <a:gd name="connsiteY13" fmla="*/ 316 h 316047"/>
              <a:gd name="connsiteX14" fmla="*/ 319289 w 881062"/>
              <a:gd name="connsiteY14" fmla="*/ 315733 h 316047"/>
              <a:gd name="connsiteX15" fmla="*/ 319243 w 881062"/>
              <a:gd name="connsiteY15" fmla="*/ 315733 h 316047"/>
              <a:gd name="connsiteX16" fmla="*/ 319243 w 881062"/>
              <a:gd name="connsiteY16" fmla="*/ 315729 h 316047"/>
              <a:gd name="connsiteX17" fmla="*/ 0 w 881062"/>
              <a:gd name="connsiteY17" fmla="*/ 315729 h 316047"/>
              <a:gd name="connsiteX18" fmla="*/ 10040 w 881062"/>
              <a:gd name="connsiteY18" fmla="*/ 238565 h 316047"/>
              <a:gd name="connsiteX19" fmla="*/ 319239 w 881062"/>
              <a:gd name="connsiteY19" fmla="*/ 315718 h 316047"/>
              <a:gd name="connsiteX20" fmla="*/ 319236 w 881062"/>
              <a:gd name="connsiteY20" fmla="*/ 315705 h 316047"/>
              <a:gd name="connsiteX21" fmla="*/ 30795 w 881062"/>
              <a:gd name="connsiteY21" fmla="*/ 181522 h 316047"/>
              <a:gd name="connsiteX22" fmla="*/ 72618 w 881062"/>
              <a:gd name="connsiteY22" fmla="*/ 115703 h 316047"/>
              <a:gd name="connsiteX23" fmla="*/ 319230 w 881062"/>
              <a:gd name="connsiteY23" fmla="*/ 315681 h 316047"/>
              <a:gd name="connsiteX24" fmla="*/ 319204 w 881062"/>
              <a:gd name="connsiteY24" fmla="*/ 315579 h 316047"/>
              <a:gd name="connsiteX25" fmla="*/ 118629 w 881062"/>
              <a:gd name="connsiteY25" fmla="*/ 70321 h 316047"/>
              <a:gd name="connsiteX26" fmla="*/ 184766 w 881062"/>
              <a:gd name="connsiteY26" fmla="*/ 29486 h 316047"/>
              <a:gd name="connsiteX27" fmla="*/ 319187 w 881062"/>
              <a:gd name="connsiteY27" fmla="*/ 315512 h 316047"/>
              <a:gd name="connsiteX28" fmla="*/ 242439 w 881062"/>
              <a:gd name="connsiteY28" fmla="*/ 9408 h 316047"/>
              <a:gd name="connsiteX29" fmla="*/ 316992 w 881062"/>
              <a:gd name="connsiteY29" fmla="*/ 316 h 316047"/>
              <a:gd name="connsiteX30" fmla="*/ 450887 w 881062"/>
              <a:gd name="connsiteY30" fmla="*/ 0 h 316047"/>
              <a:gd name="connsiteX31" fmla="*/ 550067 w 881062"/>
              <a:gd name="connsiteY31" fmla="*/ 0 h 316047"/>
              <a:gd name="connsiteX32" fmla="*/ 422343 w 881062"/>
              <a:gd name="connsiteY32" fmla="*/ 158833 h 316047"/>
              <a:gd name="connsiteX33" fmla="*/ 550698 w 881062"/>
              <a:gd name="connsiteY33" fmla="*/ 315733 h 316047"/>
              <a:gd name="connsiteX34" fmla="*/ 454488 w 881062"/>
              <a:gd name="connsiteY34" fmla="*/ 315733 h 316047"/>
              <a:gd name="connsiteX35" fmla="*/ 340045 w 881062"/>
              <a:gd name="connsiteY35" fmla="*/ 192869 h 316047"/>
              <a:gd name="connsiteX36" fmla="*/ 340045 w 881062"/>
              <a:gd name="connsiteY36" fmla="*/ 122548 h 31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1062" h="316047">
                <a:moveTo>
                  <a:pt x="672615" y="316"/>
                </a:moveTo>
                <a:lnTo>
                  <a:pt x="881062" y="316"/>
                </a:lnTo>
                <a:lnTo>
                  <a:pt x="881062" y="71315"/>
                </a:lnTo>
                <a:lnTo>
                  <a:pt x="820105" y="71315"/>
                </a:lnTo>
                <a:lnTo>
                  <a:pt x="820105" y="316047"/>
                </a:lnTo>
                <a:lnTo>
                  <a:pt x="733572" y="316047"/>
                </a:lnTo>
                <a:lnTo>
                  <a:pt x="733572" y="71315"/>
                </a:lnTo>
                <a:lnTo>
                  <a:pt x="672615" y="71315"/>
                </a:lnTo>
                <a:close/>
                <a:moveTo>
                  <a:pt x="565331" y="316"/>
                </a:moveTo>
                <a:lnTo>
                  <a:pt x="651859" y="316"/>
                </a:lnTo>
                <a:lnTo>
                  <a:pt x="651859" y="315733"/>
                </a:lnTo>
                <a:lnTo>
                  <a:pt x="565331" y="315733"/>
                </a:lnTo>
                <a:close/>
                <a:moveTo>
                  <a:pt x="316992" y="316"/>
                </a:moveTo>
                <a:lnTo>
                  <a:pt x="319603" y="316"/>
                </a:lnTo>
                <a:lnTo>
                  <a:pt x="319289" y="315733"/>
                </a:lnTo>
                <a:lnTo>
                  <a:pt x="319243" y="315733"/>
                </a:lnTo>
                <a:lnTo>
                  <a:pt x="319243" y="315729"/>
                </a:lnTo>
                <a:lnTo>
                  <a:pt x="0" y="315729"/>
                </a:lnTo>
                <a:cubicBezTo>
                  <a:pt x="314" y="289122"/>
                  <a:pt x="3556" y="263191"/>
                  <a:pt x="10040" y="238565"/>
                </a:cubicBezTo>
                <a:lnTo>
                  <a:pt x="319239" y="315718"/>
                </a:lnTo>
                <a:lnTo>
                  <a:pt x="319236" y="315705"/>
                </a:lnTo>
                <a:lnTo>
                  <a:pt x="30795" y="181522"/>
                </a:lnTo>
                <a:cubicBezTo>
                  <a:pt x="41825" y="157842"/>
                  <a:pt x="56097" y="135780"/>
                  <a:pt x="72618" y="115703"/>
                </a:cubicBezTo>
                <a:lnTo>
                  <a:pt x="319230" y="315681"/>
                </a:lnTo>
                <a:lnTo>
                  <a:pt x="319204" y="315579"/>
                </a:lnTo>
                <a:lnTo>
                  <a:pt x="118629" y="70321"/>
                </a:lnTo>
                <a:cubicBezTo>
                  <a:pt x="138754" y="54114"/>
                  <a:pt x="160770" y="40518"/>
                  <a:pt x="184766" y="29486"/>
                </a:cubicBezTo>
                <a:lnTo>
                  <a:pt x="319187" y="315512"/>
                </a:lnTo>
                <a:lnTo>
                  <a:pt x="242439" y="9408"/>
                </a:lnTo>
                <a:cubicBezTo>
                  <a:pt x="266435" y="3556"/>
                  <a:pt x="291376" y="316"/>
                  <a:pt x="316992" y="316"/>
                </a:cubicBezTo>
                <a:close/>
                <a:moveTo>
                  <a:pt x="450887" y="0"/>
                </a:moveTo>
                <a:lnTo>
                  <a:pt x="550067" y="0"/>
                </a:lnTo>
                <a:lnTo>
                  <a:pt x="422343" y="158833"/>
                </a:lnTo>
                <a:lnTo>
                  <a:pt x="550698" y="315733"/>
                </a:lnTo>
                <a:lnTo>
                  <a:pt x="454488" y="315733"/>
                </a:lnTo>
                <a:lnTo>
                  <a:pt x="340045" y="192869"/>
                </a:lnTo>
                <a:lnTo>
                  <a:pt x="340045" y="122548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 dsafasdfadsfdsfasdfsadfasdfadsf sdaf asdfasdf</a:t>
            </a:r>
          </a:p>
        </p:txBody>
      </p:sp>
      <p:pic>
        <p:nvPicPr>
          <p:cNvPr id="10" name="IRS Logo">
            <a:extLst>
              <a:ext uri="{FF2B5EF4-FFF2-40B4-BE49-F238E27FC236}">
                <a16:creationId xmlns:a16="http://schemas.microsoft.com/office/drawing/2014/main" id="{56F5A3F6-47A6-447E-A1E1-27F005534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0877" y="5966045"/>
            <a:ext cx="861983" cy="30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09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88051" y="1"/>
            <a:ext cx="4103687" cy="6858000"/>
          </a:xfrm>
        </p:spPr>
        <p:txBody>
          <a:bodyPr tIns="936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4472A9-C746-414B-A339-17009C086F0C}"/>
              </a:ext>
            </a:extLst>
          </p:cNvPr>
          <p:cNvSpPr/>
          <p:nvPr userDrawn="1"/>
        </p:nvSpPr>
        <p:spPr bwMode="gray">
          <a:xfrm>
            <a:off x="0" y="0"/>
            <a:ext cx="59880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71475" y="368300"/>
            <a:ext cx="5616575" cy="4681538"/>
          </a:xfrm>
        </p:spPr>
        <p:txBody>
          <a:bodyPr rIns="360000" anchor="t"/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71475" y="5265738"/>
            <a:ext cx="5616575" cy="1011236"/>
          </a:xfrm>
        </p:spPr>
        <p:txBody>
          <a:bodyPr rIns="36000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6250CC-595F-56CB-920B-A07D0AF8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C4822CFF-E457-424E-9C6B-1CB3F165064D}" type="datetime1">
              <a:rPr lang="de-DE" smtClean="0"/>
              <a:t>24.03.2026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012934-337B-04B6-BBA6-336DE745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 dirty="0"/>
              <a:t>Vorname Name - Präsentationstitel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7DF1B2-42B7-5543-6886-E7938EDB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484C6BD-91DB-46E4-D1D8-D75CEFB669AE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59D79EA9-159E-AF02-E8D2-0E0E2BFCBD4B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0DC72A4-EA66-1D2C-67F7-6C89ECA758CD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pic>
        <p:nvPicPr>
          <p:cNvPr id="14" name="IRS Logo">
            <a:extLst>
              <a:ext uri="{FF2B5EF4-FFF2-40B4-BE49-F238E27FC236}">
                <a16:creationId xmlns:a16="http://schemas.microsoft.com/office/drawing/2014/main" id="{A52A4620-433C-4A66-86C9-B1E68F3E19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0877" y="5966045"/>
            <a:ext cx="861983" cy="30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457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de-DE" sz="12000" b="1" dirty="0">
                <a:solidFill>
                  <a:schemeClr val="bg1"/>
                </a:solidFill>
              </a:rPr>
              <a:t>Agenden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5244B92-11CA-AA31-8AB9-45C253E1FCD6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92178F17-D259-CFA4-628D-049EBD28B82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27EC8CEF-7F13-B3B5-1CA9-5784DB43CE28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20089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300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Inhalte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C2C08001-0F3C-B494-75F8-9E71BBFF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B6259812-E65C-E700-2748-83B9B6FC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 dirty="0"/>
              <a:t>Vorname Name - Präsentationstitel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09484FD1-E4AD-217E-F687-4A210DD2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158AFF2-074B-D1FB-1C41-F829102F48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bg1"/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Rechteck 10">
            <a:extLst>
              <a:ext uri="{FF2B5EF4-FFF2-40B4-BE49-F238E27FC236}">
                <a16:creationId xmlns:a16="http://schemas.microsoft.com/office/drawing/2014/main" id="{B46D0104-192B-4FCC-9137-DD72E936A91A}"/>
              </a:ext>
            </a:extLst>
          </p:cNvPr>
          <p:cNvSpPr/>
          <p:nvPr userDrawn="1"/>
        </p:nvSpPr>
        <p:spPr bwMode="gray">
          <a:xfrm>
            <a:off x="10091738" y="1"/>
            <a:ext cx="2100262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2" name="IRS Logo">
            <a:extLst>
              <a:ext uri="{FF2B5EF4-FFF2-40B4-BE49-F238E27FC236}">
                <a16:creationId xmlns:a16="http://schemas.microsoft.com/office/drawing/2014/main" id="{9112F561-BBE8-4408-9400-F7941E7113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4512" y="368299"/>
            <a:ext cx="866036" cy="30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0532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nn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de-DE" sz="12000" b="1" dirty="0" err="1">
                <a:solidFill>
                  <a:schemeClr val="bg1"/>
                </a:solidFill>
              </a:rPr>
              <a:t>Trenner</a:t>
            </a:r>
            <a:endParaRPr lang="de-DE" sz="12000" b="1" dirty="0">
              <a:solidFill>
                <a:schemeClr val="bg1"/>
              </a:solidFill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83ADA49-B8A9-2D5D-A571-94E5F1DD0F54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E2251FA2-90EB-2A45-FC37-A0304FBAD8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61D9F5AD-F0AD-2CAA-880D-C238F5A4CFA7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15969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49F37-C71A-F97E-E3A7-139DDD7F9DA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371475" y="4041774"/>
            <a:ext cx="7561263" cy="2232025"/>
          </a:xfrm>
        </p:spPr>
        <p:txBody>
          <a:bodyPr tIns="72000"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377F9694-8382-FAAE-BF69-4C4EF7EA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BFD61994-477B-4F19-B954-CD82543946D9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1ACFB753-502E-F3E6-F47F-279E23DC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 dirty="0"/>
              <a:t>Vorname Name - Präsentationstitel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1960B388-4E4A-DE89-37D5-609461BF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FF8578ED-5C80-7F30-EAC9-58EF35B5425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2A2A9F0-A69F-C43F-A107-E3FA32B32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091738" y="4041776"/>
            <a:ext cx="1726244" cy="365518"/>
          </a:xfrm>
        </p:spPr>
        <p:txBody>
          <a:bodyPr wrap="none" tIns="108000"/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4FC48BF4-7798-9F53-9DFC-ED348CD6B0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0091738" y="4407464"/>
            <a:ext cx="1726244" cy="858274"/>
          </a:xfrm>
        </p:spPr>
        <p:txBody>
          <a:bodyPr wrap="none" tIns="0"/>
          <a:lstStyle>
            <a:lvl1pPr marL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>
                    <a:alpha val="60000"/>
                  </a:schemeClr>
                </a:solidFill>
                <a:latin typeface="+mj-lt"/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8A65190-0278-D712-7185-458914BDE89A}"/>
              </a:ext>
            </a:extLst>
          </p:cNvPr>
          <p:cNvSpPr/>
          <p:nvPr userDrawn="1"/>
        </p:nvSpPr>
        <p:spPr bwMode="gray">
          <a:xfrm>
            <a:off x="12252684" y="4041774"/>
            <a:ext cx="1908212" cy="18354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Kapiteltrenner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Für eine bessere Übersicht kann der Kapiteltrenner Farblich angepasst werden.</a:t>
            </a:r>
          </a:p>
          <a:p>
            <a:pPr algn="l"/>
            <a:endParaRPr lang="de-DE" sz="1000" b="0" dirty="0">
              <a:solidFill>
                <a:schemeClr val="tx1"/>
              </a:solidFill>
            </a:endParaRPr>
          </a:p>
          <a:p>
            <a:pPr algn="l"/>
            <a:r>
              <a:rPr lang="de-DE" sz="1000" b="0" dirty="0">
                <a:solidFill>
                  <a:schemeClr val="tx1"/>
                </a:solidFill>
              </a:rPr>
              <a:t>Rechtsklick neben der Folie,</a:t>
            </a:r>
          </a:p>
          <a:p>
            <a:pPr algn="l"/>
            <a:r>
              <a:rPr lang="de-DE" sz="1000" b="1" dirty="0">
                <a:solidFill>
                  <a:schemeClr val="tx1"/>
                </a:solidFill>
              </a:rPr>
              <a:t>Hintergrund formatieren,</a:t>
            </a:r>
            <a:br>
              <a:rPr lang="de-DE" sz="1000" b="1" dirty="0">
                <a:solidFill>
                  <a:schemeClr val="tx1"/>
                </a:solidFill>
              </a:rPr>
            </a:br>
            <a:r>
              <a:rPr lang="de-DE" sz="1000" b="1" dirty="0">
                <a:solidFill>
                  <a:schemeClr val="tx1"/>
                </a:solidFill>
              </a:rPr>
              <a:t>Design Farbe </a:t>
            </a:r>
            <a:r>
              <a:rPr lang="de-DE" sz="1000" b="0" dirty="0">
                <a:solidFill>
                  <a:schemeClr val="tx1"/>
                </a:solidFill>
              </a:rPr>
              <a:t>auswählen.</a:t>
            </a:r>
            <a:endParaRPr lang="de-DE" sz="1000" b="1" dirty="0">
              <a:solidFill>
                <a:schemeClr val="tx1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0105423-6B46-120A-0BA8-0B71D20B9EDB}"/>
              </a:ext>
            </a:extLst>
          </p:cNvPr>
          <p:cNvSpPr/>
          <p:nvPr userDrawn="1"/>
        </p:nvSpPr>
        <p:spPr bwMode="gray">
          <a:xfrm>
            <a:off x="12396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49502F4-B000-C269-8071-9A63E2A72653}"/>
              </a:ext>
            </a:extLst>
          </p:cNvPr>
          <p:cNvSpPr/>
          <p:nvPr userDrawn="1"/>
        </p:nvSpPr>
        <p:spPr bwMode="gray">
          <a:xfrm>
            <a:off x="126164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E2FD37A-1CC6-89FD-5DDD-E6570ACC76CE}"/>
              </a:ext>
            </a:extLst>
          </p:cNvPr>
          <p:cNvSpPr/>
          <p:nvPr userDrawn="1"/>
        </p:nvSpPr>
        <p:spPr bwMode="gray">
          <a:xfrm>
            <a:off x="128362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39F4507-52B0-54F8-D940-968CA169441A}"/>
              </a:ext>
            </a:extLst>
          </p:cNvPr>
          <p:cNvSpPr/>
          <p:nvPr userDrawn="1"/>
        </p:nvSpPr>
        <p:spPr bwMode="gray">
          <a:xfrm>
            <a:off x="130559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3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057D053-9A95-35E0-0244-4F994B98FF23}"/>
              </a:ext>
            </a:extLst>
          </p:cNvPr>
          <p:cNvSpPr/>
          <p:nvPr userDrawn="1"/>
        </p:nvSpPr>
        <p:spPr bwMode="gray">
          <a:xfrm>
            <a:off x="13275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F5C6E84-2A68-9158-2D5F-E1AB8B02124C}"/>
              </a:ext>
            </a:extLst>
          </p:cNvPr>
          <p:cNvSpPr/>
          <p:nvPr userDrawn="1"/>
        </p:nvSpPr>
        <p:spPr bwMode="gray">
          <a:xfrm>
            <a:off x="13495450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AE386D5-4201-6C21-55BF-AE30828A74FF}"/>
              </a:ext>
            </a:extLst>
          </p:cNvPr>
          <p:cNvSpPr/>
          <p:nvPr userDrawn="1"/>
        </p:nvSpPr>
        <p:spPr bwMode="gray">
          <a:xfrm>
            <a:off x="13715202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pic>
        <p:nvPicPr>
          <p:cNvPr id="20" name="IRS Logo">
            <a:extLst>
              <a:ext uri="{FF2B5EF4-FFF2-40B4-BE49-F238E27FC236}">
                <a16:creationId xmlns:a16="http://schemas.microsoft.com/office/drawing/2014/main" id="{829727FF-439F-4EE5-B601-2A679D2E4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413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de-DE" sz="12000" b="1" dirty="0">
                <a:solidFill>
                  <a:schemeClr val="bg1"/>
                </a:solidFill>
              </a:rPr>
              <a:t>Textfolien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96487C8-3898-9A0D-C9F9-756ABF29CC7A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BB845C91-C89E-338E-C9EA-4C39346DFA5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176FA26C-F202-41D1-CD6E-898DF2DEBB09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09343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vo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11449050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D431E4-E519-1234-FE33-E8AB807780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3E1860-A350-404E-BF89-23A268CA0970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38985F4-50E8-E270-E8DA-DC9A5DFEC6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11813F-F15B-6052-8D32-B7BF1C278A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380263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7561264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D431E4-E519-1234-FE33-E8AB807780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3E1860-A350-404E-BF89-23A268CA0970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38985F4-50E8-E270-E8DA-DC9A5DFEC6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11813F-F15B-6052-8D32-B7BF1C278A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648846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203953" y="1592263"/>
            <a:ext cx="5616575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89038B4-FE9D-E75E-CBA7-A4AFDD61FFE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3F8990C-EE9B-9FAE-C44C-270F39377E6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C8FCD27-29AE-82EA-3746-DBEB053279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996826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 3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3671885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259263" y="1598217"/>
            <a:ext cx="3671885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5FAB14BE-0A96-B2A6-1E7C-652A5A235D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155943" y="1592263"/>
            <a:ext cx="3671885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FCF9B44-89CE-5C78-E17A-E0D8DDD8AA0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5D6D84-B9D9-4EE0-8181-8165ECC36878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2B90CFD-7675-410D-5FBC-60FE99027A6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EE605EC-0BAE-E682-2FEE-959934696D4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07566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 4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270033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3287713" y="1598217"/>
            <a:ext cx="270033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5FAB14BE-0A96-B2A6-1E7C-652A5A235D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203949" y="1592263"/>
            <a:ext cx="270033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A18B540B-0C8C-E249-F263-396FA418CF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9120188" y="1592263"/>
            <a:ext cx="270033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6F2C2F2-A469-FDA9-4694-B14CE4D2B83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FB63C7A-AB1B-4ADA-A105-5A7A9890EF06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9FE437C-2FB5-8E53-12AF-758B9C09B96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C6255C4-5E26-8F03-0093-3FE830E79CD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519302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&amp; Bi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de-DE" sz="12000" b="1" dirty="0">
                <a:solidFill>
                  <a:schemeClr val="bg1"/>
                </a:solidFill>
              </a:rPr>
              <a:t>Text &amp; Bild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D91CF98-7E64-A92D-A585-8CE7EB1112F2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0DC14551-5FA4-58A0-A5D0-4712444E529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CA816A33-7090-9599-A875-ED901DF398EA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138540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x Text und Bild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299"/>
            <a:ext cx="7561263" cy="10080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260849" y="1592263"/>
            <a:ext cx="367188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1"/>
            <a:ext cx="4043361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79FA06E-4A79-9BE7-7176-0CDABBFDEA0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095E5DA-1F91-4636-98F8-9885B3FA0391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ACCEBE-2A95-EBE4-CD9F-A6EDDA2496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930C461-1671-0A4D-6841-C1DA8B5BA1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Rechteck 8">
            <a:extLst>
              <a:ext uri="{FF2B5EF4-FFF2-40B4-BE49-F238E27FC236}">
                <a16:creationId xmlns:a16="http://schemas.microsoft.com/office/drawing/2014/main" id="{74F32052-AF6B-45B8-A480-51BF8E4761A4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pic>
        <p:nvPicPr>
          <p:cNvPr id="13" name="IRS Logo">
            <a:extLst>
              <a:ext uri="{FF2B5EF4-FFF2-40B4-BE49-F238E27FC236}">
                <a16:creationId xmlns:a16="http://schemas.microsoft.com/office/drawing/2014/main" id="{885CADF1-7B96-494C-8F93-500AB76DAD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9442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x Text und 2x Bild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299"/>
            <a:ext cx="7561263" cy="10080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260849" y="1592263"/>
            <a:ext cx="367188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0"/>
            <a:ext cx="4043361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Bildplatzhalter 15">
            <a:extLst>
              <a:ext uri="{FF2B5EF4-FFF2-40B4-BE49-F238E27FC236}">
                <a16:creationId xmlns:a16="http://schemas.microsoft.com/office/drawing/2014/main" id="{8F5116AB-EDC8-4AAB-4B23-B0F880D3116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148638" y="3429000"/>
            <a:ext cx="4043361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1FC182A-F96F-5221-873F-3B2B5AAB8E5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675CB1A-4C83-46D5-9C40-B0A12819CDE8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2C1A369-5E22-F1DC-FC91-3E67E0891AA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1294EBFA-1C3B-20E4-7E18-EADCA4BF01E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Rechteck 8">
            <a:extLst>
              <a:ext uri="{FF2B5EF4-FFF2-40B4-BE49-F238E27FC236}">
                <a16:creationId xmlns:a16="http://schemas.microsoft.com/office/drawing/2014/main" id="{6BD7B248-3C40-4086-BF86-AECDD5E3662D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pic>
        <p:nvPicPr>
          <p:cNvPr id="14" name="IRS Logo">
            <a:extLst>
              <a:ext uri="{FF2B5EF4-FFF2-40B4-BE49-F238E27FC236}">
                <a16:creationId xmlns:a16="http://schemas.microsoft.com/office/drawing/2014/main" id="{4EAFE2B3-44BA-4D32-9560-626427002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3491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und Bild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0" y="1"/>
            <a:ext cx="5988049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299"/>
            <a:ext cx="5616575" cy="10080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2E680-3FF9-ABDB-21FE-FBA02779216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E331DC-1CEB-4BBB-B4B6-99669624D67F}" type="datetime1">
              <a:rPr lang="de-DE" noProof="1" smtClean="0"/>
              <a:pPr/>
              <a:t>24.03.2026</a:t>
            </a:fld>
            <a:endParaRPr lang="de-DE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A526B-BB77-0D6A-817F-6C40D944BDC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3887786" cy="584200"/>
          </a:xfrm>
        </p:spPr>
        <p:txBody>
          <a:bodyPr/>
          <a:lstStyle/>
          <a:p>
            <a:r>
              <a:rPr lang="de-DE" noProof="1"/>
              <a:t>Vorname Name - Präsentationstitel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F4C557-2716-4BAC-1F79-F528FD3982D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‹Nr.›</a:t>
            </a:fld>
            <a:endParaRPr lang="de-DE" noProof="1"/>
          </a:p>
        </p:txBody>
      </p:sp>
      <p:sp>
        <p:nvSpPr>
          <p:cNvPr id="11" name="Rechteck 8">
            <a:extLst>
              <a:ext uri="{FF2B5EF4-FFF2-40B4-BE49-F238E27FC236}">
                <a16:creationId xmlns:a16="http://schemas.microsoft.com/office/drawing/2014/main" id="{34A19D70-BD20-470F-9F28-9A310482A685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pic>
        <p:nvPicPr>
          <p:cNvPr id="10" name="IRS Logo">
            <a:extLst>
              <a:ext uri="{FF2B5EF4-FFF2-40B4-BE49-F238E27FC236}">
                <a16:creationId xmlns:a16="http://schemas.microsoft.com/office/drawing/2014/main" id="{DB45F6DF-D0C1-4863-9E94-47CA1822DD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7380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und 2x Bild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299"/>
            <a:ext cx="5616575" cy="10080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77424FD-F9EC-9D50-76B7-A15217260B9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2" y="0"/>
            <a:ext cx="598804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E6670E1C-5A99-3F90-22DA-92683344E10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203952" y="3429000"/>
            <a:ext cx="598804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4BE23FB-82F9-256A-844F-E66CF0B1169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E331DC-1CEB-4BBB-B4B6-99669624D67F}" type="datetime1">
              <a:rPr lang="de-DE" noProof="1" smtClean="0"/>
              <a:pPr/>
              <a:t>24.03.2026</a:t>
            </a:fld>
            <a:endParaRPr lang="de-DE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B82624-8EFE-AB1E-C365-BC8C7FE4BEC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3887786" cy="584200"/>
          </a:xfrm>
        </p:spPr>
        <p:txBody>
          <a:bodyPr/>
          <a:lstStyle/>
          <a:p>
            <a:r>
              <a:rPr lang="de-DE" noProof="1"/>
              <a:t>Vorname Name - Präsentationstitel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15CD544-922E-96F9-8EAB-ABE0DF7E74C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‹Nr.›</a:t>
            </a:fld>
            <a:endParaRPr lang="de-DE" noProof="1"/>
          </a:p>
        </p:txBody>
      </p:sp>
      <p:sp>
        <p:nvSpPr>
          <p:cNvPr id="12" name="Rechteck 8">
            <a:extLst>
              <a:ext uri="{FF2B5EF4-FFF2-40B4-BE49-F238E27FC236}">
                <a16:creationId xmlns:a16="http://schemas.microsoft.com/office/drawing/2014/main" id="{7DE06F22-0F49-44E8-8987-5A3A28E0CF12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pic>
        <p:nvPicPr>
          <p:cNvPr id="11" name="IRS Logo">
            <a:extLst>
              <a:ext uri="{FF2B5EF4-FFF2-40B4-BE49-F238E27FC236}">
                <a16:creationId xmlns:a16="http://schemas.microsoft.com/office/drawing/2014/main" id="{5AB397BE-C76B-462D-AF42-EAD3C372CD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5834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und Bild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4" y="1"/>
            <a:ext cx="7932736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1EFE2-E8B5-56D7-6032-6F049A14EA6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E331DC-1CEB-4BBB-B4B6-99669624D67F}" type="datetime1">
              <a:rPr lang="de-DE" noProof="1" smtClean="0"/>
              <a:pPr/>
              <a:t>24.03.2026</a:t>
            </a:fld>
            <a:endParaRPr lang="de-DE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05A39-8EF3-2CC5-3106-31B6DF3A23F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de-DE" noProof="1"/>
              <a:t>Vorname Name - Präsentationstitel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CFE138-5A56-42D1-CEDB-6704D5C323D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‹Nr.›</a:t>
            </a:fld>
            <a:endParaRPr lang="de-DE" noProof="1"/>
          </a:p>
        </p:txBody>
      </p:sp>
      <p:sp>
        <p:nvSpPr>
          <p:cNvPr id="11" name="Rechteck 8">
            <a:extLst>
              <a:ext uri="{FF2B5EF4-FFF2-40B4-BE49-F238E27FC236}">
                <a16:creationId xmlns:a16="http://schemas.microsoft.com/office/drawing/2014/main" id="{A25F46C2-45CC-44B4-9571-EC4276F667EB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pic>
        <p:nvPicPr>
          <p:cNvPr id="10" name="IRS Logo">
            <a:extLst>
              <a:ext uri="{FF2B5EF4-FFF2-40B4-BE49-F238E27FC236}">
                <a16:creationId xmlns:a16="http://schemas.microsoft.com/office/drawing/2014/main" id="{25EBF3AF-03CF-4DBA-B95D-1E8D2AD003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4495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und 2x Bild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793273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259263" y="3429000"/>
            <a:ext cx="793273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25E92D-EEDF-41E0-AFB0-5B7CA56902F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E331DC-1CEB-4BBB-B4B6-99669624D67F}" type="datetime1">
              <a:rPr lang="de-DE" noProof="1" smtClean="0"/>
              <a:pPr/>
              <a:t>24.03.2026</a:t>
            </a:fld>
            <a:endParaRPr lang="de-DE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181661-B42D-C815-F777-F226E4013AB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de-DE" noProof="1"/>
              <a:t>Vorname Name - Präsentationstitel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A4FC51-B5D1-EA2C-4520-8FBD7D0AD4F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‹Nr.›</a:t>
            </a:fld>
            <a:endParaRPr lang="de-DE" noProof="1"/>
          </a:p>
        </p:txBody>
      </p:sp>
      <p:sp>
        <p:nvSpPr>
          <p:cNvPr id="12" name="Rechteck 8">
            <a:extLst>
              <a:ext uri="{FF2B5EF4-FFF2-40B4-BE49-F238E27FC236}">
                <a16:creationId xmlns:a16="http://schemas.microsoft.com/office/drawing/2014/main" id="{D19A5B29-7EB1-4DD4-96B7-BF4B33D7EA21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pic>
        <p:nvPicPr>
          <p:cNvPr id="11" name="IRS Logo">
            <a:extLst>
              <a:ext uri="{FF2B5EF4-FFF2-40B4-BE49-F238E27FC236}">
                <a16:creationId xmlns:a16="http://schemas.microsoft.com/office/drawing/2014/main" id="{8E106FE5-3FB8-44C0-9CFA-BC0BF45ACC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0723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und 2x Bild hoch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3967200" cy="6858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224800" y="0"/>
            <a:ext cx="3967200" cy="6858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913EC-AA64-42F8-7D39-B16842087DF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E331DC-1CEB-4BBB-B4B6-99669624D67F}" type="datetime1">
              <a:rPr lang="de-DE" noProof="1" smtClean="0"/>
              <a:pPr/>
              <a:t>24.03.2026</a:t>
            </a:fld>
            <a:endParaRPr lang="de-DE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E0DADB-FC3F-095E-4791-75B52230B02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de-DE" noProof="1"/>
              <a:t>Vorname Name - Präsentationstitel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A1CFBF2-D69A-34C8-B3BD-C059BF951A1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‹Nr.›</a:t>
            </a:fld>
            <a:endParaRPr lang="de-DE" noProof="1"/>
          </a:p>
        </p:txBody>
      </p:sp>
      <p:sp>
        <p:nvSpPr>
          <p:cNvPr id="12" name="Rechteck 8">
            <a:extLst>
              <a:ext uri="{FF2B5EF4-FFF2-40B4-BE49-F238E27FC236}">
                <a16:creationId xmlns:a16="http://schemas.microsoft.com/office/drawing/2014/main" id="{81ADE382-08F3-4A88-B830-BDA3636C4E80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pic>
        <p:nvPicPr>
          <p:cNvPr id="11" name="IRS Logo">
            <a:extLst>
              <a:ext uri="{FF2B5EF4-FFF2-40B4-BE49-F238E27FC236}">
                <a16:creationId xmlns:a16="http://schemas.microsoft.com/office/drawing/2014/main" id="{33B00C02-F5EC-46CF-89DD-E84853EDF0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8504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und 4x Bild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224800" y="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15">
            <a:extLst>
              <a:ext uri="{FF2B5EF4-FFF2-40B4-BE49-F238E27FC236}">
                <a16:creationId xmlns:a16="http://schemas.microsoft.com/office/drawing/2014/main" id="{7F82C154-C2F8-0DAB-C0BD-5339CDD093A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59263" y="342900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1" name="Bildplatzhalter 15">
            <a:extLst>
              <a:ext uri="{FF2B5EF4-FFF2-40B4-BE49-F238E27FC236}">
                <a16:creationId xmlns:a16="http://schemas.microsoft.com/office/drawing/2014/main" id="{20C756FA-7475-759D-D898-FED49EC21C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224800" y="342900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30D9CD-2193-97AA-1758-B1FC1421DAA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FE331DC-1CEB-4BBB-B4B6-99669624D67F}" type="datetime1">
              <a:rPr lang="de-DE" noProof="1" smtClean="0"/>
              <a:pPr/>
              <a:t>24.03.2026</a:t>
            </a:fld>
            <a:endParaRPr lang="de-DE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9C73A4-0550-88A3-B15C-D839D27C3A4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de-DE" noProof="1"/>
              <a:t>Vorname Name - Präsentationstitel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09BE537-47E8-E28E-E31C-569B375CD31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776FC98F-84AD-404B-BCCB-49E092AA6DE0}" type="slidenum">
              <a:rPr lang="de-DE" noProof="1" smtClean="0"/>
              <a:pPr/>
              <a:t>‹Nr.›</a:t>
            </a:fld>
            <a:endParaRPr lang="de-DE" noProof="1"/>
          </a:p>
        </p:txBody>
      </p:sp>
      <p:sp>
        <p:nvSpPr>
          <p:cNvPr id="14" name="Rechteck 8">
            <a:extLst>
              <a:ext uri="{FF2B5EF4-FFF2-40B4-BE49-F238E27FC236}">
                <a16:creationId xmlns:a16="http://schemas.microsoft.com/office/drawing/2014/main" id="{92025370-72EC-4DB0-ABD9-BF5AF18775D9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pic>
        <p:nvPicPr>
          <p:cNvPr id="13" name="IRS Logo">
            <a:extLst>
              <a:ext uri="{FF2B5EF4-FFF2-40B4-BE49-F238E27FC236}">
                <a16:creationId xmlns:a16="http://schemas.microsoft.com/office/drawing/2014/main" id="{72C6FD9D-519E-4DA0-99BE-A21DE930ED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9587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und Bild breit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2816225"/>
            <a:ext cx="3671889" cy="3460748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255615" y="2816225"/>
            <a:ext cx="3671889" cy="346074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8144990" y="2816225"/>
            <a:ext cx="3671889" cy="346074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26003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8BCFDEC-EEB4-FB94-494B-7A6B7C8104D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DECC4A1-84C2-4D06-87BC-F3795034A40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E38CEE48-7318-2C48-A4DB-0374240E6D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2A6EAAC-D781-C247-456C-6DDB93810F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9420440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brei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03949" y="4041775"/>
            <a:ext cx="5616575" cy="2235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9EC190A-F91D-A63D-5DE6-284075CC06D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7F0408-6A80-4E42-B7D9-963BA6043702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7D6DBFAC-7948-6CD4-F795-0F657587514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806FD95-1722-01B2-D054-0F1C46053F9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2665831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2x Bild brei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03949" y="4041775"/>
            <a:ext cx="5616575" cy="2235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6203948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50" y="-1"/>
            <a:ext cx="5988050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E289A028-6BAD-57D6-0C99-2E2EE8D2385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4E97FF2F-D005-4FE3-AF21-EA0E64775FFE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F70BBC8-26C8-72F5-7017-C4E9ADC511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4220114-93CE-7986-FBD4-6B87CC84D15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861536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3x Bild brei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148638" y="4041775"/>
            <a:ext cx="3671886" cy="2235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4259261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-1"/>
            <a:ext cx="3889375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B0C0D4B8-0642-DA51-02B4-CD518D792A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148638" y="-1"/>
            <a:ext cx="4043360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94F7FD17-6F08-455B-89F3-014E426ED5A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B3211B4-4646-4EF5-BD75-2576BACB2B78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95BB98B-CA7B-1291-9702-334ACEEE83D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9F8E6D6-952F-6259-CB3F-D9FD0CF614A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645613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breit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03949" y="5265738"/>
            <a:ext cx="5616575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C3AEDD-A574-4DAF-D1EC-A27C2292DE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C3BB55D-57B3-49E3-BF5B-F9A3DD8D6BF9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F58EBD7-6711-442F-F11B-AEE90C03C9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8F5ADB7-1DE3-CF4C-2772-4A7CBBB483E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754893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2x Bild breit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03949" y="5265738"/>
            <a:ext cx="5616575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08F79B48-DA81-CB7D-4184-C12044C471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6203948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73DB8F0C-439C-6E68-E1D6-2CD9C93ACE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50" y="-1"/>
            <a:ext cx="5988049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26F2CC-FD06-0D05-F9BC-EA3577B02B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F90EC0B-50A6-4500-99C8-E17162F4B002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4B56F4D1-3BED-CF11-4CA9-195A2857302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82BB5B3-0CF3-C297-3B12-70918709FF8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1338502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3x Bild breit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148638" y="5265738"/>
            <a:ext cx="3671886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D81F5719-88F7-8122-30E7-C4EDDE47BE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DF833069-8A51-2788-517E-244A50E9A0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8FBD7F7D-0AAE-6C8E-E25F-AD0146EE9D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CC866A8-34DE-9962-F35F-CD530235112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C042C70-7B58-4B37-A57C-12E73F83BA79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D73AD41-5895-7F97-5F11-9EE28D61761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C39AA92-697F-9C87-7391-FD2148F379B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2039744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4x Bild breit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15">
            <a:extLst>
              <a:ext uri="{FF2B5EF4-FFF2-40B4-BE49-F238E27FC236}">
                <a16:creationId xmlns:a16="http://schemas.microsoft.com/office/drawing/2014/main" id="{57221ED0-08B5-804A-A5D3-858C1FBF65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2C1B9B64-2441-8357-F153-985A05DAB7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3B17586A-9CCE-8295-2F97-E528DD0C3C8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0C7BBDAF-B20D-60D9-3199-BC0FA5A0FE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B07C1E-75AF-D661-9B0E-FB6406930C7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06AEA46-5BD2-4F11-B619-75E039871004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F2A8345-FC50-948A-F811-0B4575026B2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AA0923-C682-650B-E243-7EC5A1EB57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12368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5x Bild breit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5DC53031-0D17-F341-B556-CAB21B21AD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7621CD60-0EEE-8EE1-2413-15ACFBB4FD0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7834F377-608A-1764-2D89-CC39A31EDCC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Bildplatzhalter 15">
            <a:extLst>
              <a:ext uri="{FF2B5EF4-FFF2-40B4-BE49-F238E27FC236}">
                <a16:creationId xmlns:a16="http://schemas.microsoft.com/office/drawing/2014/main" id="{4C11F33F-4952-0822-BD29-5112BEE9D3D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E636C18E-9864-2F8B-F6CA-5E977141C9D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8" y="2528900"/>
            <a:ext cx="4043362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81462F4-7E9B-9816-7A91-CD63748EFFA7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543582B-C5BB-40A9-8E78-8E330AD3FAE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C2F10F94-6302-EFB2-67BF-534AEC1DF94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3E4D86CD-F0F0-D953-FC70-25716FFC701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5805538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6x Bild breit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06B3F9A9-7D44-E3D9-34C3-186B5CE72C7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487580F0-10F0-597D-B74B-3AA53C72CB5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5" name="Bildplatzhalter 15">
            <a:extLst>
              <a:ext uri="{FF2B5EF4-FFF2-40B4-BE49-F238E27FC236}">
                <a16:creationId xmlns:a16="http://schemas.microsoft.com/office/drawing/2014/main" id="{479D4CF8-3CF2-33EE-3E52-E67D33D23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681FE394-9FBF-7254-E399-7BF501CFF5E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2EC1BE5C-58BE-A28F-D48F-AACC647D303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4259262" y="2528900"/>
            <a:ext cx="3889375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A1CE0C82-8D00-6128-A723-75FB35F9E4B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8" y="2528900"/>
            <a:ext cx="4043362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D9D3A7-656E-5EF8-DC21-9E4100AD724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756CF41-0D3A-4094-905E-7B352618BC30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15DD17-D1C2-CAD1-2B57-987C840DD9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FC4E6F-39C1-2BF6-B3CD-824ACF39607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783348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Bi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6858001"/>
          </a:xfrm>
        </p:spPr>
        <p:txBody>
          <a:bodyPr tIns="90000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5265737"/>
            <a:ext cx="7561263" cy="1011236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A93AEE-C09B-11EE-62B2-D258B26B0D2C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Schwarz geändert werden.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A26D7894-F140-1F47-D2F6-229CD2C494F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292C13-4210-4A75-B1C6-BC600379552E}" type="datetime1">
              <a:rPr lang="de-DE" smtClean="0"/>
              <a:pPr/>
              <a:t>24.03.2026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0435903-70F1-B75C-C10A-BC04CBD3B6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Vorname Name - Präsentationstitel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C091A42-6A7C-132E-E5ED-A7A2F10231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IRS Logo">
            <a:extLst>
              <a:ext uri="{FF2B5EF4-FFF2-40B4-BE49-F238E27FC236}">
                <a16:creationId xmlns:a16="http://schemas.microsoft.com/office/drawing/2014/main" id="{76AB2E28-2953-4F9C-90F4-17C2EDA08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02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und 2x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5" y="5265738"/>
            <a:ext cx="5616575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4" y="1592263"/>
            <a:ext cx="5616575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49" y="1592263"/>
            <a:ext cx="5616575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6203950" y="5265738"/>
            <a:ext cx="5616575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E3343F-20F8-0E46-42FA-821D2026B50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2552E35-AE1D-45DF-9998-46ACAD9EE2FD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57DF4F2F-5D04-4C9E-307B-30037ABC94A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81DB6B4-64B1-EEDE-D757-88A82845A3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519231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 und 3x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5" y="5265738"/>
            <a:ext cx="3671889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4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60848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4260849" y="5265738"/>
            <a:ext cx="3671889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148639" y="5265738"/>
            <a:ext cx="3671889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CDF1D0DD-152A-CD72-F7A9-948FA54C791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6D4C634A-D904-4E1C-87B1-CFDFF5397F2D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10188A5A-13A0-E431-44B3-E58A8A6D0DD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79C41ECA-AF89-1BAD-40AE-C421974015D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4395132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und 4x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5265738"/>
            <a:ext cx="2700338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28582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3285827" y="5265738"/>
            <a:ext cx="2700338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0568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6205687" y="5265738"/>
            <a:ext cx="2700338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12018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9120187" y="5265738"/>
            <a:ext cx="2700338" cy="10112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15DC6279-864D-E5B0-0BBF-962E9E50B6F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D80AACCA-6E21-41E6-A884-29D6FA94F66D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CF6C9B7-B599-4BE6-52FB-051D2A0B3B4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EAF3799-0F9B-7F03-53B6-D30505ED8E7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169789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 Text und 5x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4041775"/>
            <a:ext cx="2116800" cy="2235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2704537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907"/>
            <a:ext cx="11449050" cy="100745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2704538" y="4041775"/>
            <a:ext cx="2116800" cy="2235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5037599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5037600" y="4041775"/>
            <a:ext cx="2116800" cy="2235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7370661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7370662" y="4041775"/>
            <a:ext cx="2116800" cy="2235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290663F7-C01E-A524-14EE-F495697580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9703724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4A722441-C52C-1DE3-6900-FAF58B44C94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9703725" y="4041775"/>
            <a:ext cx="2116800" cy="2235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99193BC6-5DE5-F84B-817B-E27F95FD4E3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D1F157E-546E-4A74-9FA7-3BCD286BD133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4281E8C-1C19-EF23-952B-CD22CCC9F3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9F951DB-FC7A-C00E-DAB8-004CEF0ABB3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0587118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Text und 6x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4041774"/>
            <a:ext cx="1728788" cy="2232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2314574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2314575" y="4041774"/>
            <a:ext cx="1728788" cy="2232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59262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4259263" y="4041774"/>
            <a:ext cx="1728788" cy="2232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203949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6203950" y="4041774"/>
            <a:ext cx="1728788" cy="2232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290663F7-C01E-A524-14EE-F495697580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149231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4A722441-C52C-1DE3-6900-FAF58B44C94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8148638" y="4041774"/>
            <a:ext cx="1728788" cy="2232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CDB5A221-6B48-924B-A1FD-6D62179C207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10090049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EB10AE12-A5D0-F238-1264-88B90FA440A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0090050" y="4041774"/>
            <a:ext cx="1728788" cy="2232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79DD9CB7-7539-1828-FADA-78A66F2349FA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FC42E7A-01C0-45AF-BFAF-F3D3666A2E8D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63BDBE70-17B1-8520-1846-0D0FF5DC7FC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7D5DEFA5-487F-8348-320F-F21E9955110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6403977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Bild und 4x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5" y="3360814"/>
            <a:ext cx="5616575" cy="463474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5616574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48" y="1592262"/>
            <a:ext cx="5616575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6203950" y="3360814"/>
            <a:ext cx="5616575" cy="463474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71475" y="4041775"/>
            <a:ext cx="5616573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371474" y="5805774"/>
            <a:ext cx="5616573" cy="464400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203949" y="4041774"/>
            <a:ext cx="5616575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6203950" y="5805774"/>
            <a:ext cx="5616573" cy="464400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17649989-D9AA-435F-7A4A-0B2A5E1ECF2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D26579B7-8094-4036-9458-D04DECADCAA2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C9F316C1-96F5-A67B-AF23-9ACC6CA9F2A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D2A681F8-D362-068B-DB53-4422E123610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2135934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Bild und 6x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5" y="3360814"/>
            <a:ext cx="3671888" cy="463474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60846" y="1592262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4260848" y="3360814"/>
            <a:ext cx="3671888" cy="463474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7" y="1594869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148637" y="3358868"/>
            <a:ext cx="3671888" cy="464400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71475" y="4041774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371474" y="5805774"/>
            <a:ext cx="3671888" cy="464400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DC1FEB43-DE82-8732-4F57-F71B0E7269D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4259260" y="4044948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1677C5CF-B71C-20E0-5EC4-77FF60F7CB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4259262" y="5813500"/>
            <a:ext cx="3671888" cy="463474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DFEEF33F-FBF4-3DE9-D0E5-00A10C7FC5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7" y="4041773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A36A8A1C-5BB2-98A0-32C5-38F2E40CEFE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8148637" y="5805773"/>
            <a:ext cx="3671888" cy="464400"/>
          </a:xfrm>
        </p:spPr>
        <p:txBody>
          <a:bodyPr tIns="1440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A5232473-C891-573E-C486-121FF378F57C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7D67B9DB-D4FC-44D3-802F-4313143446F4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7302FC03-B491-A207-7DBA-127BB90729D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B67C2D4-3135-E49A-5148-63257685678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762057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0"/>
            <a:ext cx="7561263" cy="4681537"/>
          </a:xfrm>
        </p:spPr>
        <p:txBody>
          <a:bodyPr/>
          <a:lstStyle>
            <a:lvl1pPr marL="432000" indent="-432000">
              <a:buClrTx/>
              <a:buFont typeface="Franklin Gothic Medium" panose="020B0603020102020204" pitchFamily="34" charset="0"/>
              <a:buChar char="”"/>
              <a:defRPr sz="5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259262" y="5265738"/>
            <a:ext cx="3673475" cy="1011236"/>
          </a:xfrm>
        </p:spPr>
        <p:txBody>
          <a:bodyPr anchor="b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1800" b="1">
                <a:solidFill>
                  <a:schemeClr val="accent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 b="0">
                <a:solidFill>
                  <a:schemeClr val="tx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1"/>
            <a:ext cx="4043362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de-DE" dirty="0"/>
              <a:t>Bild mit einem Klick auf das Symbol einfügen.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Bild in die Zwischenablage kopieren, </a:t>
            </a:r>
            <a:br>
              <a:rPr lang="de-DE" dirty="0"/>
            </a:br>
            <a:r>
              <a:rPr lang="de-DE" dirty="0"/>
              <a:t>den Platzhalter auswählen und das Bild einfügen.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0B1A5CA9-F444-9ABD-A3CA-65CB055B04B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F62BCB5-738B-4081-A38D-7B1D2DCDA09E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110DDBB-783E-176F-3138-CDB539444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C1568248-D3ED-9CDD-8765-05A7F7D909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Rechteck 8">
            <a:extLst>
              <a:ext uri="{FF2B5EF4-FFF2-40B4-BE49-F238E27FC236}">
                <a16:creationId xmlns:a16="http://schemas.microsoft.com/office/drawing/2014/main" id="{F6309B9C-DE0D-4F90-A0EC-516813683D73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Weiß geändert werden.</a:t>
            </a:r>
          </a:p>
        </p:txBody>
      </p:sp>
      <p:pic>
        <p:nvPicPr>
          <p:cNvPr id="12" name="IRS Logo">
            <a:extLst>
              <a:ext uri="{FF2B5EF4-FFF2-40B4-BE49-F238E27FC236}">
                <a16:creationId xmlns:a16="http://schemas.microsoft.com/office/drawing/2014/main" id="{DDB4EBFE-4BF7-4D83-856D-68C88BA76D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05636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57999"/>
          </a:xfrm>
          <a:solidFill>
            <a:schemeClr val="tx1"/>
          </a:solidFill>
        </p:spPr>
        <p:txBody>
          <a:bodyPr tIns="0" rIns="36000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in die Zwischenablage kopieren, </a:t>
            </a:r>
            <a:br>
              <a:rPr lang="de-DE" dirty="0"/>
            </a:br>
            <a:r>
              <a:rPr lang="de-DE" dirty="0"/>
              <a:t>den Platzhalter hier auswählen </a:t>
            </a:r>
            <a:br>
              <a:rPr lang="de-DE" dirty="0"/>
            </a:br>
            <a:r>
              <a:rPr lang="de-DE" dirty="0"/>
              <a:t>und das Bild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0"/>
            <a:ext cx="9875838" cy="6858000"/>
          </a:xfrm>
          <a:gradFill>
            <a:gsLst>
              <a:gs pos="0">
                <a:schemeClr val="tx1">
                  <a:alpha val="50000"/>
                </a:schemeClr>
              </a:gs>
              <a:gs pos="45000">
                <a:schemeClr val="tx1">
                  <a:alpha val="0"/>
                </a:schemeClr>
              </a:gs>
            </a:gsLst>
            <a:lin ang="3600000" scaled="0"/>
          </a:gradFill>
        </p:spPr>
        <p:txBody>
          <a:bodyPr lIns="370800" tIns="367200"/>
          <a:lstStyle>
            <a:lvl1pPr marL="0" indent="0">
              <a:buClrTx/>
              <a:buFont typeface="Franklin Gothic Medium" panose="020B0603020102020204" pitchFamily="34" charset="0"/>
              <a:buNone/>
              <a:defRPr sz="5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148638" y="5265738"/>
            <a:ext cx="3671887" cy="1011236"/>
          </a:xfrm>
        </p:spPr>
        <p:txBody>
          <a:bodyPr anchor="t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2000" b="1">
                <a:solidFill>
                  <a:schemeClr val="bg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E8BE99-BBFE-1166-A5A4-5E8F865BC339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Schwarz geändert werden.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75F87F0-97BD-75C5-3B01-5453495E2DA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631435-8241-48CD-B108-AC8A03A73C91}" type="datetime1">
              <a:rPr lang="de-DE" smtClean="0"/>
              <a:pPr/>
              <a:t>24.03.2026</a:t>
            </a:fld>
            <a:endParaRPr lang="de-DE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9DC4A23-8BC7-B256-93F3-F3D72EA72D2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Vorname Name - Präsentationstitel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12BEC3C-F478-347A-87BC-A57694C03C4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2" name="IRS Logo">
            <a:extLst>
              <a:ext uri="{FF2B5EF4-FFF2-40B4-BE49-F238E27FC236}">
                <a16:creationId xmlns:a16="http://schemas.microsoft.com/office/drawing/2014/main" id="{AB8AAE50-5C34-45D7-A03C-264F7BF97D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22433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57999"/>
          </a:xfrm>
          <a:solidFill>
            <a:schemeClr val="tx1"/>
          </a:solidFill>
        </p:spPr>
        <p:txBody>
          <a:bodyPr tIns="0" rIns="36000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in die Zwischenablage kopieren, </a:t>
            </a:r>
            <a:br>
              <a:rPr lang="de-DE" dirty="0"/>
            </a:br>
            <a:r>
              <a:rPr lang="de-DE" dirty="0"/>
              <a:t>den Platzhalter hier auswählen </a:t>
            </a:r>
            <a:br>
              <a:rPr lang="de-DE" dirty="0"/>
            </a:br>
            <a:r>
              <a:rPr lang="de-DE" dirty="0"/>
              <a:t>und das Bild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0"/>
            <a:ext cx="9875838" cy="6858000"/>
          </a:xfrm>
          <a:gradFill>
            <a:gsLst>
              <a:gs pos="0">
                <a:schemeClr val="tx1">
                  <a:alpha val="50000"/>
                </a:schemeClr>
              </a:gs>
              <a:gs pos="45000">
                <a:schemeClr val="tx1">
                  <a:alpha val="0"/>
                </a:schemeClr>
              </a:gs>
            </a:gsLst>
            <a:lin ang="3600000" scaled="0"/>
          </a:gradFill>
        </p:spPr>
        <p:txBody>
          <a:bodyPr lIns="370800" tIns="367200"/>
          <a:lstStyle>
            <a:lvl1pPr marL="0" indent="0">
              <a:buClrTx/>
              <a:buFont typeface="Franklin Gothic Medium" panose="020B0603020102020204" pitchFamily="34" charset="0"/>
              <a:buNone/>
              <a:defRPr sz="35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4B639C-9221-9BDD-0103-AF80E5F4FC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371475" y="2816225"/>
            <a:ext cx="3671888" cy="22336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A6A5AB-5F58-422C-FC11-9570CAC5B5E8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de-DE" sz="1000" b="1" dirty="0">
                <a:solidFill>
                  <a:schemeClr val="tx1"/>
                </a:solidFill>
              </a:rPr>
              <a:t>Logo Farbe</a:t>
            </a:r>
          </a:p>
          <a:p>
            <a:pPr algn="l"/>
            <a:r>
              <a:rPr lang="de-DE" sz="1000" dirty="0">
                <a:solidFill>
                  <a:schemeClr val="tx1"/>
                </a:solidFill>
              </a:rPr>
              <a:t>Bei hellen Bildern kann die Logo Farbe auf Schwarz geändert werden.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1980954-6FA1-FA07-4041-D754784A20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02C043-CF7E-45E0-8344-8E2AE00DB4B7}" type="datetime1">
              <a:rPr lang="de-DE" smtClean="0"/>
              <a:pPr/>
              <a:t>24.03.2026</a:t>
            </a:fld>
            <a:endParaRPr lang="de-DE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BB377EE-E522-561C-164E-DE25C9BDA1C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Vorname Name - Präsentationstitel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544A298-CA43-241E-F64B-02F6BEC45A0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2" name="IRS Logo">
            <a:extLst>
              <a:ext uri="{FF2B5EF4-FFF2-40B4-BE49-F238E27FC236}">
                <a16:creationId xmlns:a16="http://schemas.microsoft.com/office/drawing/2014/main" id="{C3ADC3D5-E7D7-4006-99B5-096B257E77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65971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rn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0"/>
            <a:ext cx="7561263" cy="4681538"/>
          </a:xfrm>
        </p:spPr>
        <p:txBody>
          <a:bodyPr/>
          <a:lstStyle>
            <a:lvl1pPr marL="0" indent="0">
              <a:buClrTx/>
              <a:buFont typeface="Franklin Gothic Medium" panose="020B0603020102020204" pitchFamily="34" charset="0"/>
              <a:buNone/>
              <a:defRPr sz="5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148637" y="5265738"/>
            <a:ext cx="3671887" cy="1011236"/>
          </a:xfrm>
        </p:spPr>
        <p:txBody>
          <a:bodyPr anchor="t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2000" b="1">
                <a:solidFill>
                  <a:schemeClr val="accent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98A4DE-C74C-4808-FDCB-EBF6770F28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6AC775-9B1B-4E80-B182-336E6ADEA9D8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D1B3FA-E430-88B7-E277-5600359CFE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1F58DB-2C93-B018-29B4-F68DDB674B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0942051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DF83F67C-6F11-812D-C9A9-0CCF3FAD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02BBEFC2-4FEB-47D9-801E-FBBBEC6CA2E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7D85C20-697F-36B4-27AB-4369535E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 dirty="0"/>
              <a:t>Vorname Name - Präsentationstitel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1AD7C5E3-7820-0372-2225-AD27411D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3" name="IRS Logo">
            <a:extLst>
              <a:ext uri="{FF2B5EF4-FFF2-40B4-BE49-F238E27FC236}">
                <a16:creationId xmlns:a16="http://schemas.microsoft.com/office/drawing/2014/main" id="{843F5535-4DD4-4F81-9FF2-33EA374BAF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0612" y="3209400"/>
            <a:ext cx="1210776" cy="43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357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AC8670-2373-ACE7-1748-0B4F79D1DCA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907"/>
            <a:ext cx="11449050" cy="10074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F615B8-B68C-BFF2-C357-D019188813E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592262"/>
            <a:ext cx="11449050" cy="46815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10645A-C6A4-0669-9312-4601E188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r>
              <a:rPr lang="de-DE" noProof="1"/>
              <a:t>Vorname Name - Präsentationstitel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5839F2-D397-6E48-3A61-2C5024B4E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371475" y="6273800"/>
            <a:ext cx="575953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776FC98F-84AD-404B-BCCB-49E092AA6DE0}" type="slidenum">
              <a:rPr lang="de-DE" noProof="1" smtClean="0"/>
              <a:pPr/>
              <a:t>‹Nr.›</a:t>
            </a:fld>
            <a:endParaRPr lang="de-DE" noProof="1"/>
          </a:p>
        </p:txBody>
      </p:sp>
      <p:pic>
        <p:nvPicPr>
          <p:cNvPr id="8" name="IRS Logo">
            <a:extLst>
              <a:ext uri="{FF2B5EF4-FFF2-40B4-BE49-F238E27FC236}">
                <a16:creationId xmlns:a16="http://schemas.microsoft.com/office/drawing/2014/main" id="{17A71DA2-C9B2-413D-8888-309D3A4C4088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127695" y="6437457"/>
            <a:ext cx="692830" cy="247362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50F823-CF9B-29C2-AD0C-587133135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/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BFE331DC-1CEB-4BBB-B4B6-99669624D67F}" type="datetime1">
              <a:rPr lang="de-DE" noProof="1" smtClean="0"/>
              <a:pPr/>
              <a:t>24.03.2026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123452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52" r:id="rId2"/>
    <p:sldLayoutId id="2147483649" r:id="rId3"/>
    <p:sldLayoutId id="2147483694" r:id="rId4"/>
    <p:sldLayoutId id="2147483654" r:id="rId5"/>
    <p:sldLayoutId id="2147483695" r:id="rId6"/>
    <p:sldLayoutId id="2147483657" r:id="rId7"/>
    <p:sldLayoutId id="2147483696" r:id="rId8"/>
    <p:sldLayoutId id="2147483658" r:id="rId9"/>
    <p:sldLayoutId id="2147483698" r:id="rId10"/>
    <p:sldLayoutId id="2147483659" r:id="rId11"/>
    <p:sldLayoutId id="2147483660" r:id="rId12"/>
    <p:sldLayoutId id="2147483661" r:id="rId13"/>
    <p:sldLayoutId id="2147483697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transition>
    <p:fade/>
  </p:transition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85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459" userDrawn="1">
          <p15:clr>
            <a:srgbClr val="F26B43"/>
          </p15:clr>
        </p15:guide>
        <p15:guide id="6" pos="2547" userDrawn="1">
          <p15:clr>
            <a:srgbClr val="F26B43"/>
          </p15:clr>
        </p15:guide>
        <p15:guide id="7" pos="2683" userDrawn="1">
          <p15:clr>
            <a:srgbClr val="F26B43"/>
          </p15:clr>
        </p15:guide>
        <p15:guide id="8" pos="3772" userDrawn="1">
          <p15:clr>
            <a:srgbClr val="F26B43"/>
          </p15:clr>
        </p15:guide>
        <p15:guide id="9" pos="3908" userDrawn="1">
          <p15:clr>
            <a:srgbClr val="F26B43"/>
          </p15:clr>
        </p15:guide>
        <p15:guide id="10" pos="4997" userDrawn="1">
          <p15:clr>
            <a:srgbClr val="F26B43"/>
          </p15:clr>
        </p15:guide>
        <p15:guide id="11" pos="5133" userDrawn="1">
          <p15:clr>
            <a:srgbClr val="F26B43"/>
          </p15:clr>
        </p15:guide>
        <p15:guide id="12" pos="6221" userDrawn="1">
          <p15:clr>
            <a:srgbClr val="F26B43"/>
          </p15:clr>
        </p15:guide>
        <p15:guide id="13" pos="6357" userDrawn="1">
          <p15:clr>
            <a:srgbClr val="F26B43"/>
          </p15:clr>
        </p15:guide>
        <p15:guide id="14" pos="1935" userDrawn="1">
          <p15:clr>
            <a:srgbClr val="5ACBF0"/>
          </p15:clr>
        </p15:guide>
        <p15:guide id="15" pos="2071" userDrawn="1">
          <p15:clr>
            <a:srgbClr val="5ACBF0"/>
          </p15:clr>
        </p15:guide>
        <p15:guide id="16" pos="5609" userDrawn="1">
          <p15:clr>
            <a:srgbClr val="5ACBF0"/>
          </p15:clr>
        </p15:guide>
        <p15:guide id="17" pos="5745" userDrawn="1">
          <p15:clr>
            <a:srgbClr val="5ACBF0"/>
          </p15:clr>
        </p15:guide>
        <p15:guide id="18" orient="horz" pos="867" userDrawn="1">
          <p15:clr>
            <a:srgbClr val="F26B43"/>
          </p15:clr>
        </p15:guide>
        <p15:guide id="19" orient="horz" pos="1003" userDrawn="1">
          <p15:clr>
            <a:srgbClr val="F26B43"/>
          </p15:clr>
        </p15:guide>
        <p15:guide id="20" orient="horz" pos="1638" userDrawn="1">
          <p15:clr>
            <a:srgbClr val="F26B43"/>
          </p15:clr>
        </p15:guide>
        <p15:guide id="21" orient="horz" pos="1774" userDrawn="1">
          <p15:clr>
            <a:srgbClr val="F26B43"/>
          </p15:clr>
        </p15:guide>
        <p15:guide id="22" orient="horz" pos="2409" userDrawn="1">
          <p15:clr>
            <a:srgbClr val="F26B43"/>
          </p15:clr>
        </p15:guide>
        <p15:guide id="23" orient="horz" pos="2546" userDrawn="1">
          <p15:clr>
            <a:srgbClr val="F26B43"/>
          </p15:clr>
        </p15:guide>
        <p15:guide id="24" orient="horz" pos="3181" userDrawn="1">
          <p15:clr>
            <a:srgbClr val="F26B43"/>
          </p15:clr>
        </p15:guide>
        <p15:guide id="25" orient="horz" pos="3317" userDrawn="1">
          <p15:clr>
            <a:srgbClr val="F26B43"/>
          </p15:clr>
        </p15:guide>
        <p15:guide id="26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12" Type="http://schemas.microsoft.com/office/2007/relationships/hdphoto" Target="../media/hdphoto1.wd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11" Type="http://schemas.openxmlformats.org/officeDocument/2006/relationships/image" Target="../media/image10.png"/><Relationship Id="rId5" Type="http://schemas.microsoft.com/office/2007/relationships/hdphoto" Target="../media/hdphoto3.wdp"/><Relationship Id="rId10" Type="http://schemas.openxmlformats.org/officeDocument/2006/relationships/image" Target="../media/image9.svg"/><Relationship Id="rId4" Type="http://schemas.openxmlformats.org/officeDocument/2006/relationships/image" Target="../media/image26.png"/><Relationship Id="rId9" Type="http://schemas.openxmlformats.org/officeDocument/2006/relationships/image" Target="../media/image8.png"/><Relationship Id="rId14" Type="http://schemas.microsoft.com/office/2007/relationships/hdphoto" Target="../media/hdphoto2.wdp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24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slide" Target="slide4.xml"/><Relationship Id="rId26" Type="http://schemas.openxmlformats.org/officeDocument/2006/relationships/slide" Target="slide18.xml"/><Relationship Id="rId3" Type="http://schemas.openxmlformats.org/officeDocument/2006/relationships/image" Target="../media/image29.png"/><Relationship Id="rId21" Type="http://schemas.openxmlformats.org/officeDocument/2006/relationships/slide" Target="slide9.xml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slide" Target="slide16.xml"/><Relationship Id="rId33" Type="http://schemas.openxmlformats.org/officeDocument/2006/relationships/slide" Target="slide30.xml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slide" Target="slide7.xml"/><Relationship Id="rId29" Type="http://schemas.openxmlformats.org/officeDocument/2006/relationships/slide" Target="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slide" Target="slide14.xml"/><Relationship Id="rId32" Type="http://schemas.openxmlformats.org/officeDocument/2006/relationships/slide" Target="slide28.xml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slide" Target="slide12.xml"/><Relationship Id="rId28" Type="http://schemas.openxmlformats.org/officeDocument/2006/relationships/slide" Target="slide23.xml"/><Relationship Id="rId10" Type="http://schemas.openxmlformats.org/officeDocument/2006/relationships/image" Target="../media/image36.png"/><Relationship Id="rId19" Type="http://schemas.openxmlformats.org/officeDocument/2006/relationships/slide" Target="slide5.xml"/><Relationship Id="rId31" Type="http://schemas.openxmlformats.org/officeDocument/2006/relationships/slide" Target="slide27.xml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slide" Target="slide11.xml"/><Relationship Id="rId27" Type="http://schemas.openxmlformats.org/officeDocument/2006/relationships/slide" Target="slide20.xml"/><Relationship Id="rId30" Type="http://schemas.openxmlformats.org/officeDocument/2006/relationships/slide" Target="slide25.xml"/><Relationship Id="rId8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microsoft.com/office/2007/relationships/hdphoto" Target="../media/hdphoto2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11" Type="http://schemas.microsoft.com/office/2007/relationships/hdphoto" Target="../media/hdphoto2.wdp"/><Relationship Id="rId5" Type="http://schemas.openxmlformats.org/officeDocument/2006/relationships/image" Target="../media/image45.svg"/><Relationship Id="rId10" Type="http://schemas.openxmlformats.org/officeDocument/2006/relationships/image" Target="../media/image11.png"/><Relationship Id="rId4" Type="http://schemas.openxmlformats.org/officeDocument/2006/relationships/image" Target="../media/image44.png"/><Relationship Id="rId9" Type="http://schemas.microsoft.com/office/2007/relationships/hdphoto" Target="../media/hdphoto1.wdp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EED3D9C-30DE-4C20-AF4F-CDFDBE7CFED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13790" b="174"/>
          <a:stretch/>
        </p:blipFill>
        <p:spPr>
          <a:xfrm>
            <a:off x="0" y="1"/>
            <a:ext cx="12191999" cy="3824287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77795A6-68D0-083E-8810-12726F681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038599"/>
            <a:ext cx="11449050" cy="1694655"/>
          </a:xfrm>
        </p:spPr>
        <p:txBody>
          <a:bodyPr/>
          <a:lstStyle/>
          <a:p>
            <a:r>
              <a:rPr lang="en-US" sz="4800" dirty="0"/>
              <a:t>Blockchain-Based Digital Certificate Management in Modular Automation Systems</a:t>
            </a:r>
            <a:endParaRPr lang="de-DE" sz="48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C3F538-CAF3-C51F-F1D7-F5346C5092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Tobias Schill, Institute </a:t>
            </a:r>
            <a:r>
              <a:rPr lang="de-DE" dirty="0" err="1"/>
              <a:t>of</a:t>
            </a:r>
            <a:r>
              <a:rPr lang="de-DE" dirty="0"/>
              <a:t> Control Systems, </a:t>
            </a:r>
            <a:br>
              <a:rPr lang="de-DE" dirty="0"/>
            </a:br>
            <a:r>
              <a:rPr lang="de-DE" dirty="0"/>
              <a:t>23.03.2026 - Final </a:t>
            </a:r>
            <a:r>
              <a:rPr lang="de-DE" dirty="0" err="1"/>
              <a:t>Presentation</a:t>
            </a:r>
            <a:r>
              <a:rPr lang="de-DE" dirty="0"/>
              <a:t> - Masterthesis</a:t>
            </a:r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22305CA1-C370-83F4-736D-5D0285B0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7A3D0F9D-5B7E-F828-8DFC-B82773CA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338C134D-50E4-4C82-8E17-2BC763FC6E2E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0005EABD-2806-E2D2-FB0F-B529B111AFB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07392D84-A20F-4C90-8037-9E7940B45502}" type="datetime1">
              <a:rPr lang="de-DE" smtClean="0"/>
              <a:pPr/>
              <a:t>24.03.2026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92079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8799C6-9AD4-483D-81A9-D1ACF632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and Problem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8220A4-961E-4C49-918B-848AC77B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64940-5ADC-4976-AA61-EA708E17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AE6FE-2C42-4368-9849-088229C9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de-DE" smtClean="0"/>
              <a:pPr/>
              <a:t>2</a:t>
            </a:fld>
            <a:endParaRPr lang="de-DE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F67F8106-0740-474D-B2D5-7E63A7A025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t="14179" b="-215"/>
          <a:stretch/>
        </p:blipFill>
        <p:spPr>
          <a:xfrm>
            <a:off x="0" y="1"/>
            <a:ext cx="12191999" cy="382428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099982-70A9-48FB-8673-1C218FB51B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Chapter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86C2B6-3F49-4D52-997B-FECED9F654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01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806384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FAEA3-7512-5D60-BFE2-665F4E1F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feld 104">
            <a:extLst>
              <a:ext uri="{FF2B5EF4-FFF2-40B4-BE49-F238E27FC236}">
                <a16:creationId xmlns:a16="http://schemas.microsoft.com/office/drawing/2014/main" id="{4729BA63-8985-8DF6-69EE-DF35C0410832}"/>
              </a:ext>
            </a:extLst>
          </p:cNvPr>
          <p:cNvSpPr txBox="1">
            <a:spLocks/>
          </p:cNvSpPr>
          <p:nvPr/>
        </p:nvSpPr>
        <p:spPr>
          <a:xfrm>
            <a:off x="377825" y="5868988"/>
            <a:ext cx="4654550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                                                                                                                      [2] Federal office for information security (BSI) (2026). Acts and regulations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3F1218AF-65C1-871C-6297-00652B535E7C}"/>
              </a:ext>
            </a:extLst>
          </p:cNvPr>
          <p:cNvSpPr/>
          <p:nvPr/>
        </p:nvSpPr>
        <p:spPr bwMode="gray">
          <a:xfrm>
            <a:off x="7407275" y="3287690"/>
            <a:ext cx="1638299" cy="1978048"/>
          </a:xfrm>
          <a:prstGeom prst="rect">
            <a:avLst/>
          </a:prstGeom>
          <a:solidFill>
            <a:srgbClr val="009682">
              <a:alpha val="20000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D912BAB8-574C-9920-1EF5-64666BE25570}"/>
              </a:ext>
            </a:extLst>
          </p:cNvPr>
          <p:cNvSpPr/>
          <p:nvPr/>
        </p:nvSpPr>
        <p:spPr bwMode="gray">
          <a:xfrm>
            <a:off x="371475" y="3287690"/>
            <a:ext cx="1638299" cy="1978048"/>
          </a:xfrm>
          <a:prstGeom prst="rect">
            <a:avLst/>
          </a:prstGeom>
          <a:solidFill>
            <a:srgbClr val="009682">
              <a:alpha val="20000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3AC5623-6CF9-4FD3-7111-A6165416A952}"/>
              </a:ext>
            </a:extLst>
          </p:cNvPr>
          <p:cNvSpPr/>
          <p:nvPr/>
        </p:nvSpPr>
        <p:spPr bwMode="gray">
          <a:xfrm>
            <a:off x="2555875" y="3287691"/>
            <a:ext cx="4289425" cy="1978048"/>
          </a:xfrm>
          <a:prstGeom prst="rect">
            <a:avLst/>
          </a:prstGeom>
          <a:solidFill>
            <a:srgbClr val="009682">
              <a:alpha val="20000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CDA39A82-CD4F-47FD-47F1-89CB9AD579BA}"/>
              </a:ext>
            </a:extLst>
          </p:cNvPr>
          <p:cNvSpPr txBox="1"/>
          <p:nvPr/>
        </p:nvSpPr>
        <p:spPr bwMode="gray">
          <a:xfrm>
            <a:off x="5541940" y="4433895"/>
            <a:ext cx="1057287" cy="269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Modbus</a:t>
            </a:r>
          </a:p>
        </p:txBody>
      </p: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7123DB1D-5819-88CE-F0AB-E34AD4A7EFFC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4702170" y="3344274"/>
            <a:ext cx="1019177" cy="318096"/>
          </a:xfrm>
          <a:prstGeom prst="line">
            <a:avLst/>
          </a:prstGeom>
          <a:ln w="31750">
            <a:solidFill>
              <a:srgbClr val="7030A0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DEB6A030-6D85-98B1-1937-5EB7F0DD5F39}"/>
              </a:ext>
            </a:extLst>
          </p:cNvPr>
          <p:cNvCxnSpPr>
            <a:cxnSpLocks/>
            <a:stCxn id="14" idx="2"/>
            <a:endCxn id="26" idx="7"/>
          </p:cNvCxnSpPr>
          <p:nvPr/>
        </p:nvCxnSpPr>
        <p:spPr bwMode="gray">
          <a:xfrm flipH="1">
            <a:off x="3860176" y="3344274"/>
            <a:ext cx="841994" cy="293834"/>
          </a:xfrm>
          <a:prstGeom prst="line">
            <a:avLst/>
          </a:prstGeom>
          <a:ln w="31750">
            <a:solidFill>
              <a:srgbClr val="7030A0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D7725246-49A1-786F-68B8-E3856C061681}"/>
              </a:ext>
            </a:extLst>
          </p:cNvPr>
          <p:cNvCxnSpPr>
            <a:cxnSpLocks/>
          </p:cNvCxnSpPr>
          <p:nvPr/>
        </p:nvCxnSpPr>
        <p:spPr bwMode="gray">
          <a:xfrm flipV="1">
            <a:off x="3730753" y="4071945"/>
            <a:ext cx="0" cy="364324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4050C2DD-0C42-3998-6EF0-8EE225D9E7FB}"/>
              </a:ext>
            </a:extLst>
          </p:cNvPr>
          <p:cNvCxnSpPr>
            <a:cxnSpLocks/>
            <a:stCxn id="32" idx="4"/>
          </p:cNvCxnSpPr>
          <p:nvPr/>
        </p:nvCxnSpPr>
        <p:spPr bwMode="gray">
          <a:xfrm>
            <a:off x="5937257" y="4099027"/>
            <a:ext cx="0" cy="261843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4A52F3B1-8BDA-90AF-78ED-A428A857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 Statement</a:t>
            </a:r>
            <a:br>
              <a:rPr lang="de-DE" dirty="0"/>
            </a:br>
            <a:r>
              <a:rPr lang="de-DE" sz="2800" dirty="0">
                <a:solidFill>
                  <a:schemeClr val="bg2"/>
                </a:solidFill>
              </a:rPr>
              <a:t>Benefits </a:t>
            </a:r>
            <a:r>
              <a:rPr lang="de-DE" sz="2800" dirty="0" err="1">
                <a:solidFill>
                  <a:schemeClr val="bg2"/>
                </a:solidFill>
              </a:rPr>
              <a:t>of</a:t>
            </a:r>
            <a:r>
              <a:rPr lang="de-DE" sz="2800" dirty="0">
                <a:solidFill>
                  <a:schemeClr val="bg2"/>
                </a:solidFill>
              </a:rPr>
              <a:t> Modular Automation Architecture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CC92F-0E2F-27B2-510C-E27940D291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>
            <a:normAutofit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55836-79C1-BFF3-8AEE-E14E0A635E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630080" cy="584200"/>
          </a:xfrm>
        </p:spPr>
        <p:txBody>
          <a:bodyPr>
            <a:normAutofit/>
          </a:bodyPr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284F7-D1FA-CE34-701F-2FAAA6F406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/>
          </a:bodyPr>
          <a:lstStyle/>
          <a:p>
            <a:fld id="{776FC98F-84AD-404B-BCCB-49E092AA6DE0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ED9EA40-3C9E-4AEC-4A23-8A0D4CFCC34B}"/>
              </a:ext>
            </a:extLst>
          </p:cNvPr>
          <p:cNvSpPr/>
          <p:nvPr/>
        </p:nvSpPr>
        <p:spPr bwMode="gray">
          <a:xfrm>
            <a:off x="371473" y="1592263"/>
            <a:ext cx="8670927" cy="1564594"/>
          </a:xfrm>
          <a:prstGeom prst="rect">
            <a:avLst/>
          </a:prstGeom>
          <a:solidFill>
            <a:srgbClr val="002D4C">
              <a:alpha val="20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40E668C-571F-C82F-B121-07206803F90A}"/>
              </a:ext>
            </a:extLst>
          </p:cNvPr>
          <p:cNvSpPr txBox="1"/>
          <p:nvPr/>
        </p:nvSpPr>
        <p:spPr bwMode="gray">
          <a:xfrm>
            <a:off x="443480" y="1596022"/>
            <a:ext cx="1224136" cy="5040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Plant</a:t>
            </a:r>
            <a:endParaRPr lang="de-DE" sz="2000" b="1" dirty="0">
              <a:solidFill>
                <a:srgbClr val="002D4C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B0FBC1E-AAC3-D939-C6CB-36B57396D55D}"/>
              </a:ext>
            </a:extLst>
          </p:cNvPr>
          <p:cNvSpPr txBox="1"/>
          <p:nvPr/>
        </p:nvSpPr>
        <p:spPr bwMode="gray">
          <a:xfrm>
            <a:off x="443480" y="3288863"/>
            <a:ext cx="1872683" cy="7028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Process</a:t>
            </a:r>
            <a:r>
              <a:rPr lang="de-DE" b="1" dirty="0"/>
              <a:t> Modules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816B96D-6F83-FA0D-A1D0-915832C7F955}"/>
              </a:ext>
            </a:extLst>
          </p:cNvPr>
          <p:cNvSpPr/>
          <p:nvPr/>
        </p:nvSpPr>
        <p:spPr bwMode="gray">
          <a:xfrm>
            <a:off x="3226006" y="2984274"/>
            <a:ext cx="2952328" cy="360000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rgbClr val="002D4C"/>
                </a:solidFill>
              </a:rPr>
              <a:t>Interface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2D9E5AE-4561-0C51-332F-8397244BDE02}"/>
              </a:ext>
            </a:extLst>
          </p:cNvPr>
          <p:cNvSpPr/>
          <p:nvPr/>
        </p:nvSpPr>
        <p:spPr bwMode="gray">
          <a:xfrm>
            <a:off x="371475" y="2302296"/>
            <a:ext cx="8670925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rgbClr val="002D4C"/>
                </a:solidFill>
              </a:rPr>
              <a:t>Orchestration</a:t>
            </a:r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943C3401-5699-904F-1DCA-F086F3F9BD62}"/>
              </a:ext>
            </a:extLst>
          </p:cNvPr>
          <p:cNvCxnSpPr>
            <a:cxnSpLocks/>
            <a:endCxn id="21" idx="2"/>
          </p:cNvCxnSpPr>
          <p:nvPr/>
        </p:nvCxnSpPr>
        <p:spPr bwMode="gray">
          <a:xfrm flipV="1">
            <a:off x="4702174" y="2662296"/>
            <a:ext cx="4764" cy="322758"/>
          </a:xfrm>
          <a:prstGeom prst="line">
            <a:avLst/>
          </a:prstGeom>
          <a:ln w="31750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1AD2E2CA-549A-A65F-DD88-AC25564737F2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Modular </a:t>
            </a:r>
            <a:r>
              <a:rPr lang="de-DE" b="1" dirty="0" err="1"/>
              <a:t>architecture</a:t>
            </a:r>
            <a:r>
              <a:rPr lang="de-DE" b="1" dirty="0"/>
              <a:t> </a:t>
            </a:r>
            <a:r>
              <a:rPr lang="de-DE" b="1" dirty="0" err="1"/>
              <a:t>provides</a:t>
            </a:r>
            <a:r>
              <a:rPr lang="de-DE" b="1" dirty="0"/>
              <a:t> </a:t>
            </a:r>
            <a:r>
              <a:rPr lang="de-DE" b="1" dirty="0" err="1"/>
              <a:t>standardized</a:t>
            </a:r>
            <a:r>
              <a:rPr lang="de-DE" b="1" dirty="0"/>
              <a:t> </a:t>
            </a:r>
            <a:r>
              <a:rPr lang="de-DE" b="1" dirty="0" err="1"/>
              <a:t>interfaces</a:t>
            </a:r>
            <a:endParaRPr lang="de-DE" b="1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6966189-58BD-EF09-7EB8-16DA88AFDDAC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23" name="Textplatzhalter 76">
              <a:extLst>
                <a:ext uri="{FF2B5EF4-FFF2-40B4-BE49-F238E27FC236}">
                  <a16:creationId xmlns:a16="http://schemas.microsoft.com/office/drawing/2014/main" id="{44A23455-116F-891C-9548-8D56E9BD3302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9B2E55E-0EDA-8C09-4DB9-B8B80BED9067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99655AA-45B2-96BF-A066-84F2EEEE0AB5}"/>
              </a:ext>
            </a:extLst>
          </p:cNvPr>
          <p:cNvCxnSpPr>
            <a:cxnSpLocks/>
          </p:cNvCxnSpPr>
          <p:nvPr/>
        </p:nvCxnSpPr>
        <p:spPr bwMode="gray">
          <a:xfrm flipV="1">
            <a:off x="5592891" y="4438650"/>
            <a:ext cx="0" cy="271147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16A0BE3A-7AD0-48B9-D474-07602C1BA4E8}"/>
              </a:ext>
            </a:extLst>
          </p:cNvPr>
          <p:cNvCxnSpPr>
            <a:cxnSpLocks/>
          </p:cNvCxnSpPr>
          <p:nvPr/>
        </p:nvCxnSpPr>
        <p:spPr bwMode="gray">
          <a:xfrm flipV="1">
            <a:off x="2921954" y="4339552"/>
            <a:ext cx="0" cy="370245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69A632C-2FC1-BBB3-E2AF-9E52F0FD6598}"/>
              </a:ext>
            </a:extLst>
          </p:cNvPr>
          <p:cNvCxnSpPr>
            <a:cxnSpLocks/>
          </p:cNvCxnSpPr>
          <p:nvPr/>
        </p:nvCxnSpPr>
        <p:spPr bwMode="gray">
          <a:xfrm flipV="1">
            <a:off x="4436937" y="4438650"/>
            <a:ext cx="0" cy="271147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62C323C-7197-6F9B-4646-8DD669E1BED9}"/>
              </a:ext>
            </a:extLst>
          </p:cNvPr>
          <p:cNvCxnSpPr>
            <a:cxnSpLocks/>
          </p:cNvCxnSpPr>
          <p:nvPr/>
        </p:nvCxnSpPr>
        <p:spPr bwMode="gray">
          <a:xfrm flipV="1">
            <a:off x="3671508" y="4097235"/>
            <a:ext cx="0" cy="270892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76">
            <a:extLst>
              <a:ext uri="{FF2B5EF4-FFF2-40B4-BE49-F238E27FC236}">
                <a16:creationId xmlns:a16="http://schemas.microsoft.com/office/drawing/2014/main" id="{BB833E69-4A68-6239-B18E-B8786C090519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4155257" y="4711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5" name="Textplatzhalter 76">
            <a:extLst>
              <a:ext uri="{FF2B5EF4-FFF2-40B4-BE49-F238E27FC236}">
                <a16:creationId xmlns:a16="http://schemas.microsoft.com/office/drawing/2014/main" id="{DFD15AC0-AF74-755B-8F61-8B6091794335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321657" y="4711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6" name="Textplatzhalter 76">
            <a:extLst>
              <a:ext uri="{FF2B5EF4-FFF2-40B4-BE49-F238E27FC236}">
                <a16:creationId xmlns:a16="http://schemas.microsoft.com/office/drawing/2014/main" id="{E978AD61-2CF7-7E12-F45D-521A2A1D28DD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3399257" y="3559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1" name="Textplatzhalter 76">
            <a:extLst>
              <a:ext uri="{FF2B5EF4-FFF2-40B4-BE49-F238E27FC236}">
                <a16:creationId xmlns:a16="http://schemas.microsoft.com/office/drawing/2014/main" id="{AAD77A1E-49E7-9264-0C04-2568A126B89D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2643257" y="4711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2" name="Textplatzhalter 76">
            <a:extLst>
              <a:ext uri="{FF2B5EF4-FFF2-40B4-BE49-F238E27FC236}">
                <a16:creationId xmlns:a16="http://schemas.microsoft.com/office/drawing/2014/main" id="{D77B3FA9-2DE6-CE5C-AB49-4737942648A5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667257" y="3559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33" name="Grafik 32" descr="Glühbirne und Zahnrad Silhouette">
            <a:extLst>
              <a:ext uri="{FF2B5EF4-FFF2-40B4-BE49-F238E27FC236}">
                <a16:creationId xmlns:a16="http://schemas.microsoft.com/office/drawing/2014/main" id="{2B7B2D4C-D4E7-E8FA-8758-EE3EC704D6E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5375" y="4758690"/>
            <a:ext cx="438150" cy="438150"/>
          </a:xfrm>
          <a:prstGeom prst="rect">
            <a:avLst/>
          </a:prstGeom>
        </p:spPr>
      </p:pic>
      <p:pic>
        <p:nvPicPr>
          <p:cNvPr id="34" name="Grafik 33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F2B353CB-E1F4-1F28-0AFE-383667B26A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3454844" y="3683801"/>
            <a:ext cx="438560" cy="274752"/>
          </a:xfrm>
          <a:prstGeom prst="rect">
            <a:avLst/>
          </a:prstGeom>
        </p:spPr>
      </p:pic>
      <p:pic>
        <p:nvPicPr>
          <p:cNvPr id="35" name="Grafik 34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221612B5-F13C-865F-2D99-4F1A4A03F1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90542" y="3582587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rafik 35" descr="Glühbirne und Zahnrad Silhouette">
            <a:extLst>
              <a:ext uri="{FF2B5EF4-FFF2-40B4-BE49-F238E27FC236}">
                <a16:creationId xmlns:a16="http://schemas.microsoft.com/office/drawing/2014/main" id="{34C4A7E5-BE49-4BD5-5CF2-F36848F84C4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3502" y="4759483"/>
            <a:ext cx="438150" cy="438150"/>
          </a:xfrm>
          <a:prstGeom prst="rect">
            <a:avLst/>
          </a:prstGeom>
        </p:spPr>
      </p:pic>
      <p:pic>
        <p:nvPicPr>
          <p:cNvPr id="37" name="Grafik 36" descr="Glühbirne und Zahnrad Silhouette">
            <a:extLst>
              <a:ext uri="{FF2B5EF4-FFF2-40B4-BE49-F238E27FC236}">
                <a16:creationId xmlns:a16="http://schemas.microsoft.com/office/drawing/2014/main" id="{4A68C424-11D2-3D8F-F08D-DDB3AAC9DAF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7139" y="4759483"/>
            <a:ext cx="438150" cy="438150"/>
          </a:xfrm>
          <a:prstGeom prst="rect">
            <a:avLst/>
          </a:prstGeom>
        </p:spPr>
      </p:pic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C9A293D-6526-A1C0-D80E-66593BA23F2F}"/>
              </a:ext>
            </a:extLst>
          </p:cNvPr>
          <p:cNvCxnSpPr>
            <a:cxnSpLocks/>
          </p:cNvCxnSpPr>
          <p:nvPr/>
        </p:nvCxnSpPr>
        <p:spPr bwMode="gray">
          <a:xfrm>
            <a:off x="4425939" y="4353840"/>
            <a:ext cx="1504043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B3757DEC-53DD-C03A-8F3A-8EB2E04C6CD9}"/>
              </a:ext>
            </a:extLst>
          </p:cNvPr>
          <p:cNvSpPr txBox="1"/>
          <p:nvPr/>
        </p:nvSpPr>
        <p:spPr bwMode="gray">
          <a:xfrm>
            <a:off x="5818292" y="4816636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Sensors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CC9354D-7CE2-3125-4987-CCB9CA83BA4F}"/>
              </a:ext>
            </a:extLst>
          </p:cNvPr>
          <p:cNvSpPr txBox="1"/>
          <p:nvPr/>
        </p:nvSpPr>
        <p:spPr bwMode="gray">
          <a:xfrm>
            <a:off x="2650207" y="3660936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A51B7A6-789E-AC3D-E4F6-6198CF1810B9}"/>
              </a:ext>
            </a:extLst>
          </p:cNvPr>
          <p:cNvSpPr txBox="1"/>
          <p:nvPr/>
        </p:nvSpPr>
        <p:spPr bwMode="gray">
          <a:xfrm>
            <a:off x="4929857" y="3659827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5C4D48A6-B43E-FD1F-DD24-FEB30698D480}"/>
              </a:ext>
            </a:extLst>
          </p:cNvPr>
          <p:cNvCxnSpPr>
            <a:cxnSpLocks/>
          </p:cNvCxnSpPr>
          <p:nvPr/>
        </p:nvCxnSpPr>
        <p:spPr bwMode="gray">
          <a:xfrm flipH="1">
            <a:off x="2909083" y="4352933"/>
            <a:ext cx="776287" cy="0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F240FD2-49A9-8806-051B-9D5169F53653}"/>
              </a:ext>
            </a:extLst>
          </p:cNvPr>
          <p:cNvCxnSpPr>
            <a:cxnSpLocks/>
          </p:cNvCxnSpPr>
          <p:nvPr/>
        </p:nvCxnSpPr>
        <p:spPr bwMode="gray">
          <a:xfrm flipH="1">
            <a:off x="3667114" y="4354520"/>
            <a:ext cx="2282825" cy="0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30751235-6666-37B4-B26A-6C83D47E0912}"/>
              </a:ext>
            </a:extLst>
          </p:cNvPr>
          <p:cNvCxnSpPr>
            <a:cxnSpLocks/>
          </p:cNvCxnSpPr>
          <p:nvPr/>
        </p:nvCxnSpPr>
        <p:spPr bwMode="gray">
          <a:xfrm flipH="1">
            <a:off x="3716337" y="4424370"/>
            <a:ext cx="1893093" cy="0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C0D134BD-014A-D9E6-5C9D-537F52082E76}"/>
              </a:ext>
            </a:extLst>
          </p:cNvPr>
          <p:cNvSpPr txBox="1"/>
          <p:nvPr/>
        </p:nvSpPr>
        <p:spPr bwMode="gray">
          <a:xfrm>
            <a:off x="3933803" y="3554413"/>
            <a:ext cx="1057287" cy="269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OPC-UA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7CEE580-4602-B382-188F-FFFF6C1BF637}"/>
              </a:ext>
            </a:extLst>
          </p:cNvPr>
          <p:cNvSpPr txBox="1"/>
          <p:nvPr/>
        </p:nvSpPr>
        <p:spPr bwMode="gray">
          <a:xfrm>
            <a:off x="2792390" y="4446595"/>
            <a:ext cx="1057287" cy="269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Profinet</a:t>
            </a:r>
            <a:endParaRPr lang="de-DE" sz="1400" dirty="0"/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84C6B37-F8B8-B489-0939-1FD48AC1D915}"/>
              </a:ext>
            </a:extLst>
          </p:cNvPr>
          <p:cNvCxnSpPr>
            <a:cxnSpLocks/>
            <a:stCxn id="45" idx="0"/>
          </p:cNvCxnSpPr>
          <p:nvPr/>
        </p:nvCxnSpPr>
        <p:spPr bwMode="gray">
          <a:xfrm flipV="1">
            <a:off x="1190625" y="2660650"/>
            <a:ext cx="0" cy="627040"/>
          </a:xfrm>
          <a:prstGeom prst="line">
            <a:avLst/>
          </a:prstGeom>
          <a:ln w="31750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3123F8F4-997D-72B1-7F25-1894AEB1FD1E}"/>
              </a:ext>
            </a:extLst>
          </p:cNvPr>
          <p:cNvCxnSpPr>
            <a:cxnSpLocks/>
            <a:stCxn id="54" idx="0"/>
          </p:cNvCxnSpPr>
          <p:nvPr/>
        </p:nvCxnSpPr>
        <p:spPr bwMode="gray">
          <a:xfrm flipV="1">
            <a:off x="8226425" y="2660650"/>
            <a:ext cx="0" cy="627040"/>
          </a:xfrm>
          <a:prstGeom prst="line">
            <a:avLst/>
          </a:prstGeom>
          <a:ln w="31750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hteck 59">
            <a:extLst>
              <a:ext uri="{FF2B5EF4-FFF2-40B4-BE49-F238E27FC236}">
                <a16:creationId xmlns:a16="http://schemas.microsoft.com/office/drawing/2014/main" id="{FE708782-A03A-BE74-A334-2DEF8D67C664}"/>
              </a:ext>
            </a:extLst>
          </p:cNvPr>
          <p:cNvSpPr/>
          <p:nvPr/>
        </p:nvSpPr>
        <p:spPr bwMode="gray">
          <a:xfrm>
            <a:off x="7510462" y="3392488"/>
            <a:ext cx="1433512" cy="266700"/>
          </a:xfrm>
          <a:prstGeom prst="rect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6AB027D2-CCEE-A813-44EE-A3688F1927DA}"/>
              </a:ext>
            </a:extLst>
          </p:cNvPr>
          <p:cNvSpPr/>
          <p:nvPr/>
        </p:nvSpPr>
        <p:spPr bwMode="gray">
          <a:xfrm>
            <a:off x="7506493" y="3746500"/>
            <a:ext cx="1439862" cy="1390650"/>
          </a:xfrm>
          <a:prstGeom prst="rect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C303B799-3F42-7537-3572-4FABFD57DE18}"/>
              </a:ext>
            </a:extLst>
          </p:cNvPr>
          <p:cNvSpPr txBox="1"/>
          <p:nvPr/>
        </p:nvSpPr>
        <p:spPr bwMode="gray">
          <a:xfrm>
            <a:off x="7523162" y="3771900"/>
            <a:ext cx="1427162" cy="361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 </a:t>
            </a:r>
            <a:r>
              <a:rPr lang="de-DE" sz="1400" b="1" dirty="0" err="1"/>
              <a:t>Procedures</a:t>
            </a:r>
            <a:endParaRPr lang="de-DE" sz="1400" b="1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81B7D2FD-F7E5-8E7D-1FCD-11A857CFDD51}"/>
              </a:ext>
            </a:extLst>
          </p:cNvPr>
          <p:cNvSpPr txBox="1"/>
          <p:nvPr/>
        </p:nvSpPr>
        <p:spPr bwMode="gray">
          <a:xfrm>
            <a:off x="7510462" y="3397250"/>
            <a:ext cx="1433512" cy="361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 Services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E5DFAC50-C6AA-0B14-83D9-2550EF8EE205}"/>
              </a:ext>
            </a:extLst>
          </p:cNvPr>
          <p:cNvSpPr/>
          <p:nvPr/>
        </p:nvSpPr>
        <p:spPr bwMode="gray">
          <a:xfrm>
            <a:off x="7562850" y="4089400"/>
            <a:ext cx="1341438" cy="2857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b="1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A12796AE-78EB-3775-BC60-A8302C91C8FE}"/>
              </a:ext>
            </a:extLst>
          </p:cNvPr>
          <p:cNvSpPr/>
          <p:nvPr/>
        </p:nvSpPr>
        <p:spPr bwMode="gray">
          <a:xfrm>
            <a:off x="7562850" y="4445000"/>
            <a:ext cx="1341438" cy="4762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b="1" dirty="0" err="1">
                <a:solidFill>
                  <a:schemeClr val="tx1"/>
                </a:solidFill>
              </a:rPr>
              <a:t>Process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values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FFD16396-F7A7-6AAA-1E09-E1405DF5195F}"/>
              </a:ext>
            </a:extLst>
          </p:cNvPr>
          <p:cNvSpPr txBox="1"/>
          <p:nvPr/>
        </p:nvSpPr>
        <p:spPr bwMode="gray">
          <a:xfrm>
            <a:off x="9296400" y="2627314"/>
            <a:ext cx="2632075" cy="10080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Emerging </a:t>
            </a:r>
            <a:r>
              <a:rPr lang="de-DE" b="1" dirty="0" err="1"/>
              <a:t>threat</a:t>
            </a:r>
            <a:r>
              <a:rPr lang="de-DE" b="1" dirty="0"/>
              <a:t> and </a:t>
            </a:r>
            <a:r>
              <a:rPr lang="de-DE" b="1" dirty="0" err="1"/>
              <a:t>regulatory</a:t>
            </a:r>
            <a:r>
              <a:rPr lang="de-DE" b="1" dirty="0"/>
              <a:t> </a:t>
            </a:r>
            <a:r>
              <a:rPr lang="de-DE" b="1" dirty="0" err="1"/>
              <a:t>environment</a:t>
            </a:r>
            <a:r>
              <a:rPr lang="de-DE" b="1" dirty="0"/>
              <a:t>:</a:t>
            </a:r>
          </a:p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b="1" dirty="0"/>
          </a:p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b="1" dirty="0"/>
          </a:p>
          <a:p>
            <a:pPr lvl="2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b="1" dirty="0"/>
          </a:p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b="1" dirty="0"/>
          </a:p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b="1" dirty="0"/>
          </a:p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b="1" dirty="0"/>
          </a:p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endParaRPr lang="de-DE" b="1" dirty="0"/>
          </a:p>
        </p:txBody>
      </p:sp>
      <p:pic>
        <p:nvPicPr>
          <p:cNvPr id="99" name="Grafik 98">
            <a:extLst>
              <a:ext uri="{FF2B5EF4-FFF2-40B4-BE49-F238E27FC236}">
                <a16:creationId xmlns:a16="http://schemas.microsoft.com/office/drawing/2014/main" id="{9C477394-541D-500C-72DA-91768FC7E40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6578" t="7038" r="26574" b="7963"/>
          <a:stretch>
            <a:fillRect/>
          </a:stretch>
        </p:blipFill>
        <p:spPr>
          <a:xfrm>
            <a:off x="9253764" y="3269797"/>
            <a:ext cx="369763" cy="377371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A2BEF0DB-CE57-91F3-BAA5-55357EACFFE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6578" t="7038" r="26574" b="7963"/>
          <a:stretch>
            <a:fillRect/>
          </a:stretch>
        </p:blipFill>
        <p:spPr>
          <a:xfrm>
            <a:off x="9259207" y="3742192"/>
            <a:ext cx="369763" cy="377371"/>
          </a:xfrm>
          <a:prstGeom prst="rect">
            <a:avLst/>
          </a:prstGeom>
        </p:spPr>
      </p:pic>
      <p:sp>
        <p:nvSpPr>
          <p:cNvPr id="101" name="Textfeld 100">
            <a:extLst>
              <a:ext uri="{FF2B5EF4-FFF2-40B4-BE49-F238E27FC236}">
                <a16:creationId xmlns:a16="http://schemas.microsoft.com/office/drawing/2014/main" id="{E66601BF-DBAE-5321-1F11-41A1EE2FD868}"/>
              </a:ext>
            </a:extLst>
          </p:cNvPr>
          <p:cNvSpPr txBox="1"/>
          <p:nvPr/>
        </p:nvSpPr>
        <p:spPr bwMode="gray">
          <a:xfrm>
            <a:off x="9702800" y="3298825"/>
            <a:ext cx="2520950" cy="6413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Cyber</a:t>
            </a:r>
            <a:r>
              <a:rPr lang="de-DE" b="1" dirty="0"/>
              <a:t> </a:t>
            </a:r>
            <a:r>
              <a:rPr lang="de-DE" b="1" dirty="0" err="1"/>
              <a:t>security</a:t>
            </a:r>
            <a:r>
              <a:rPr lang="de-DE" b="1" dirty="0"/>
              <a:t> </a:t>
            </a:r>
            <a:r>
              <a:rPr lang="de-DE" b="1" dirty="0" err="1"/>
              <a:t>act</a:t>
            </a:r>
            <a:endParaRPr lang="de-DE" b="1" dirty="0"/>
          </a:p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de-DE" dirty="0" err="1"/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7555538D-95CA-0638-B573-4C380558134D}"/>
              </a:ext>
            </a:extLst>
          </p:cNvPr>
          <p:cNvSpPr txBox="1"/>
          <p:nvPr/>
        </p:nvSpPr>
        <p:spPr bwMode="gray">
          <a:xfrm>
            <a:off x="9709150" y="3783013"/>
            <a:ext cx="2565400" cy="965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Network and </a:t>
            </a:r>
            <a:r>
              <a:rPr lang="de-DE" b="1" dirty="0" err="1"/>
              <a:t>information</a:t>
            </a:r>
            <a:r>
              <a:rPr lang="de-DE" b="1" dirty="0"/>
              <a:t> </a:t>
            </a:r>
            <a:r>
              <a:rPr lang="de-DE" b="1" dirty="0" err="1"/>
              <a:t>systems</a:t>
            </a:r>
            <a:r>
              <a:rPr lang="de-DE" b="1" dirty="0"/>
              <a:t> (NIS2)</a:t>
            </a:r>
          </a:p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de-DE" b="1" dirty="0" err="1"/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3F95EEC5-2E4C-BB71-6AB1-66604B7C4B11}"/>
              </a:ext>
            </a:extLst>
          </p:cNvPr>
          <p:cNvSpPr txBox="1">
            <a:spLocks/>
          </p:cNvSpPr>
          <p:nvPr/>
        </p:nvSpPr>
        <p:spPr>
          <a:xfrm>
            <a:off x="381000" y="5868504"/>
            <a:ext cx="4654550" cy="24019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[1] German association of engineers (VDI) (2022). </a:t>
            </a:r>
            <a:r>
              <a:rPr lang="en-US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Modulare</a:t>
            </a: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Anlagen                                           </a:t>
            </a:r>
          </a:p>
        </p:txBody>
      </p:sp>
      <p:sp>
        <p:nvSpPr>
          <p:cNvPr id="104" name="Geschweifte Klammer rechts 103">
            <a:extLst>
              <a:ext uri="{FF2B5EF4-FFF2-40B4-BE49-F238E27FC236}">
                <a16:creationId xmlns:a16="http://schemas.microsoft.com/office/drawing/2014/main" id="{2BA56F0F-88AC-F20A-F9E5-B8CA639F50A1}"/>
              </a:ext>
            </a:extLst>
          </p:cNvPr>
          <p:cNvSpPr/>
          <p:nvPr/>
        </p:nvSpPr>
        <p:spPr bwMode="gray">
          <a:xfrm>
            <a:off x="9043988" y="1612106"/>
            <a:ext cx="252412" cy="3636169"/>
          </a:xfrm>
          <a:prstGeom prst="rightBrace">
            <a:avLst>
              <a:gd name="adj1" fmla="val 69750"/>
              <a:gd name="adj2" fmla="val 5674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981F82A-1406-6EBD-305E-97845586F955}"/>
              </a:ext>
            </a:extLst>
          </p:cNvPr>
          <p:cNvSpPr/>
          <p:nvPr/>
        </p:nvSpPr>
        <p:spPr bwMode="gray">
          <a:xfrm>
            <a:off x="471071" y="3392488"/>
            <a:ext cx="1433512" cy="266700"/>
          </a:xfrm>
          <a:prstGeom prst="rect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6A2DB07-96C7-A47A-CA07-FB0FE547612E}"/>
              </a:ext>
            </a:extLst>
          </p:cNvPr>
          <p:cNvSpPr/>
          <p:nvPr/>
        </p:nvSpPr>
        <p:spPr bwMode="gray">
          <a:xfrm>
            <a:off x="467102" y="3746500"/>
            <a:ext cx="1439862" cy="1390650"/>
          </a:xfrm>
          <a:prstGeom prst="rect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69F2A15-EB29-4B07-6F28-A9015788CFCD}"/>
              </a:ext>
            </a:extLst>
          </p:cNvPr>
          <p:cNvSpPr txBox="1"/>
          <p:nvPr/>
        </p:nvSpPr>
        <p:spPr bwMode="gray">
          <a:xfrm>
            <a:off x="483771" y="3771900"/>
            <a:ext cx="1427162" cy="361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 </a:t>
            </a:r>
            <a:r>
              <a:rPr lang="de-DE" sz="1400" b="1" dirty="0" err="1"/>
              <a:t>Procedures</a:t>
            </a:r>
            <a:endParaRPr lang="de-DE" sz="1400" b="1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9AEAADF-FACF-8070-CA2B-E9A75ACE2182}"/>
              </a:ext>
            </a:extLst>
          </p:cNvPr>
          <p:cNvSpPr txBox="1"/>
          <p:nvPr/>
        </p:nvSpPr>
        <p:spPr bwMode="gray">
          <a:xfrm>
            <a:off x="471071" y="3397250"/>
            <a:ext cx="1433512" cy="361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 Services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4F997D0-6ABF-43D1-2F1F-D9BC8EC8E749}"/>
              </a:ext>
            </a:extLst>
          </p:cNvPr>
          <p:cNvSpPr/>
          <p:nvPr/>
        </p:nvSpPr>
        <p:spPr bwMode="gray">
          <a:xfrm>
            <a:off x="523459" y="4089400"/>
            <a:ext cx="1341438" cy="2857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b="1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C6F02FE-2C90-1016-5561-3BA3A025568F}"/>
              </a:ext>
            </a:extLst>
          </p:cNvPr>
          <p:cNvSpPr/>
          <p:nvPr/>
        </p:nvSpPr>
        <p:spPr bwMode="gray">
          <a:xfrm>
            <a:off x="523459" y="4445000"/>
            <a:ext cx="1341438" cy="4762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b="1" dirty="0" err="1">
                <a:solidFill>
                  <a:schemeClr val="tx1"/>
                </a:solidFill>
              </a:rPr>
              <a:t>Process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values</a:t>
            </a:r>
            <a:endParaRPr lang="de-DE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4429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build="allAtOnce"/>
      <p:bldP spid="13" grpId="0"/>
      <p:bldP spid="18" grpId="0"/>
      <p:bldP spid="60" grpId="0" animBg="1"/>
      <p:bldP spid="63" grpId="0" animBg="1"/>
      <p:bldP spid="64" grpId="0"/>
      <p:bldP spid="65" grpId="0"/>
      <p:bldP spid="95" grpId="0" animBg="1"/>
      <p:bldP spid="96" grpId="0" animBg="1"/>
      <p:bldP spid="97" grpId="0"/>
      <p:bldP spid="101" grpId="0"/>
      <p:bldP spid="102" grpId="0"/>
      <p:bldP spid="103" grpId="0" build="allAtOnce"/>
      <p:bldP spid="104" grpId="0" animBg="1"/>
      <p:bldP spid="17" grpId="0" animBg="1"/>
      <p:bldP spid="19" grpId="0" animBg="1"/>
      <p:bldP spid="22" grpId="0"/>
      <p:bldP spid="27" grpId="0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 descr="Menüband Silhouette">
            <a:extLst>
              <a:ext uri="{FF2B5EF4-FFF2-40B4-BE49-F238E27FC236}">
                <a16:creationId xmlns:a16="http://schemas.microsoft.com/office/drawing/2014/main" id="{B1E9294D-7128-186F-F9B8-59A73D663F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70939" y="3117851"/>
            <a:ext cx="535025" cy="535025"/>
          </a:xfrm>
          <a:prstGeom prst="rect">
            <a:avLst/>
          </a:prstGeom>
        </p:spPr>
      </p:pic>
      <p:pic>
        <p:nvPicPr>
          <p:cNvPr id="29" name="Grafik 28" descr="Menüband Silhouette">
            <a:extLst>
              <a:ext uri="{FF2B5EF4-FFF2-40B4-BE49-F238E27FC236}">
                <a16:creationId xmlns:a16="http://schemas.microsoft.com/office/drawing/2014/main" id="{28519B71-BEE4-E3D2-1B6B-38322441E9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9188" y="3122613"/>
            <a:ext cx="535025" cy="535025"/>
          </a:xfrm>
          <a:prstGeom prst="rect">
            <a:avLst/>
          </a:prstGeom>
        </p:spPr>
      </p:pic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7508C08-BC6E-AD71-D25D-CA0E26929CBC}"/>
              </a:ext>
            </a:extLst>
          </p:cNvPr>
          <p:cNvCxnSpPr>
            <a:cxnSpLocks/>
            <a:stCxn id="7" idx="3"/>
          </p:cNvCxnSpPr>
          <p:nvPr/>
        </p:nvCxnSpPr>
        <p:spPr bwMode="gray">
          <a:xfrm>
            <a:off x="1965386" y="2494214"/>
            <a:ext cx="0" cy="182378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6D155F9-7AC5-1827-3C5C-CF7BB908BD47}"/>
              </a:ext>
            </a:extLst>
          </p:cNvPr>
          <p:cNvCxnSpPr>
            <a:cxnSpLocks/>
            <a:endCxn id="7" idx="5"/>
          </p:cNvCxnSpPr>
          <p:nvPr/>
        </p:nvCxnSpPr>
        <p:spPr bwMode="gray">
          <a:xfrm flipV="1">
            <a:off x="2497414" y="2494214"/>
            <a:ext cx="0" cy="183013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7B80BA0B-43B9-0705-E3CD-5EB17EBA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 Statement</a:t>
            </a:r>
            <a:br>
              <a:rPr lang="de-DE" dirty="0"/>
            </a:br>
            <a:r>
              <a:rPr lang="de-DE" sz="2800" dirty="0">
                <a:solidFill>
                  <a:schemeClr val="bg2"/>
                </a:solidFill>
              </a:rPr>
              <a:t>Public Key Infrastructure (PKI)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C7CABB-6321-4EDA-60F8-5DC9B4706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3E1860-A350-404E-BF89-23A268CA0970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4F464B-D7B6-3D33-4851-E50016C62A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43413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F9D672-B5A8-D837-E132-68C5B20F9B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7" name="Textplatzhalter 76">
            <a:extLst>
              <a:ext uri="{FF2B5EF4-FFF2-40B4-BE49-F238E27FC236}">
                <a16:creationId xmlns:a16="http://schemas.microsoft.com/office/drawing/2014/main" id="{22A24610-898A-F6AE-74C6-7149D95863B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855200" y="1852000"/>
            <a:ext cx="752400" cy="7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800" dirty="0">
                <a:solidFill>
                  <a:schemeClr val="bg1"/>
                </a:solidFill>
              </a:rPr>
              <a:t>CA</a:t>
            </a:r>
          </a:p>
        </p:txBody>
      </p:sp>
      <p:sp>
        <p:nvSpPr>
          <p:cNvPr id="10" name="Textplatzhalter 76">
            <a:extLst>
              <a:ext uri="{FF2B5EF4-FFF2-40B4-BE49-F238E27FC236}">
                <a16:creationId xmlns:a16="http://schemas.microsoft.com/office/drawing/2014/main" id="{511D9607-9951-E620-2AD3-A6B98E3B4D9F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718400" y="4246000"/>
            <a:ext cx="1026000" cy="102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800" dirty="0">
                <a:solidFill>
                  <a:schemeClr val="bg1"/>
                </a:solidFill>
              </a:rPr>
              <a:t>User A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2DFED39-3F4D-365E-DF85-CA30DF4240C4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 bwMode="gray">
          <a:xfrm>
            <a:off x="2744400" y="4759000"/>
            <a:ext cx="6703200" cy="0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ADF14A6-56A5-7D4A-6391-A4D2474FB002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 bwMode="gray">
          <a:xfrm>
            <a:off x="2607600" y="2228200"/>
            <a:ext cx="6976800" cy="0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C334405-B906-E5D7-321A-DB71F58ACB05}"/>
              </a:ext>
            </a:extLst>
          </p:cNvPr>
          <p:cNvCxnSpPr>
            <a:cxnSpLocks/>
            <a:endCxn id="8" idx="5"/>
          </p:cNvCxnSpPr>
          <p:nvPr/>
        </p:nvCxnSpPr>
        <p:spPr bwMode="gray">
          <a:xfrm flipV="1">
            <a:off x="10226614" y="2494214"/>
            <a:ext cx="0" cy="201428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28BBB02A-B7AF-5C12-D51D-95E7E2CCE092}"/>
              </a:ext>
            </a:extLst>
          </p:cNvPr>
          <p:cNvCxnSpPr>
            <a:cxnSpLocks/>
            <a:stCxn id="8" idx="3"/>
          </p:cNvCxnSpPr>
          <p:nvPr/>
        </p:nvCxnSpPr>
        <p:spPr bwMode="gray">
          <a:xfrm>
            <a:off x="9694586" y="2494214"/>
            <a:ext cx="0" cy="182018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fik 40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B1DE61A7-9FF4-51E4-893B-A819698B3A1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90351" y="3181372"/>
            <a:ext cx="478799" cy="478799"/>
          </a:xfrm>
          <a:prstGeom prst="rect">
            <a:avLst/>
          </a:prstGeom>
        </p:spPr>
      </p:pic>
      <p:sp>
        <p:nvSpPr>
          <p:cNvPr id="48" name="Textplatzhalter 76">
            <a:extLst>
              <a:ext uri="{FF2B5EF4-FFF2-40B4-BE49-F238E27FC236}">
                <a16:creationId xmlns:a16="http://schemas.microsoft.com/office/drawing/2014/main" id="{A5A307D9-FEA4-C521-27F0-188C3608644C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2553550" y="3492504"/>
            <a:ext cx="277487" cy="277487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56" name="Grafik 55" descr="Umschlag Silhouette">
            <a:extLst>
              <a:ext uri="{FF2B5EF4-FFF2-40B4-BE49-F238E27FC236}">
                <a16:creationId xmlns:a16="http://schemas.microsoft.com/office/drawing/2014/main" id="{5C2D878E-72DF-6992-D501-B15BE80EC5B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7200" y="3972400"/>
            <a:ext cx="957600" cy="957600"/>
          </a:xfrm>
          <a:prstGeom prst="rect">
            <a:avLst/>
          </a:prstGeom>
        </p:spPr>
      </p:pic>
      <p:sp>
        <p:nvSpPr>
          <p:cNvPr id="8" name="Textplatzhalter 76">
            <a:extLst>
              <a:ext uri="{FF2B5EF4-FFF2-40B4-BE49-F238E27FC236}">
                <a16:creationId xmlns:a16="http://schemas.microsoft.com/office/drawing/2014/main" id="{20EE57AC-0BFC-C366-14AB-5A6E7E179DE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584400" y="1852000"/>
            <a:ext cx="752400" cy="7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800" dirty="0">
                <a:solidFill>
                  <a:schemeClr val="bg1"/>
                </a:solidFill>
              </a:rPr>
              <a:t>CRL</a:t>
            </a:r>
          </a:p>
        </p:txBody>
      </p:sp>
      <p:sp>
        <p:nvSpPr>
          <p:cNvPr id="12" name="Textplatzhalter 76">
            <a:extLst>
              <a:ext uri="{FF2B5EF4-FFF2-40B4-BE49-F238E27FC236}">
                <a16:creationId xmlns:a16="http://schemas.microsoft.com/office/drawing/2014/main" id="{90C5C4AB-4ECC-01F7-ACE6-B6FA9249EEC8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447600" y="4246000"/>
            <a:ext cx="1026000" cy="102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800" dirty="0">
                <a:solidFill>
                  <a:schemeClr val="bg1"/>
                </a:solidFill>
              </a:rPr>
              <a:t>User B</a:t>
            </a:r>
          </a:p>
        </p:txBody>
      </p:sp>
      <p:sp>
        <p:nvSpPr>
          <p:cNvPr id="66" name="Textplatzhalter 76">
            <a:extLst>
              <a:ext uri="{FF2B5EF4-FFF2-40B4-BE49-F238E27FC236}">
                <a16:creationId xmlns:a16="http://schemas.microsoft.com/office/drawing/2014/main" id="{D7A96791-89AE-6D74-9C54-88BB792CDAD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268399" y="3462732"/>
            <a:ext cx="277487" cy="277487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64603F7A-6CC1-B8C0-4B33-F945246E28CB}"/>
              </a:ext>
            </a:extLst>
          </p:cNvPr>
          <p:cNvGrpSpPr/>
          <p:nvPr/>
        </p:nvGrpSpPr>
        <p:grpSpPr>
          <a:xfrm>
            <a:off x="9037200" y="3478110"/>
            <a:ext cx="277487" cy="273600"/>
            <a:chOff x="6203950" y="2825279"/>
            <a:chExt cx="432000" cy="432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A404399B-8BEB-C677-E4E3-F770213331D0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30DDD5B8-97F5-BAE6-9588-B13A04E96B13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71" name="Gerader Verbinder 70">
                <a:extLst>
                  <a:ext uri="{FF2B5EF4-FFF2-40B4-BE49-F238E27FC236}">
                    <a16:creationId xmlns:a16="http://schemas.microsoft.com/office/drawing/2014/main" id="{D9BF4CD6-3B3B-9499-4EC2-BC3E656D7B71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Gerader Verbinder 71">
                <a:extLst>
                  <a:ext uri="{FF2B5EF4-FFF2-40B4-BE49-F238E27FC236}">
                    <a16:creationId xmlns:a16="http://schemas.microsoft.com/office/drawing/2014/main" id="{CE9B1DE6-AF36-02B4-2963-76439A66CA1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8" name="Textfeld 77">
            <a:extLst>
              <a:ext uri="{FF2B5EF4-FFF2-40B4-BE49-F238E27FC236}">
                <a16:creationId xmlns:a16="http://schemas.microsoft.com/office/drawing/2014/main" id="{99D6D8F9-BB42-5237-CB76-C590D4A6602C}"/>
              </a:ext>
            </a:extLst>
          </p:cNvPr>
          <p:cNvSpPr txBox="1">
            <a:spLocks/>
          </p:cNvSpPr>
          <p:nvPr/>
        </p:nvSpPr>
        <p:spPr>
          <a:xfrm>
            <a:off x="381000" y="5868504"/>
            <a:ext cx="11118600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[3] </a:t>
            </a:r>
            <a:r>
              <a:rPr lang="en-US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Boeyen</a:t>
            </a: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et al. (2008). Internet X.509 Public Key Infrastructure Certificate and Certificate Revocation List (CRL) Profile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2D0B0936-9B98-4970-7403-FE6E11B54965}"/>
              </a:ext>
            </a:extLst>
          </p:cNvPr>
          <p:cNvSpPr txBox="1"/>
          <p:nvPr/>
        </p:nvSpPr>
        <p:spPr bwMode="gray">
          <a:xfrm>
            <a:off x="1111886" y="1598613"/>
            <a:ext cx="2328001" cy="2640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Certificate</a:t>
            </a:r>
            <a:r>
              <a:rPr lang="de-DE" b="1" dirty="0"/>
              <a:t> Authority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C977F707-134D-F310-FDEF-B2B296690538}"/>
              </a:ext>
            </a:extLst>
          </p:cNvPr>
          <p:cNvSpPr txBox="1"/>
          <p:nvPr/>
        </p:nvSpPr>
        <p:spPr bwMode="gray">
          <a:xfrm>
            <a:off x="8498115" y="1601800"/>
            <a:ext cx="2982057" cy="2640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Certificate</a:t>
            </a:r>
            <a:r>
              <a:rPr lang="de-DE" b="1" dirty="0"/>
              <a:t> </a:t>
            </a:r>
            <a:r>
              <a:rPr lang="de-DE" b="1" dirty="0" err="1"/>
              <a:t>Revocation</a:t>
            </a:r>
            <a:r>
              <a:rPr lang="de-DE" b="1" dirty="0"/>
              <a:t> List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17BAF0B-243A-9231-2915-8EA8D9763831}"/>
              </a:ext>
            </a:extLst>
          </p:cNvPr>
          <p:cNvSpPr txBox="1"/>
          <p:nvPr/>
        </p:nvSpPr>
        <p:spPr bwMode="gray">
          <a:xfrm>
            <a:off x="3071813" y="3321617"/>
            <a:ext cx="1653857" cy="4682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Signing</a:t>
            </a:r>
            <a:r>
              <a:rPr lang="de-DE" sz="1400" dirty="0"/>
              <a:t> </a:t>
            </a:r>
            <a:r>
              <a:rPr lang="de-DE" sz="1400" dirty="0" err="1"/>
              <a:t>request</a:t>
            </a:r>
            <a:endParaRPr lang="de-DE" sz="14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5E430A5-1C6B-1C07-6E90-F832D02A3C7F}"/>
              </a:ext>
            </a:extLst>
          </p:cNvPr>
          <p:cNvSpPr txBox="1"/>
          <p:nvPr/>
        </p:nvSpPr>
        <p:spPr bwMode="gray">
          <a:xfrm>
            <a:off x="314325" y="3359468"/>
            <a:ext cx="1257300" cy="4682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Certificate</a:t>
            </a:r>
            <a:endParaRPr lang="de-DE" sz="1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C0B2948-5116-4D18-8F31-E947AA71DA78}"/>
              </a:ext>
            </a:extLst>
          </p:cNvPr>
          <p:cNvSpPr txBox="1"/>
          <p:nvPr/>
        </p:nvSpPr>
        <p:spPr bwMode="gray">
          <a:xfrm>
            <a:off x="10762933" y="3187893"/>
            <a:ext cx="1057592" cy="4682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Validity</a:t>
            </a:r>
            <a:r>
              <a:rPr lang="de-DE" sz="1400" dirty="0"/>
              <a:t> check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2630DA5-BB72-B762-8036-CB88C9A98ED6}"/>
              </a:ext>
            </a:extLst>
          </p:cNvPr>
          <p:cNvSpPr txBox="1"/>
          <p:nvPr/>
        </p:nvSpPr>
        <p:spPr bwMode="gray">
          <a:xfrm>
            <a:off x="8118158" y="3165033"/>
            <a:ext cx="1057592" cy="4682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Validity</a:t>
            </a:r>
            <a:r>
              <a:rPr lang="de-DE" sz="1400" dirty="0"/>
              <a:t> </a:t>
            </a:r>
            <a:r>
              <a:rPr lang="de-DE" sz="1400" dirty="0" err="1"/>
              <a:t>approved</a:t>
            </a:r>
            <a:endParaRPr lang="de-DE" sz="14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3E325FD-3A3C-93DE-9F05-AA6018C71D69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Centralized</a:t>
            </a:r>
            <a:r>
              <a:rPr lang="de-DE" b="1" dirty="0"/>
              <a:t> </a:t>
            </a:r>
            <a:r>
              <a:rPr lang="de-DE" b="1" dirty="0" err="1"/>
              <a:t>system</a:t>
            </a:r>
            <a:r>
              <a:rPr lang="de-DE" b="1" dirty="0"/>
              <a:t> </a:t>
            </a:r>
            <a:r>
              <a:rPr lang="de-DE" b="1" dirty="0" err="1"/>
              <a:t>structure</a:t>
            </a:r>
            <a:endParaRPr lang="de-DE" b="1" dirty="0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72D6202C-E509-79E2-D1AE-0DA85B114279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23" name="Textplatzhalter 76">
              <a:extLst>
                <a:ext uri="{FF2B5EF4-FFF2-40B4-BE49-F238E27FC236}">
                  <a16:creationId xmlns:a16="http://schemas.microsoft.com/office/drawing/2014/main" id="{29A72FFE-5CB9-05B2-6354-2D1E3FD44BA7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437ABDAD-7C8C-393E-8C5D-8DD519A4548F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feld 30">
            <a:extLst>
              <a:ext uri="{FF2B5EF4-FFF2-40B4-BE49-F238E27FC236}">
                <a16:creationId xmlns:a16="http://schemas.microsoft.com/office/drawing/2014/main" id="{61C52224-208B-487D-C330-4FDBEA0F3914}"/>
              </a:ext>
            </a:extLst>
          </p:cNvPr>
          <p:cNvSpPr txBox="1"/>
          <p:nvPr/>
        </p:nvSpPr>
        <p:spPr bwMode="gray">
          <a:xfrm>
            <a:off x="5275263" y="4797494"/>
            <a:ext cx="1653857" cy="2523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Message</a:t>
            </a:r>
          </a:p>
        </p:txBody>
      </p:sp>
      <p:pic>
        <p:nvPicPr>
          <p:cNvPr id="34" name="Grafik 33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FF137EB1-52E5-3278-81A3-6AFDAF47FF3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9380" y="3203144"/>
            <a:ext cx="478799" cy="47879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4F64DA0-BCBB-6321-C369-7F5E0711C71F}"/>
              </a:ext>
            </a:extLst>
          </p:cNvPr>
          <p:cNvSpPr txBox="1"/>
          <p:nvPr/>
        </p:nvSpPr>
        <p:spPr bwMode="gray">
          <a:xfrm>
            <a:off x="4575493" y="4797494"/>
            <a:ext cx="1653857" cy="4682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Signed</a:t>
            </a:r>
            <a:endParaRPr lang="de-DE" sz="1400" dirty="0"/>
          </a:p>
        </p:txBody>
      </p:sp>
      <p:pic>
        <p:nvPicPr>
          <p:cNvPr id="28" name="Grafik 27" descr="Menüband Silhouette">
            <a:extLst>
              <a:ext uri="{FF2B5EF4-FFF2-40B4-BE49-F238E27FC236}">
                <a16:creationId xmlns:a16="http://schemas.microsoft.com/office/drawing/2014/main" id="{42631D38-32CC-1921-86B5-8ADFF047A9D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2438" y="4165600"/>
            <a:ext cx="535025" cy="5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909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8" grpId="0" animBg="1"/>
      <p:bldP spid="8" grpId="0" animBg="1"/>
      <p:bldP spid="66" grpId="0" animBg="1"/>
      <p:bldP spid="79" grpId="0"/>
      <p:bldP spid="81" grpId="0"/>
      <p:bldP spid="3" grpId="0"/>
      <p:bldP spid="14" grpId="0"/>
      <p:bldP spid="15" grpId="0"/>
      <p:bldP spid="17" grpId="0"/>
      <p:bldP spid="1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C8A991-911E-9CE9-63B0-549837E2496F}"/>
              </a:ext>
            </a:extLst>
          </p:cNvPr>
          <p:cNvSpPr/>
          <p:nvPr/>
        </p:nvSpPr>
        <p:spPr bwMode="gray">
          <a:xfrm>
            <a:off x="371545" y="3287691"/>
            <a:ext cx="11449049" cy="1978048"/>
          </a:xfrm>
          <a:prstGeom prst="rect">
            <a:avLst/>
          </a:prstGeom>
          <a:solidFill>
            <a:srgbClr val="009682">
              <a:alpha val="20000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1D3A0FE4-2455-15C2-41E0-896E5B68A641}"/>
              </a:ext>
            </a:extLst>
          </p:cNvPr>
          <p:cNvSpPr txBox="1"/>
          <p:nvPr/>
        </p:nvSpPr>
        <p:spPr bwMode="gray">
          <a:xfrm>
            <a:off x="6935766" y="4433895"/>
            <a:ext cx="1057287" cy="269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Modbus</a:t>
            </a:r>
          </a:p>
        </p:txBody>
      </p: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C21A2967-1C0F-FC11-D3C5-8506E46BAEF6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6095996" y="3344274"/>
            <a:ext cx="1019177" cy="318096"/>
          </a:xfrm>
          <a:prstGeom prst="line">
            <a:avLst/>
          </a:prstGeom>
          <a:ln w="31750">
            <a:solidFill>
              <a:srgbClr val="7030A0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2DB8709F-3916-3BBC-62FD-876E8CFB59AF}"/>
              </a:ext>
            </a:extLst>
          </p:cNvPr>
          <p:cNvCxnSpPr>
            <a:cxnSpLocks/>
            <a:stCxn id="14" idx="2"/>
            <a:endCxn id="26" idx="7"/>
          </p:cNvCxnSpPr>
          <p:nvPr/>
        </p:nvCxnSpPr>
        <p:spPr bwMode="gray">
          <a:xfrm flipH="1">
            <a:off x="5254002" y="3344274"/>
            <a:ext cx="841994" cy="293834"/>
          </a:xfrm>
          <a:prstGeom prst="line">
            <a:avLst/>
          </a:prstGeom>
          <a:ln w="31750">
            <a:solidFill>
              <a:srgbClr val="7030A0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3974EF9B-E4FA-D860-E0D9-4E124CD6787C}"/>
              </a:ext>
            </a:extLst>
          </p:cNvPr>
          <p:cNvCxnSpPr>
            <a:cxnSpLocks/>
          </p:cNvCxnSpPr>
          <p:nvPr/>
        </p:nvCxnSpPr>
        <p:spPr bwMode="gray">
          <a:xfrm flipV="1">
            <a:off x="5124579" y="4071945"/>
            <a:ext cx="0" cy="364324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E3861D1-5FB8-C04A-E7B0-BA606D800957}"/>
              </a:ext>
            </a:extLst>
          </p:cNvPr>
          <p:cNvCxnSpPr>
            <a:cxnSpLocks/>
            <a:stCxn id="32" idx="4"/>
          </p:cNvCxnSpPr>
          <p:nvPr/>
        </p:nvCxnSpPr>
        <p:spPr bwMode="gray">
          <a:xfrm>
            <a:off x="7331083" y="4099027"/>
            <a:ext cx="0" cy="261843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D5C0C027-1258-49E1-8210-56729ED8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 Statement</a:t>
            </a:r>
            <a:br>
              <a:rPr lang="de-DE" dirty="0"/>
            </a:br>
            <a:r>
              <a:rPr lang="de-DE" sz="2800" dirty="0">
                <a:solidFill>
                  <a:schemeClr val="bg2"/>
                </a:solidFill>
              </a:rPr>
              <a:t>Given Modular Environment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2519C-6EC7-423E-A9E2-AE8CC72AC2E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>
            <a:normAutofit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F0511-9102-4265-ADA1-5E0D79139D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630080" cy="584200"/>
          </a:xfrm>
        </p:spPr>
        <p:txBody>
          <a:bodyPr>
            <a:normAutofit/>
          </a:bodyPr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3CA12-894F-4F83-A0F6-A88E7EA934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/>
          </a:bodyPr>
          <a:lstStyle/>
          <a:p>
            <a:fld id="{776FC98F-84AD-404B-BCCB-49E092AA6DE0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3DF79F2-B8AF-0A0B-E715-F8E500FB9E8D}"/>
              </a:ext>
            </a:extLst>
          </p:cNvPr>
          <p:cNvSpPr/>
          <p:nvPr/>
        </p:nvSpPr>
        <p:spPr bwMode="gray">
          <a:xfrm>
            <a:off x="371472" y="1592263"/>
            <a:ext cx="11449049" cy="1564594"/>
          </a:xfrm>
          <a:prstGeom prst="rect">
            <a:avLst/>
          </a:prstGeom>
          <a:solidFill>
            <a:srgbClr val="002D4C">
              <a:alpha val="20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C9BEF8D-5572-F6F7-21B9-0F5A234F68E4}"/>
              </a:ext>
            </a:extLst>
          </p:cNvPr>
          <p:cNvSpPr txBox="1"/>
          <p:nvPr/>
        </p:nvSpPr>
        <p:spPr bwMode="gray">
          <a:xfrm>
            <a:off x="443480" y="1596022"/>
            <a:ext cx="1224136" cy="5040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Plant</a:t>
            </a:r>
            <a:endParaRPr lang="de-DE" sz="2000" b="1" dirty="0">
              <a:solidFill>
                <a:srgbClr val="002D4C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03BD5A0-1B72-6C53-485E-5176668263A0}"/>
              </a:ext>
            </a:extLst>
          </p:cNvPr>
          <p:cNvSpPr txBox="1"/>
          <p:nvPr/>
        </p:nvSpPr>
        <p:spPr bwMode="gray">
          <a:xfrm>
            <a:off x="443480" y="3288863"/>
            <a:ext cx="2052120" cy="7028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Process</a:t>
            </a:r>
            <a:r>
              <a:rPr lang="de-DE" b="1" dirty="0"/>
              <a:t> Module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670E77C-36CE-6E97-FD28-C3B1B15C35CD}"/>
              </a:ext>
            </a:extLst>
          </p:cNvPr>
          <p:cNvSpPr/>
          <p:nvPr/>
        </p:nvSpPr>
        <p:spPr bwMode="gray">
          <a:xfrm>
            <a:off x="4619832" y="2984274"/>
            <a:ext cx="2952328" cy="360000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rgbClr val="002D4C"/>
                </a:solidFill>
              </a:rPr>
              <a:t>Interface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483383D-48D9-5CCD-51B8-B4C933AAD826}"/>
              </a:ext>
            </a:extLst>
          </p:cNvPr>
          <p:cNvSpPr/>
          <p:nvPr/>
        </p:nvSpPr>
        <p:spPr bwMode="gray">
          <a:xfrm>
            <a:off x="3071813" y="1656098"/>
            <a:ext cx="6045094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 err="1">
                <a:solidFill>
                  <a:srgbClr val="002D4C"/>
                </a:solidFill>
              </a:rPr>
              <a:t>Secured</a:t>
            </a:r>
            <a:r>
              <a:rPr lang="de-DE" b="1" dirty="0">
                <a:solidFill>
                  <a:srgbClr val="002D4C"/>
                </a:solidFill>
              </a:rPr>
              <a:t> Environment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E521359-4AD6-003F-4B5D-2445C7564F5F}"/>
              </a:ext>
            </a:extLst>
          </p:cNvPr>
          <p:cNvSpPr/>
          <p:nvPr/>
        </p:nvSpPr>
        <p:spPr bwMode="gray">
          <a:xfrm>
            <a:off x="7600800" y="1713581"/>
            <a:ext cx="1303488" cy="251448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dirty="0">
                <a:solidFill>
                  <a:srgbClr val="002D4C"/>
                </a:solidFill>
              </a:rPr>
              <a:t>Root CA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EBCC00B-163B-56D4-EB1C-FE0C8D52245A}"/>
              </a:ext>
            </a:extLst>
          </p:cNvPr>
          <p:cNvSpPr/>
          <p:nvPr/>
        </p:nvSpPr>
        <p:spPr bwMode="gray">
          <a:xfrm>
            <a:off x="3071813" y="2302296"/>
            <a:ext cx="6048375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rgbClr val="002D4C"/>
                </a:solidFill>
              </a:rPr>
              <a:t>Orchestration</a:t>
            </a:r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6A6C0EC-A02A-DBC5-D0D7-5F65FBD4D3F6}"/>
              </a:ext>
            </a:extLst>
          </p:cNvPr>
          <p:cNvCxnSpPr>
            <a:cxnSpLocks/>
            <a:endCxn id="21" idx="2"/>
          </p:cNvCxnSpPr>
          <p:nvPr/>
        </p:nvCxnSpPr>
        <p:spPr bwMode="gray">
          <a:xfrm flipV="1">
            <a:off x="6096000" y="2662296"/>
            <a:ext cx="1" cy="322758"/>
          </a:xfrm>
          <a:prstGeom prst="line">
            <a:avLst/>
          </a:prstGeom>
          <a:ln w="31750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F96E3842-FB2C-D454-8042-7C049CC6F715}"/>
              </a:ext>
            </a:extLst>
          </p:cNvPr>
          <p:cNvCxnSpPr>
            <a:cxnSpLocks/>
          </p:cNvCxnSpPr>
          <p:nvPr/>
        </p:nvCxnSpPr>
        <p:spPr bwMode="gray">
          <a:xfrm flipV="1">
            <a:off x="6096000" y="2015077"/>
            <a:ext cx="0" cy="288000"/>
          </a:xfrm>
          <a:prstGeom prst="line">
            <a:avLst/>
          </a:prstGeom>
          <a:ln w="31750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85E3AA67-D7A8-088A-196C-E0F468BEB5A6}"/>
              </a:ext>
            </a:extLst>
          </p:cNvPr>
          <p:cNvSpPr txBox="1">
            <a:spLocks/>
          </p:cNvSpPr>
          <p:nvPr/>
        </p:nvSpPr>
        <p:spPr>
          <a:xfrm>
            <a:off x="381000" y="5868504"/>
            <a:ext cx="8163272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[4] Madsen and Barth (2025). Decentralized industrial security architecture for heterogeneous automation system</a:t>
            </a:r>
            <a:endParaRPr lang="de-DE" sz="1100" dirty="0">
              <a:solidFill>
                <a:srgbClr val="002D4C"/>
              </a:solidFill>
              <a:latin typeface="Arial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73" name="Grafik 72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45106919-589F-9218-41CF-7488AEB590E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58011" y="1681161"/>
            <a:ext cx="309662" cy="309662"/>
          </a:xfrm>
          <a:prstGeom prst="rect">
            <a:avLst/>
          </a:prstGeom>
        </p:spPr>
      </p:pic>
      <p:pic>
        <p:nvPicPr>
          <p:cNvPr id="74" name="Grafik 73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1CA46E07-EF75-A7F4-92EE-F4CF132F36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43363" y="2330711"/>
            <a:ext cx="309662" cy="309662"/>
          </a:xfrm>
          <a:prstGeom prst="rect">
            <a:avLst/>
          </a:prstGeom>
        </p:spPr>
      </p:pic>
      <p:pic>
        <p:nvPicPr>
          <p:cNvPr id="75" name="Grafik 7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AC85D734-DEF4-0574-E093-2B03480682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800" y="1956214"/>
            <a:ext cx="648000" cy="64800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22FEEE3D-5F98-7EBF-5C81-CC5C1211F426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Modular </a:t>
            </a:r>
            <a:r>
              <a:rPr lang="de-DE" b="1" dirty="0" err="1"/>
              <a:t>architecture</a:t>
            </a:r>
            <a:r>
              <a:rPr lang="de-DE" b="1" dirty="0"/>
              <a:t> </a:t>
            </a:r>
            <a:r>
              <a:rPr lang="de-DE" b="1" dirty="0" err="1"/>
              <a:t>conflicts</a:t>
            </a:r>
            <a:r>
              <a:rPr lang="de-DE" b="1" dirty="0"/>
              <a:t> </a:t>
            </a:r>
            <a:r>
              <a:rPr lang="de-DE" b="1" dirty="0" err="1"/>
              <a:t>with</a:t>
            </a:r>
            <a:r>
              <a:rPr lang="de-DE" b="1" dirty="0"/>
              <a:t> traditional </a:t>
            </a:r>
            <a:r>
              <a:rPr lang="de-DE" b="1" dirty="0" err="1"/>
              <a:t>certificate</a:t>
            </a:r>
            <a:r>
              <a:rPr lang="de-DE" b="1" dirty="0"/>
              <a:t> </a:t>
            </a:r>
            <a:r>
              <a:rPr lang="de-DE" b="1" dirty="0" err="1"/>
              <a:t>management</a:t>
            </a:r>
            <a:endParaRPr lang="de-DE" b="1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D06C8BDC-CD1B-5E78-4274-EC6FEEEA9339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23" name="Textplatzhalter 76">
              <a:extLst>
                <a:ext uri="{FF2B5EF4-FFF2-40B4-BE49-F238E27FC236}">
                  <a16:creationId xmlns:a16="http://schemas.microsoft.com/office/drawing/2014/main" id="{26B8B42F-9707-0DEC-1807-9E5606849E99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E02475B3-B18E-3C8C-3E92-86E8CD8E58FA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1536A8B-AF42-2AA6-B6D5-95E0EEDC4C5C}"/>
              </a:ext>
            </a:extLst>
          </p:cNvPr>
          <p:cNvCxnSpPr>
            <a:cxnSpLocks/>
          </p:cNvCxnSpPr>
          <p:nvPr/>
        </p:nvCxnSpPr>
        <p:spPr bwMode="gray">
          <a:xfrm flipV="1">
            <a:off x="6986717" y="4438650"/>
            <a:ext cx="0" cy="271147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1AD0B39C-1D28-BC9D-B81E-9EF0A2F6C3BD}"/>
              </a:ext>
            </a:extLst>
          </p:cNvPr>
          <p:cNvCxnSpPr>
            <a:cxnSpLocks/>
          </p:cNvCxnSpPr>
          <p:nvPr/>
        </p:nvCxnSpPr>
        <p:spPr bwMode="gray">
          <a:xfrm flipV="1">
            <a:off x="4315780" y="4339552"/>
            <a:ext cx="0" cy="370245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F7FF411-E5CE-B4D8-C94E-A7BF7D8B1D21}"/>
              </a:ext>
            </a:extLst>
          </p:cNvPr>
          <p:cNvCxnSpPr>
            <a:cxnSpLocks/>
          </p:cNvCxnSpPr>
          <p:nvPr/>
        </p:nvCxnSpPr>
        <p:spPr bwMode="gray">
          <a:xfrm flipV="1">
            <a:off x="5830763" y="4438650"/>
            <a:ext cx="0" cy="271147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DBEFF91-824B-6FF8-6F72-E938B473A8C0}"/>
              </a:ext>
            </a:extLst>
          </p:cNvPr>
          <p:cNvCxnSpPr>
            <a:cxnSpLocks/>
          </p:cNvCxnSpPr>
          <p:nvPr/>
        </p:nvCxnSpPr>
        <p:spPr bwMode="gray">
          <a:xfrm flipV="1">
            <a:off x="5065334" y="4097235"/>
            <a:ext cx="0" cy="270892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76">
            <a:extLst>
              <a:ext uri="{FF2B5EF4-FFF2-40B4-BE49-F238E27FC236}">
                <a16:creationId xmlns:a16="http://schemas.microsoft.com/office/drawing/2014/main" id="{8FD9A324-5483-AA56-C326-13F8DB21A983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549083" y="4711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5" name="Textplatzhalter 76">
            <a:extLst>
              <a:ext uri="{FF2B5EF4-FFF2-40B4-BE49-F238E27FC236}">
                <a16:creationId xmlns:a16="http://schemas.microsoft.com/office/drawing/2014/main" id="{9BDEFCC9-F858-C08E-F891-9EE5C04EF9F3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6715483" y="4711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6" name="Textplatzhalter 76">
            <a:extLst>
              <a:ext uri="{FF2B5EF4-FFF2-40B4-BE49-F238E27FC236}">
                <a16:creationId xmlns:a16="http://schemas.microsoft.com/office/drawing/2014/main" id="{69C9B576-5FC7-9CFA-8BEE-8172B3A835DB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4793083" y="3559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1" name="Textplatzhalter 76">
            <a:extLst>
              <a:ext uri="{FF2B5EF4-FFF2-40B4-BE49-F238E27FC236}">
                <a16:creationId xmlns:a16="http://schemas.microsoft.com/office/drawing/2014/main" id="{916FE82F-B600-5698-8B68-B02EA1EA3C06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4037083" y="4711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2" name="Textplatzhalter 76">
            <a:extLst>
              <a:ext uri="{FF2B5EF4-FFF2-40B4-BE49-F238E27FC236}">
                <a16:creationId xmlns:a16="http://schemas.microsoft.com/office/drawing/2014/main" id="{F2A8BD30-D64D-DF00-D8BF-C6899BAEC643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061083" y="3559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33" name="Grafik 32" descr="Glühbirne und Zahnrad Silhouette">
            <a:extLst>
              <a:ext uri="{FF2B5EF4-FFF2-40B4-BE49-F238E27FC236}">
                <a16:creationId xmlns:a16="http://schemas.microsoft.com/office/drawing/2014/main" id="{6D0121DA-F0AC-46D4-C279-995AD833181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9201" y="4758690"/>
            <a:ext cx="438150" cy="438150"/>
          </a:xfrm>
          <a:prstGeom prst="rect">
            <a:avLst/>
          </a:prstGeom>
        </p:spPr>
      </p:pic>
      <p:pic>
        <p:nvPicPr>
          <p:cNvPr id="34" name="Grafik 33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06C647CB-9584-7CAB-6440-709E2C8486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4848670" y="3683801"/>
            <a:ext cx="438560" cy="274752"/>
          </a:xfrm>
          <a:prstGeom prst="rect">
            <a:avLst/>
          </a:prstGeom>
        </p:spPr>
      </p:pic>
      <p:pic>
        <p:nvPicPr>
          <p:cNvPr id="35" name="Grafik 34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6AC118AC-79CE-16C6-C446-7EF82AFD4F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84368" y="3582587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rafik 35" descr="Glühbirne und Zahnrad Silhouette">
            <a:extLst>
              <a:ext uri="{FF2B5EF4-FFF2-40B4-BE49-F238E27FC236}">
                <a16:creationId xmlns:a16="http://schemas.microsoft.com/office/drawing/2014/main" id="{8B59C409-0F09-6DAE-07BF-4CBD4BC88CD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7328" y="4759483"/>
            <a:ext cx="438150" cy="438150"/>
          </a:xfrm>
          <a:prstGeom prst="rect">
            <a:avLst/>
          </a:prstGeom>
        </p:spPr>
      </p:pic>
      <p:pic>
        <p:nvPicPr>
          <p:cNvPr id="37" name="Grafik 36" descr="Glühbirne und Zahnrad Silhouette">
            <a:extLst>
              <a:ext uri="{FF2B5EF4-FFF2-40B4-BE49-F238E27FC236}">
                <a16:creationId xmlns:a16="http://schemas.microsoft.com/office/drawing/2014/main" id="{2D51B9D7-C703-3F2E-8043-F9514F422FD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0965" y="4759483"/>
            <a:ext cx="438150" cy="438150"/>
          </a:xfrm>
          <a:prstGeom prst="rect">
            <a:avLst/>
          </a:prstGeom>
        </p:spPr>
      </p:pic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753641E-8D16-71C7-F7B4-051E41C04345}"/>
              </a:ext>
            </a:extLst>
          </p:cNvPr>
          <p:cNvCxnSpPr>
            <a:cxnSpLocks/>
          </p:cNvCxnSpPr>
          <p:nvPr/>
        </p:nvCxnSpPr>
        <p:spPr bwMode="gray">
          <a:xfrm>
            <a:off x="5819765" y="4353840"/>
            <a:ext cx="1504043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EC9BE1B8-679C-BC59-0FB4-5F5459F77B4D}"/>
              </a:ext>
            </a:extLst>
          </p:cNvPr>
          <p:cNvSpPr txBox="1"/>
          <p:nvPr/>
        </p:nvSpPr>
        <p:spPr bwMode="gray">
          <a:xfrm>
            <a:off x="7358168" y="4816636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Sensors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2D4B5D1D-D1D4-46E7-28C0-FBA9657A2E4E}"/>
              </a:ext>
            </a:extLst>
          </p:cNvPr>
          <p:cNvSpPr txBox="1"/>
          <p:nvPr/>
        </p:nvSpPr>
        <p:spPr bwMode="gray">
          <a:xfrm>
            <a:off x="4044033" y="3660936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D6B7E1E3-1D23-41B6-B5AF-CEFA3F1EC472}"/>
              </a:ext>
            </a:extLst>
          </p:cNvPr>
          <p:cNvSpPr txBox="1"/>
          <p:nvPr/>
        </p:nvSpPr>
        <p:spPr bwMode="gray">
          <a:xfrm>
            <a:off x="6323683" y="3659827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CDDCF7C1-C372-8DDC-57B7-BCE4649B2857}"/>
              </a:ext>
            </a:extLst>
          </p:cNvPr>
          <p:cNvCxnSpPr>
            <a:cxnSpLocks/>
          </p:cNvCxnSpPr>
          <p:nvPr/>
        </p:nvCxnSpPr>
        <p:spPr bwMode="gray">
          <a:xfrm flipH="1">
            <a:off x="4302909" y="4352933"/>
            <a:ext cx="776287" cy="0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276E3420-8C61-7243-686C-7B4A281ECE58}"/>
              </a:ext>
            </a:extLst>
          </p:cNvPr>
          <p:cNvCxnSpPr>
            <a:cxnSpLocks/>
          </p:cNvCxnSpPr>
          <p:nvPr/>
        </p:nvCxnSpPr>
        <p:spPr bwMode="gray">
          <a:xfrm flipH="1">
            <a:off x="5060940" y="4354520"/>
            <a:ext cx="2282825" cy="0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66A7E5FA-7B94-7FC9-3E71-65D59C537AEC}"/>
              </a:ext>
            </a:extLst>
          </p:cNvPr>
          <p:cNvCxnSpPr>
            <a:cxnSpLocks/>
          </p:cNvCxnSpPr>
          <p:nvPr/>
        </p:nvCxnSpPr>
        <p:spPr bwMode="gray">
          <a:xfrm flipH="1">
            <a:off x="5110163" y="4424370"/>
            <a:ext cx="1893093" cy="0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60DCBC9C-7786-BACD-1985-1C8C8333FD45}"/>
              </a:ext>
            </a:extLst>
          </p:cNvPr>
          <p:cNvSpPr txBox="1"/>
          <p:nvPr/>
        </p:nvSpPr>
        <p:spPr bwMode="gray">
          <a:xfrm>
            <a:off x="5327629" y="3554413"/>
            <a:ext cx="1057287" cy="269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OPC-UA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397031B-C66E-7FA0-5595-9CC21A4CB211}"/>
              </a:ext>
            </a:extLst>
          </p:cNvPr>
          <p:cNvSpPr txBox="1"/>
          <p:nvPr/>
        </p:nvSpPr>
        <p:spPr bwMode="gray">
          <a:xfrm>
            <a:off x="4186216" y="4446595"/>
            <a:ext cx="1057287" cy="269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Profinet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7352990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1" grpId="0"/>
      <p:bldP spid="13" grpId="0"/>
      <p:bldP spid="14" grpId="0" animBg="1"/>
      <p:bldP spid="18" grpId="0"/>
      <p:bldP spid="16" grpId="0" animBg="1"/>
      <p:bldP spid="25" grpId="0" animBg="1"/>
      <p:bldP spid="26" grpId="0" animBg="1"/>
      <p:bldP spid="31" grpId="0" animBg="1"/>
      <p:bldP spid="32" grpId="0" animBg="1"/>
      <p:bldP spid="41" grpId="0"/>
      <p:bldP spid="42" grpId="0"/>
      <p:bldP spid="43" grpId="0"/>
      <p:bldP spid="112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50E9-086A-B811-A2C3-D9755228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hteck 61">
            <a:extLst>
              <a:ext uri="{FF2B5EF4-FFF2-40B4-BE49-F238E27FC236}">
                <a16:creationId xmlns:a16="http://schemas.microsoft.com/office/drawing/2014/main" id="{3D7A8228-1D92-FB44-A970-F7A87816799F}"/>
              </a:ext>
            </a:extLst>
          </p:cNvPr>
          <p:cNvSpPr/>
          <p:nvPr/>
        </p:nvSpPr>
        <p:spPr bwMode="gray">
          <a:xfrm>
            <a:off x="371472" y="1592263"/>
            <a:ext cx="11449049" cy="1564594"/>
          </a:xfrm>
          <a:prstGeom prst="rect">
            <a:avLst/>
          </a:prstGeom>
          <a:solidFill>
            <a:srgbClr val="002D4C">
              <a:alpha val="20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34BC25D9-02B8-FFD3-5832-835EC90374E9}"/>
              </a:ext>
            </a:extLst>
          </p:cNvPr>
          <p:cNvSpPr/>
          <p:nvPr/>
        </p:nvSpPr>
        <p:spPr bwMode="gray">
          <a:xfrm>
            <a:off x="371545" y="3287691"/>
            <a:ext cx="11449049" cy="1978048"/>
          </a:xfrm>
          <a:prstGeom prst="rect">
            <a:avLst/>
          </a:prstGeom>
          <a:solidFill>
            <a:srgbClr val="009682">
              <a:alpha val="20000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9629D294-FA58-8867-D4A9-6CCD484B5592}"/>
              </a:ext>
            </a:extLst>
          </p:cNvPr>
          <p:cNvSpPr txBox="1"/>
          <p:nvPr/>
        </p:nvSpPr>
        <p:spPr bwMode="gray">
          <a:xfrm>
            <a:off x="6935766" y="4433895"/>
            <a:ext cx="1057287" cy="269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Modbus</a:t>
            </a:r>
          </a:p>
        </p:txBody>
      </p: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31054BA5-38E1-1871-545C-16202E4678EB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6095996" y="3344274"/>
            <a:ext cx="1019177" cy="318096"/>
          </a:xfrm>
          <a:prstGeom prst="line">
            <a:avLst/>
          </a:prstGeom>
          <a:ln w="31750">
            <a:solidFill>
              <a:srgbClr val="7030A0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55018628-3079-9AA9-79AF-F2A8A699FA3D}"/>
              </a:ext>
            </a:extLst>
          </p:cNvPr>
          <p:cNvCxnSpPr>
            <a:cxnSpLocks/>
            <a:stCxn id="14" idx="2"/>
            <a:endCxn id="26" idx="7"/>
          </p:cNvCxnSpPr>
          <p:nvPr/>
        </p:nvCxnSpPr>
        <p:spPr bwMode="gray">
          <a:xfrm flipH="1">
            <a:off x="5254002" y="3344274"/>
            <a:ext cx="841994" cy="293834"/>
          </a:xfrm>
          <a:prstGeom prst="line">
            <a:avLst/>
          </a:prstGeom>
          <a:ln w="31750">
            <a:solidFill>
              <a:srgbClr val="7030A0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4E837539-5A85-8E9D-8F01-A8135B84A070}"/>
              </a:ext>
            </a:extLst>
          </p:cNvPr>
          <p:cNvCxnSpPr>
            <a:cxnSpLocks/>
          </p:cNvCxnSpPr>
          <p:nvPr/>
        </p:nvCxnSpPr>
        <p:spPr bwMode="gray">
          <a:xfrm flipV="1">
            <a:off x="5124579" y="4071945"/>
            <a:ext cx="0" cy="352425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04A2E9C9-A592-3E5B-CA50-9A990FB9D432}"/>
              </a:ext>
            </a:extLst>
          </p:cNvPr>
          <p:cNvCxnSpPr>
            <a:cxnSpLocks/>
            <a:stCxn id="32" idx="4"/>
          </p:cNvCxnSpPr>
          <p:nvPr/>
        </p:nvCxnSpPr>
        <p:spPr bwMode="gray">
          <a:xfrm>
            <a:off x="7331083" y="4099027"/>
            <a:ext cx="0" cy="261843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92C15DA5-06C7-43EE-821C-D3CC1DAB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 Statement</a:t>
            </a:r>
            <a:br>
              <a:rPr lang="de-DE" dirty="0"/>
            </a:br>
            <a:r>
              <a:rPr lang="de-DE" sz="2800" dirty="0">
                <a:solidFill>
                  <a:schemeClr val="bg2"/>
                </a:solidFill>
              </a:rPr>
              <a:t>Given Modular Environment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8D8432-0D81-973C-2BF0-44FF01F134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>
            <a:normAutofit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2FC3A-66FB-D8E8-AF92-D33D66D9C0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281737" cy="584200"/>
          </a:xfrm>
        </p:spPr>
        <p:txBody>
          <a:bodyPr>
            <a:normAutofit/>
          </a:bodyPr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C3F1D-4A1F-5850-E999-5EEE1BFAD5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/>
          </a:bodyPr>
          <a:lstStyle/>
          <a:p>
            <a:fld id="{776FC98F-84AD-404B-BCCB-49E092AA6DE0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2B7FEB0-4A09-2CDC-999E-73AF052760E6}"/>
              </a:ext>
            </a:extLst>
          </p:cNvPr>
          <p:cNvSpPr/>
          <p:nvPr/>
        </p:nvSpPr>
        <p:spPr bwMode="gray">
          <a:xfrm>
            <a:off x="4619832" y="2984274"/>
            <a:ext cx="2952328" cy="360000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rgbClr val="002D4C"/>
                </a:solidFill>
              </a:rPr>
              <a:t>Interface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6127F5A-7E23-22C4-40A1-469875E99689}"/>
              </a:ext>
            </a:extLst>
          </p:cNvPr>
          <p:cNvSpPr/>
          <p:nvPr/>
        </p:nvSpPr>
        <p:spPr bwMode="gray">
          <a:xfrm>
            <a:off x="3071813" y="1656098"/>
            <a:ext cx="6045094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 err="1">
                <a:solidFill>
                  <a:srgbClr val="002D4C"/>
                </a:solidFill>
              </a:rPr>
              <a:t>Secured</a:t>
            </a:r>
            <a:r>
              <a:rPr lang="de-DE" b="1" dirty="0">
                <a:solidFill>
                  <a:srgbClr val="002D4C"/>
                </a:solidFill>
              </a:rPr>
              <a:t> Environment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04A6E9C-6499-0130-420D-2D740A7C994D}"/>
              </a:ext>
            </a:extLst>
          </p:cNvPr>
          <p:cNvSpPr/>
          <p:nvPr/>
        </p:nvSpPr>
        <p:spPr bwMode="gray">
          <a:xfrm>
            <a:off x="7600800" y="1713581"/>
            <a:ext cx="1303488" cy="251448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dirty="0">
                <a:solidFill>
                  <a:srgbClr val="002D4C"/>
                </a:solidFill>
              </a:rPr>
              <a:t>Root CA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DEA65F3-8DCD-35F4-775D-793FC765F3AD}"/>
              </a:ext>
            </a:extLst>
          </p:cNvPr>
          <p:cNvSpPr/>
          <p:nvPr/>
        </p:nvSpPr>
        <p:spPr bwMode="gray">
          <a:xfrm>
            <a:off x="3071813" y="2302296"/>
            <a:ext cx="6048375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rgbClr val="002D4C"/>
                </a:solidFill>
              </a:rPr>
              <a:t>Orchestration</a:t>
            </a:r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FC7438B-C57C-2822-CD34-4E4267550786}"/>
              </a:ext>
            </a:extLst>
          </p:cNvPr>
          <p:cNvCxnSpPr>
            <a:cxnSpLocks/>
            <a:endCxn id="21" idx="2"/>
          </p:cNvCxnSpPr>
          <p:nvPr/>
        </p:nvCxnSpPr>
        <p:spPr bwMode="gray">
          <a:xfrm flipV="1">
            <a:off x="6096000" y="2662296"/>
            <a:ext cx="1" cy="322758"/>
          </a:xfrm>
          <a:prstGeom prst="line">
            <a:avLst/>
          </a:prstGeom>
          <a:ln w="31750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77C63FCC-9F6C-FA8C-D752-6068C96AD3CA}"/>
              </a:ext>
            </a:extLst>
          </p:cNvPr>
          <p:cNvCxnSpPr>
            <a:cxnSpLocks/>
          </p:cNvCxnSpPr>
          <p:nvPr/>
        </p:nvCxnSpPr>
        <p:spPr bwMode="gray">
          <a:xfrm flipV="1">
            <a:off x="6096000" y="2015077"/>
            <a:ext cx="0" cy="288000"/>
          </a:xfrm>
          <a:prstGeom prst="line">
            <a:avLst/>
          </a:prstGeom>
          <a:ln w="31750">
            <a:solidFill>
              <a:schemeClr val="tx1"/>
            </a:solidFill>
            <a:headEnd type="arrow" w="lg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F5C2FFA2-9058-4609-2167-BF7EBEAA7BCF}"/>
              </a:ext>
            </a:extLst>
          </p:cNvPr>
          <p:cNvSpPr txBox="1">
            <a:spLocks/>
          </p:cNvSpPr>
          <p:nvPr/>
        </p:nvSpPr>
        <p:spPr>
          <a:xfrm>
            <a:off x="381000" y="5868504"/>
            <a:ext cx="8163272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[4] Madsen and Barth (2025). Decentralized industrial security architecture for heterogeneous automation system</a:t>
            </a:r>
            <a:endParaRPr lang="de-DE" sz="1100" dirty="0">
              <a:solidFill>
                <a:srgbClr val="002D4C"/>
              </a:solidFill>
              <a:latin typeface="Arial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73" name="Grafik 72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C460EF54-1FA2-119F-EA5B-B312F7D7E8F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58011" y="1681161"/>
            <a:ext cx="309662" cy="309662"/>
          </a:xfrm>
          <a:prstGeom prst="rect">
            <a:avLst/>
          </a:prstGeom>
        </p:spPr>
      </p:pic>
      <p:pic>
        <p:nvPicPr>
          <p:cNvPr id="74" name="Grafik 73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FE0C0801-EB49-A7AD-DD96-33FCCAD7D84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43363" y="2330711"/>
            <a:ext cx="309662" cy="309662"/>
          </a:xfrm>
          <a:prstGeom prst="rect">
            <a:avLst/>
          </a:prstGeom>
        </p:spPr>
      </p:pic>
      <p:pic>
        <p:nvPicPr>
          <p:cNvPr id="77" name="Grafik 7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537BCD02-655E-C07C-D397-87AA3C5C965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54029" y="3036409"/>
            <a:ext cx="259276" cy="259276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AD9A18E-EF6E-8A7B-531F-88EDC4771E45}"/>
              </a:ext>
            </a:extLst>
          </p:cNvPr>
          <p:cNvCxnSpPr>
            <a:cxnSpLocks/>
          </p:cNvCxnSpPr>
          <p:nvPr/>
        </p:nvCxnSpPr>
        <p:spPr bwMode="gray">
          <a:xfrm flipV="1">
            <a:off x="6986717" y="4421989"/>
            <a:ext cx="0" cy="287808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C82986C-77A5-1392-CF55-99E924882F59}"/>
              </a:ext>
            </a:extLst>
          </p:cNvPr>
          <p:cNvCxnSpPr>
            <a:cxnSpLocks/>
          </p:cNvCxnSpPr>
          <p:nvPr/>
        </p:nvCxnSpPr>
        <p:spPr bwMode="gray">
          <a:xfrm flipV="1">
            <a:off x="4315780" y="4339552"/>
            <a:ext cx="0" cy="370245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63C8A95-6350-FF01-9707-7FB205DCB7E7}"/>
              </a:ext>
            </a:extLst>
          </p:cNvPr>
          <p:cNvCxnSpPr>
            <a:cxnSpLocks/>
          </p:cNvCxnSpPr>
          <p:nvPr/>
        </p:nvCxnSpPr>
        <p:spPr bwMode="gray">
          <a:xfrm flipV="1">
            <a:off x="5830763" y="4429133"/>
            <a:ext cx="0" cy="280664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881ABB0-1F3B-A094-1349-E24B1DFEAF63}"/>
              </a:ext>
            </a:extLst>
          </p:cNvPr>
          <p:cNvCxnSpPr>
            <a:cxnSpLocks/>
          </p:cNvCxnSpPr>
          <p:nvPr/>
        </p:nvCxnSpPr>
        <p:spPr bwMode="gray">
          <a:xfrm flipV="1">
            <a:off x="5065334" y="4097235"/>
            <a:ext cx="0" cy="270892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platzhalter 76">
            <a:extLst>
              <a:ext uri="{FF2B5EF4-FFF2-40B4-BE49-F238E27FC236}">
                <a16:creationId xmlns:a16="http://schemas.microsoft.com/office/drawing/2014/main" id="{6162E196-54E9-164A-05DA-E79A91145EC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549083" y="4711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5" name="Textplatzhalter 76">
            <a:extLst>
              <a:ext uri="{FF2B5EF4-FFF2-40B4-BE49-F238E27FC236}">
                <a16:creationId xmlns:a16="http://schemas.microsoft.com/office/drawing/2014/main" id="{5F5E93D4-2EC5-A615-EB03-B159EDFA6DE8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6715483" y="4711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6" name="Textplatzhalter 76">
            <a:extLst>
              <a:ext uri="{FF2B5EF4-FFF2-40B4-BE49-F238E27FC236}">
                <a16:creationId xmlns:a16="http://schemas.microsoft.com/office/drawing/2014/main" id="{B26D8888-E889-DE48-FCC0-F72A16A70FAC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4793083" y="3559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1" name="Textplatzhalter 76">
            <a:extLst>
              <a:ext uri="{FF2B5EF4-FFF2-40B4-BE49-F238E27FC236}">
                <a16:creationId xmlns:a16="http://schemas.microsoft.com/office/drawing/2014/main" id="{A13ED3DF-B013-0D2B-8703-61E99939A9E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4037083" y="4711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2" name="Textplatzhalter 76">
            <a:extLst>
              <a:ext uri="{FF2B5EF4-FFF2-40B4-BE49-F238E27FC236}">
                <a16:creationId xmlns:a16="http://schemas.microsoft.com/office/drawing/2014/main" id="{67BEB4FF-20FD-48F5-8D19-C6CA7116437B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061083" y="355902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33" name="Grafik 32" descr="Glühbirne und Zahnrad Silhouette">
            <a:extLst>
              <a:ext uri="{FF2B5EF4-FFF2-40B4-BE49-F238E27FC236}">
                <a16:creationId xmlns:a16="http://schemas.microsoft.com/office/drawing/2014/main" id="{E4BDEED4-EA08-68B5-1411-6C7FBA02A84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9201" y="4758690"/>
            <a:ext cx="438150" cy="438150"/>
          </a:xfrm>
          <a:prstGeom prst="rect">
            <a:avLst/>
          </a:prstGeom>
        </p:spPr>
      </p:pic>
      <p:pic>
        <p:nvPicPr>
          <p:cNvPr id="34" name="Grafik 33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AFE0F977-9796-8530-8A5C-2D4923977A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4848670" y="3683801"/>
            <a:ext cx="438560" cy="274752"/>
          </a:xfrm>
          <a:prstGeom prst="rect">
            <a:avLst/>
          </a:prstGeom>
        </p:spPr>
      </p:pic>
      <p:pic>
        <p:nvPicPr>
          <p:cNvPr id="35" name="Grafik 34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EEB9FAC2-4522-F93C-2A2A-C304B2E1EB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84368" y="3582587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rafik 35" descr="Glühbirne und Zahnrad Silhouette">
            <a:extLst>
              <a:ext uri="{FF2B5EF4-FFF2-40B4-BE49-F238E27FC236}">
                <a16:creationId xmlns:a16="http://schemas.microsoft.com/office/drawing/2014/main" id="{641D35FF-33CE-5E19-28C6-32E8BF9909E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7328" y="4759483"/>
            <a:ext cx="438150" cy="438150"/>
          </a:xfrm>
          <a:prstGeom prst="rect">
            <a:avLst/>
          </a:prstGeom>
        </p:spPr>
      </p:pic>
      <p:pic>
        <p:nvPicPr>
          <p:cNvPr id="37" name="Grafik 36" descr="Glühbirne und Zahnrad Silhouette">
            <a:extLst>
              <a:ext uri="{FF2B5EF4-FFF2-40B4-BE49-F238E27FC236}">
                <a16:creationId xmlns:a16="http://schemas.microsoft.com/office/drawing/2014/main" id="{E7EB329D-2C47-4BE5-E4FC-C6BBEF88A00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0965" y="4759483"/>
            <a:ext cx="438150" cy="438150"/>
          </a:xfrm>
          <a:prstGeom prst="rect">
            <a:avLst/>
          </a:prstGeom>
        </p:spPr>
      </p:pic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3D23558B-6052-1522-EBA4-B04DD1EB9B2B}"/>
              </a:ext>
            </a:extLst>
          </p:cNvPr>
          <p:cNvCxnSpPr>
            <a:cxnSpLocks/>
          </p:cNvCxnSpPr>
          <p:nvPr/>
        </p:nvCxnSpPr>
        <p:spPr bwMode="gray">
          <a:xfrm>
            <a:off x="5819765" y="4353840"/>
            <a:ext cx="1504043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0E48F283-5B4D-272D-AE98-6F96543A1D23}"/>
              </a:ext>
            </a:extLst>
          </p:cNvPr>
          <p:cNvSpPr txBox="1"/>
          <p:nvPr/>
        </p:nvSpPr>
        <p:spPr bwMode="gray">
          <a:xfrm>
            <a:off x="7358168" y="4816636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Sensors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A6B7FF6-89E0-E9B1-0747-91338B6E20FB}"/>
              </a:ext>
            </a:extLst>
          </p:cNvPr>
          <p:cNvSpPr txBox="1"/>
          <p:nvPr/>
        </p:nvSpPr>
        <p:spPr bwMode="gray">
          <a:xfrm>
            <a:off x="4044033" y="3660936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B57EEAC-016B-078F-CA76-1C2D69728E1E}"/>
              </a:ext>
            </a:extLst>
          </p:cNvPr>
          <p:cNvSpPr txBox="1"/>
          <p:nvPr/>
        </p:nvSpPr>
        <p:spPr bwMode="gray">
          <a:xfrm>
            <a:off x="6323683" y="3659827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2DC2BEC-3365-CEA0-6D3B-D05CF4986B77}"/>
              </a:ext>
            </a:extLst>
          </p:cNvPr>
          <p:cNvCxnSpPr>
            <a:cxnSpLocks/>
          </p:cNvCxnSpPr>
          <p:nvPr/>
        </p:nvCxnSpPr>
        <p:spPr bwMode="gray">
          <a:xfrm flipH="1">
            <a:off x="4302909" y="4352933"/>
            <a:ext cx="776287" cy="0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E846AEC6-9D51-C3D0-1EBB-D4FA6CDD22E5}"/>
              </a:ext>
            </a:extLst>
          </p:cNvPr>
          <p:cNvCxnSpPr>
            <a:cxnSpLocks/>
          </p:cNvCxnSpPr>
          <p:nvPr/>
        </p:nvCxnSpPr>
        <p:spPr bwMode="gray">
          <a:xfrm flipH="1">
            <a:off x="5060940" y="4354520"/>
            <a:ext cx="2282825" cy="0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8CE5BCC0-F679-7C04-D805-61CD81922A41}"/>
              </a:ext>
            </a:extLst>
          </p:cNvPr>
          <p:cNvSpPr txBox="1"/>
          <p:nvPr/>
        </p:nvSpPr>
        <p:spPr bwMode="gray">
          <a:xfrm>
            <a:off x="5327629" y="3554413"/>
            <a:ext cx="1057287" cy="269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OPC-UA</a:t>
            </a:r>
          </a:p>
        </p:txBody>
      </p:sp>
      <p:pic>
        <p:nvPicPr>
          <p:cNvPr id="116" name="Grafik 11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F246F3DB-E100-AAAB-C9D6-5E63B1243B0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33763" y="4593205"/>
            <a:ext cx="309600" cy="309600"/>
          </a:xfrm>
          <a:prstGeom prst="rect">
            <a:avLst/>
          </a:prstGeom>
        </p:spPr>
      </p:pic>
      <p:pic>
        <p:nvPicPr>
          <p:cNvPr id="117" name="Grafik 11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B85A0DED-0016-6998-2267-1499FF9BF4E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50580" y="4580505"/>
            <a:ext cx="309600" cy="309600"/>
          </a:xfrm>
          <a:prstGeom prst="rect">
            <a:avLst/>
          </a:prstGeom>
        </p:spPr>
      </p:pic>
      <p:pic>
        <p:nvPicPr>
          <p:cNvPr id="118" name="Grafik 117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A27AA038-BF4C-CF84-534B-DD5DC43D7DC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69480" y="4593205"/>
            <a:ext cx="309600" cy="309600"/>
          </a:xfrm>
          <a:prstGeom prst="rect">
            <a:avLst/>
          </a:prstGeom>
        </p:spPr>
      </p:pic>
      <p:pic>
        <p:nvPicPr>
          <p:cNvPr id="119" name="Grafik 118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05D86C0D-8265-8ACA-17E1-34BE850208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59363" y="3886975"/>
            <a:ext cx="309600" cy="309600"/>
          </a:xfrm>
          <a:prstGeom prst="rect">
            <a:avLst/>
          </a:prstGeom>
        </p:spPr>
      </p:pic>
      <p:pic>
        <p:nvPicPr>
          <p:cNvPr id="120" name="Grafik 119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81A7E2EB-F887-076C-EA13-C97634D981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23138" y="3886975"/>
            <a:ext cx="309600" cy="3096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CCC27AF-463C-B20E-556A-59CC86BB13A7}"/>
              </a:ext>
            </a:extLst>
          </p:cNvPr>
          <p:cNvSpPr txBox="1"/>
          <p:nvPr/>
        </p:nvSpPr>
        <p:spPr bwMode="gray">
          <a:xfrm>
            <a:off x="4186216" y="4446595"/>
            <a:ext cx="1057287" cy="2698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Profinet</a:t>
            </a:r>
            <a:endParaRPr lang="de-DE" sz="1400" dirty="0"/>
          </a:p>
        </p:txBody>
      </p:sp>
      <p:pic>
        <p:nvPicPr>
          <p:cNvPr id="57" name="Grafik 5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E1F18C6E-D350-4690-204C-B36777225B6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3480" y="3973301"/>
            <a:ext cx="648072" cy="648072"/>
          </a:xfrm>
          <a:prstGeom prst="rect">
            <a:avLst/>
          </a:prstGeom>
        </p:spPr>
      </p:pic>
      <p:pic>
        <p:nvPicPr>
          <p:cNvPr id="59" name="Grafik 58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24FB76A8-933D-535A-DD0B-7D3EECFA26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800" y="1956214"/>
            <a:ext cx="648000" cy="648000"/>
          </a:xfrm>
          <a:prstGeom prst="rect">
            <a:avLst/>
          </a:prstGeom>
        </p:spPr>
      </p:pic>
      <p:sp>
        <p:nvSpPr>
          <p:cNvPr id="63" name="Textfeld 62">
            <a:extLst>
              <a:ext uri="{FF2B5EF4-FFF2-40B4-BE49-F238E27FC236}">
                <a16:creationId xmlns:a16="http://schemas.microsoft.com/office/drawing/2014/main" id="{FA5C11E8-1E39-A4FB-66B8-618DB7BB73AD}"/>
              </a:ext>
            </a:extLst>
          </p:cNvPr>
          <p:cNvSpPr txBox="1"/>
          <p:nvPr/>
        </p:nvSpPr>
        <p:spPr bwMode="gray">
          <a:xfrm>
            <a:off x="443480" y="1596022"/>
            <a:ext cx="1224136" cy="5040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Plant</a:t>
            </a:r>
            <a:endParaRPr lang="de-DE" sz="2000" b="1" dirty="0">
              <a:solidFill>
                <a:srgbClr val="002D4C"/>
              </a:solidFill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B8E4AB4B-FD0E-5AA1-4223-609758F81E06}"/>
              </a:ext>
            </a:extLst>
          </p:cNvPr>
          <p:cNvSpPr txBox="1"/>
          <p:nvPr/>
        </p:nvSpPr>
        <p:spPr bwMode="gray">
          <a:xfrm>
            <a:off x="443480" y="3288863"/>
            <a:ext cx="2052120" cy="7028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Process</a:t>
            </a:r>
            <a:r>
              <a:rPr lang="de-DE" b="1" dirty="0"/>
              <a:t> Module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E889815F-3B41-46D3-CC46-27A8C862F7A0}"/>
              </a:ext>
            </a:extLst>
          </p:cNvPr>
          <p:cNvCxnSpPr>
            <a:cxnSpLocks/>
          </p:cNvCxnSpPr>
          <p:nvPr/>
        </p:nvCxnSpPr>
        <p:spPr bwMode="gray">
          <a:xfrm flipH="1">
            <a:off x="5110163" y="4424370"/>
            <a:ext cx="1893093" cy="0"/>
          </a:xfrm>
          <a:prstGeom prst="line">
            <a:avLst/>
          </a:prstGeom>
          <a:ln w="31750">
            <a:solidFill>
              <a:srgbClr val="A7822E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B84FEBDF-EC15-E5B0-08C8-EA8AFE451351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Build</a:t>
            </a:r>
            <a:r>
              <a:rPr lang="de-DE" b="1" dirty="0"/>
              <a:t> a </a:t>
            </a:r>
            <a:r>
              <a:rPr lang="de-DE" b="1" dirty="0" err="1"/>
              <a:t>decoupled</a:t>
            </a:r>
            <a:r>
              <a:rPr lang="de-DE" b="1" dirty="0"/>
              <a:t> </a:t>
            </a:r>
            <a:r>
              <a:rPr lang="de-DE" b="1" dirty="0" err="1"/>
              <a:t>certificate</a:t>
            </a:r>
            <a:r>
              <a:rPr lang="de-DE" b="1" dirty="0"/>
              <a:t> </a:t>
            </a:r>
            <a:r>
              <a:rPr lang="de-DE" b="1" dirty="0" err="1"/>
              <a:t>management</a:t>
            </a:r>
            <a:r>
              <a:rPr lang="de-DE" b="1" dirty="0"/>
              <a:t> </a:t>
            </a:r>
            <a:r>
              <a:rPr lang="de-DE" b="1" dirty="0" err="1"/>
              <a:t>for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individual </a:t>
            </a:r>
            <a:r>
              <a:rPr lang="de-DE" b="1" dirty="0" err="1"/>
              <a:t>modules</a:t>
            </a:r>
            <a:endParaRPr lang="de-DE" b="1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D1663DA-596C-3367-76DC-BA202E802F8D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13" name="Textplatzhalter 76">
              <a:extLst>
                <a:ext uri="{FF2B5EF4-FFF2-40B4-BE49-F238E27FC236}">
                  <a16:creationId xmlns:a16="http://schemas.microsoft.com/office/drawing/2014/main" id="{3DBDB979-F11C-D98F-AD5B-DF5B630A914E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A099C773-949D-0338-904E-EB9DF11C8ECB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2886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15627-8154-1EE5-A61F-A2EE7909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hteck 60">
            <a:extLst>
              <a:ext uri="{FF2B5EF4-FFF2-40B4-BE49-F238E27FC236}">
                <a16:creationId xmlns:a16="http://schemas.microsoft.com/office/drawing/2014/main" id="{C328F31B-F959-0EFB-5270-177BDE099FD5}"/>
              </a:ext>
            </a:extLst>
          </p:cNvPr>
          <p:cNvSpPr/>
          <p:nvPr/>
        </p:nvSpPr>
        <p:spPr bwMode="gray">
          <a:xfrm>
            <a:off x="371475" y="1592263"/>
            <a:ext cx="11449049" cy="1978048"/>
          </a:xfrm>
          <a:prstGeom prst="rect">
            <a:avLst/>
          </a:prstGeom>
          <a:solidFill>
            <a:srgbClr val="009682">
              <a:alpha val="20000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B88CF6AB-E5F1-3157-74D4-C2802AC0BFC5}"/>
              </a:ext>
            </a:extLst>
          </p:cNvPr>
          <p:cNvGrpSpPr>
            <a:grpSpLocks noChangeAspect="1"/>
          </p:cNvGrpSpPr>
          <p:nvPr/>
        </p:nvGrpSpPr>
        <p:grpSpPr>
          <a:xfrm>
            <a:off x="7004148" y="2891518"/>
            <a:ext cx="736862" cy="241706"/>
            <a:chOff x="8023724" y="4482298"/>
            <a:chExt cx="2277000" cy="746902"/>
          </a:xfrm>
        </p:grpSpPr>
        <p:grpSp>
          <p:nvGrpSpPr>
            <p:cNvPr id="76" name="Gruppieren 75">
              <a:extLst>
                <a:ext uri="{FF2B5EF4-FFF2-40B4-BE49-F238E27FC236}">
                  <a16:creationId xmlns:a16="http://schemas.microsoft.com/office/drawing/2014/main" id="{F08CB414-36C1-F634-5B4B-000C36FB0607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79" name="Gruppieren 78">
                <a:extLst>
                  <a:ext uri="{FF2B5EF4-FFF2-40B4-BE49-F238E27FC236}">
                    <a16:creationId xmlns:a16="http://schemas.microsoft.com/office/drawing/2014/main" id="{2B72D234-DC87-8C67-49AE-CD5252BEE8F7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81" name="Rechteck: abgerundete Ecken 80">
                  <a:extLst>
                    <a:ext uri="{FF2B5EF4-FFF2-40B4-BE49-F238E27FC236}">
                      <a16:creationId xmlns:a16="http://schemas.microsoft.com/office/drawing/2014/main" id="{198E994D-611F-8B0E-3384-C6F63CE2C325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2" name="Rechteck: abgerundete Ecken 81">
                  <a:extLst>
                    <a:ext uri="{FF2B5EF4-FFF2-40B4-BE49-F238E27FC236}">
                      <a16:creationId xmlns:a16="http://schemas.microsoft.com/office/drawing/2014/main" id="{99E12EDA-53AD-5275-1EE5-E8475A233DAF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3" name="Rechteck: abgerundete Ecken 82">
                  <a:extLst>
                    <a:ext uri="{FF2B5EF4-FFF2-40B4-BE49-F238E27FC236}">
                      <a16:creationId xmlns:a16="http://schemas.microsoft.com/office/drawing/2014/main" id="{F7155F54-FEB3-4D30-3BD5-A052FD62FADC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4" name="Rechteck: abgerundete Ecken 83">
                  <a:extLst>
                    <a:ext uri="{FF2B5EF4-FFF2-40B4-BE49-F238E27FC236}">
                      <a16:creationId xmlns:a16="http://schemas.microsoft.com/office/drawing/2014/main" id="{1A446F32-D490-DA03-C412-1766B87DA205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5" name="Rechteck: abgerundete Ecken 84">
                  <a:extLst>
                    <a:ext uri="{FF2B5EF4-FFF2-40B4-BE49-F238E27FC236}">
                      <a16:creationId xmlns:a16="http://schemas.microsoft.com/office/drawing/2014/main" id="{43C637B0-554A-A440-69EC-333065EE1E77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6" name="Rechteck: abgerundete Ecken 85">
                  <a:extLst>
                    <a:ext uri="{FF2B5EF4-FFF2-40B4-BE49-F238E27FC236}">
                      <a16:creationId xmlns:a16="http://schemas.microsoft.com/office/drawing/2014/main" id="{175B0F0F-2C46-2573-0F41-4D42617879E1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0" name="Rechteck 79">
                <a:extLst>
                  <a:ext uri="{FF2B5EF4-FFF2-40B4-BE49-F238E27FC236}">
                    <a16:creationId xmlns:a16="http://schemas.microsoft.com/office/drawing/2014/main" id="{C2C81625-075C-50E1-094F-9BCD64883200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78" name="Grafik 77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A49B05BF-7D2E-9277-1FF2-0B7FE8C38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C575C8B2-7948-22F0-44F1-B065E2DF6275}"/>
              </a:ext>
            </a:extLst>
          </p:cNvPr>
          <p:cNvGrpSpPr>
            <a:grpSpLocks noChangeAspect="1"/>
          </p:cNvGrpSpPr>
          <p:nvPr/>
        </p:nvGrpSpPr>
        <p:grpSpPr>
          <a:xfrm>
            <a:off x="5819873" y="2891518"/>
            <a:ext cx="736862" cy="241706"/>
            <a:chOff x="8023724" y="4482298"/>
            <a:chExt cx="2277000" cy="746902"/>
          </a:xfrm>
        </p:grpSpPr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42E06973-1C3C-D55F-E059-A06B7AB0D582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90" name="Gruppieren 89">
                <a:extLst>
                  <a:ext uri="{FF2B5EF4-FFF2-40B4-BE49-F238E27FC236}">
                    <a16:creationId xmlns:a16="http://schemas.microsoft.com/office/drawing/2014/main" id="{505A0F9A-0978-E479-C639-8B204994697E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94" name="Rechteck: abgerundete Ecken 93">
                  <a:extLst>
                    <a:ext uri="{FF2B5EF4-FFF2-40B4-BE49-F238E27FC236}">
                      <a16:creationId xmlns:a16="http://schemas.microsoft.com/office/drawing/2014/main" id="{0C0008A0-F445-C217-3FDD-FFA64DFD980A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5" name="Rechteck: abgerundete Ecken 94">
                  <a:extLst>
                    <a:ext uri="{FF2B5EF4-FFF2-40B4-BE49-F238E27FC236}">
                      <a16:creationId xmlns:a16="http://schemas.microsoft.com/office/drawing/2014/main" id="{07C36BA6-0D93-920C-7D55-1CA0A9A3866A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6" name="Rechteck: abgerundete Ecken 95">
                  <a:extLst>
                    <a:ext uri="{FF2B5EF4-FFF2-40B4-BE49-F238E27FC236}">
                      <a16:creationId xmlns:a16="http://schemas.microsoft.com/office/drawing/2014/main" id="{16ABF798-DACF-79F4-2A62-668AB9502D89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7" name="Rechteck: abgerundete Ecken 96">
                  <a:extLst>
                    <a:ext uri="{FF2B5EF4-FFF2-40B4-BE49-F238E27FC236}">
                      <a16:creationId xmlns:a16="http://schemas.microsoft.com/office/drawing/2014/main" id="{CF0EB639-4685-D8AE-8790-15F6547894F6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9" name="Rechteck: abgerundete Ecken 98">
                  <a:extLst>
                    <a:ext uri="{FF2B5EF4-FFF2-40B4-BE49-F238E27FC236}">
                      <a16:creationId xmlns:a16="http://schemas.microsoft.com/office/drawing/2014/main" id="{6AFB5552-667B-35A2-6A29-82DDD1D0E905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0" name="Rechteck: abgerundete Ecken 99">
                  <a:extLst>
                    <a:ext uri="{FF2B5EF4-FFF2-40B4-BE49-F238E27FC236}">
                      <a16:creationId xmlns:a16="http://schemas.microsoft.com/office/drawing/2014/main" id="{52F0B30A-CAF0-0EBD-433A-6B0CA5C2E80A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3" name="Rechteck 92">
                <a:extLst>
                  <a:ext uri="{FF2B5EF4-FFF2-40B4-BE49-F238E27FC236}">
                    <a16:creationId xmlns:a16="http://schemas.microsoft.com/office/drawing/2014/main" id="{3CE6C4CF-E913-5B42-0171-041C48EBE91B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89" name="Grafik 88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A3CA33CF-AD62-26D1-43D8-EF9671DC5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12E509EE-B709-3487-8062-CEDED03A3F6E}"/>
              </a:ext>
            </a:extLst>
          </p:cNvPr>
          <p:cNvGrpSpPr>
            <a:grpSpLocks noChangeAspect="1"/>
          </p:cNvGrpSpPr>
          <p:nvPr/>
        </p:nvGrpSpPr>
        <p:grpSpPr>
          <a:xfrm>
            <a:off x="4302092" y="2891518"/>
            <a:ext cx="736862" cy="241706"/>
            <a:chOff x="8023724" y="4482298"/>
            <a:chExt cx="2277000" cy="746902"/>
          </a:xfrm>
        </p:grpSpPr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EFFC2C7A-EA31-34E6-8599-5262D7704497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04" name="Gruppieren 103">
                <a:extLst>
                  <a:ext uri="{FF2B5EF4-FFF2-40B4-BE49-F238E27FC236}">
                    <a16:creationId xmlns:a16="http://schemas.microsoft.com/office/drawing/2014/main" id="{4EC019FC-EAB5-80FD-C07D-2D83542BC9CB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06" name="Rechteck: abgerundete Ecken 105">
                  <a:extLst>
                    <a:ext uri="{FF2B5EF4-FFF2-40B4-BE49-F238E27FC236}">
                      <a16:creationId xmlns:a16="http://schemas.microsoft.com/office/drawing/2014/main" id="{41383F9C-3FEB-D2F4-0F88-4F311D36F84D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7" name="Rechteck: abgerundete Ecken 106">
                  <a:extLst>
                    <a:ext uri="{FF2B5EF4-FFF2-40B4-BE49-F238E27FC236}">
                      <a16:creationId xmlns:a16="http://schemas.microsoft.com/office/drawing/2014/main" id="{87D048B1-20EB-8AAB-406B-E685978DEC5F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8" name="Rechteck: abgerundete Ecken 107">
                  <a:extLst>
                    <a:ext uri="{FF2B5EF4-FFF2-40B4-BE49-F238E27FC236}">
                      <a16:creationId xmlns:a16="http://schemas.microsoft.com/office/drawing/2014/main" id="{E131D781-2871-510F-0140-2B85898DA030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9" name="Rechteck: abgerundete Ecken 108">
                  <a:extLst>
                    <a:ext uri="{FF2B5EF4-FFF2-40B4-BE49-F238E27FC236}">
                      <a16:creationId xmlns:a16="http://schemas.microsoft.com/office/drawing/2014/main" id="{D89A2E06-7EAC-5426-E12C-BE974F4F00E6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0" name="Rechteck: abgerundete Ecken 109">
                  <a:extLst>
                    <a:ext uri="{FF2B5EF4-FFF2-40B4-BE49-F238E27FC236}">
                      <a16:creationId xmlns:a16="http://schemas.microsoft.com/office/drawing/2014/main" id="{88C6B7FD-3E17-BF57-EEBF-29F23C18A6E2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1" name="Rechteck: abgerundete Ecken 110">
                  <a:extLst>
                    <a:ext uri="{FF2B5EF4-FFF2-40B4-BE49-F238E27FC236}">
                      <a16:creationId xmlns:a16="http://schemas.microsoft.com/office/drawing/2014/main" id="{8E65153F-C1AD-E874-B848-90A384C9BD4D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05" name="Rechteck 104">
                <a:extLst>
                  <a:ext uri="{FF2B5EF4-FFF2-40B4-BE49-F238E27FC236}">
                    <a16:creationId xmlns:a16="http://schemas.microsoft.com/office/drawing/2014/main" id="{95921359-F49D-C0AC-F79E-93814BA2FF11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03" name="Grafik 102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A6A545B8-C897-C5F1-A2BD-E680CAEF8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8500F63E-37C6-FECB-A611-C86A628109CB}"/>
              </a:ext>
            </a:extLst>
          </p:cNvPr>
          <p:cNvGrpSpPr>
            <a:grpSpLocks noChangeAspect="1"/>
          </p:cNvGrpSpPr>
          <p:nvPr/>
        </p:nvGrpSpPr>
        <p:grpSpPr>
          <a:xfrm>
            <a:off x="7189754" y="1765943"/>
            <a:ext cx="736862" cy="241706"/>
            <a:chOff x="8023724" y="4482298"/>
            <a:chExt cx="2277000" cy="746902"/>
          </a:xfrm>
        </p:grpSpPr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2EC7E9D1-7A0E-451C-27D7-9FF352F4EE27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21" name="Gruppieren 120">
                <a:extLst>
                  <a:ext uri="{FF2B5EF4-FFF2-40B4-BE49-F238E27FC236}">
                    <a16:creationId xmlns:a16="http://schemas.microsoft.com/office/drawing/2014/main" id="{AF013834-932F-B877-49C7-00B3D4ED2A13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23" name="Rechteck: abgerundete Ecken 122">
                  <a:extLst>
                    <a:ext uri="{FF2B5EF4-FFF2-40B4-BE49-F238E27FC236}">
                      <a16:creationId xmlns:a16="http://schemas.microsoft.com/office/drawing/2014/main" id="{BE7A0C92-708A-F619-6352-D3295D7BEA2E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" name="Rechteck: abgerundete Ecken 123">
                  <a:extLst>
                    <a:ext uri="{FF2B5EF4-FFF2-40B4-BE49-F238E27FC236}">
                      <a16:creationId xmlns:a16="http://schemas.microsoft.com/office/drawing/2014/main" id="{6F10BF34-44AB-3FDB-82F0-9449533AE8DE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5" name="Rechteck: abgerundete Ecken 124">
                  <a:extLst>
                    <a:ext uri="{FF2B5EF4-FFF2-40B4-BE49-F238E27FC236}">
                      <a16:creationId xmlns:a16="http://schemas.microsoft.com/office/drawing/2014/main" id="{805F9657-BA2E-6F34-3C4C-95DA8696BC84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6" name="Rechteck: abgerundete Ecken 125">
                  <a:extLst>
                    <a:ext uri="{FF2B5EF4-FFF2-40B4-BE49-F238E27FC236}">
                      <a16:creationId xmlns:a16="http://schemas.microsoft.com/office/drawing/2014/main" id="{A479C85C-AF8C-DD69-E1D8-FF30ACAFA539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7" name="Rechteck: abgerundete Ecken 126">
                  <a:extLst>
                    <a:ext uri="{FF2B5EF4-FFF2-40B4-BE49-F238E27FC236}">
                      <a16:creationId xmlns:a16="http://schemas.microsoft.com/office/drawing/2014/main" id="{F58EF2FA-A7CF-0466-D109-6FE4AA09DB9A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8" name="Rechteck: abgerundete Ecken 127">
                  <a:extLst>
                    <a:ext uri="{FF2B5EF4-FFF2-40B4-BE49-F238E27FC236}">
                      <a16:creationId xmlns:a16="http://schemas.microsoft.com/office/drawing/2014/main" id="{3D699301-24E4-6C8C-30B8-19A4EC305CBA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5B4B5A45-E7A8-C419-7B66-F3FC85B310BC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15" name="Grafik 114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20C9AC45-E77B-81C0-9682-09C5BAC72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040C7F21-8564-6E24-F9C9-1B1E3374F753}"/>
              </a:ext>
            </a:extLst>
          </p:cNvPr>
          <p:cNvGrpSpPr>
            <a:grpSpLocks noChangeAspect="1"/>
          </p:cNvGrpSpPr>
          <p:nvPr/>
        </p:nvGrpSpPr>
        <p:grpSpPr>
          <a:xfrm>
            <a:off x="4908517" y="1766386"/>
            <a:ext cx="736862" cy="241706"/>
            <a:chOff x="8023724" y="4482298"/>
            <a:chExt cx="2277000" cy="746902"/>
          </a:xfrm>
        </p:grpSpPr>
        <p:grpSp>
          <p:nvGrpSpPr>
            <p:cNvPr id="130" name="Gruppieren 129">
              <a:extLst>
                <a:ext uri="{FF2B5EF4-FFF2-40B4-BE49-F238E27FC236}">
                  <a16:creationId xmlns:a16="http://schemas.microsoft.com/office/drawing/2014/main" id="{39611EC2-ACE7-01AE-BCC1-6815D0A09FDA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32" name="Gruppieren 131">
                <a:extLst>
                  <a:ext uri="{FF2B5EF4-FFF2-40B4-BE49-F238E27FC236}">
                    <a16:creationId xmlns:a16="http://schemas.microsoft.com/office/drawing/2014/main" id="{8EEAD087-EB92-075D-691E-83B214A5AAB9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34" name="Rechteck: abgerundete Ecken 133">
                  <a:extLst>
                    <a:ext uri="{FF2B5EF4-FFF2-40B4-BE49-F238E27FC236}">
                      <a16:creationId xmlns:a16="http://schemas.microsoft.com/office/drawing/2014/main" id="{CC10725C-DF0C-222E-184A-9C3F683352D6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5" name="Rechteck: abgerundete Ecken 134">
                  <a:extLst>
                    <a:ext uri="{FF2B5EF4-FFF2-40B4-BE49-F238E27FC236}">
                      <a16:creationId xmlns:a16="http://schemas.microsoft.com/office/drawing/2014/main" id="{620F88ED-9312-205D-CD17-9E6CD31D100E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6" name="Rechteck: abgerundete Ecken 135">
                  <a:extLst>
                    <a:ext uri="{FF2B5EF4-FFF2-40B4-BE49-F238E27FC236}">
                      <a16:creationId xmlns:a16="http://schemas.microsoft.com/office/drawing/2014/main" id="{F6CDF5C4-D1E4-FA77-4765-2B7760A61D12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7" name="Rechteck: abgerundete Ecken 136">
                  <a:extLst>
                    <a:ext uri="{FF2B5EF4-FFF2-40B4-BE49-F238E27FC236}">
                      <a16:creationId xmlns:a16="http://schemas.microsoft.com/office/drawing/2014/main" id="{4E035DC3-D493-E92D-2D37-8BC115431147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8" name="Rechteck: abgerundete Ecken 137">
                  <a:extLst>
                    <a:ext uri="{FF2B5EF4-FFF2-40B4-BE49-F238E27FC236}">
                      <a16:creationId xmlns:a16="http://schemas.microsoft.com/office/drawing/2014/main" id="{619E2BFC-8CAE-B8C3-7BDC-4A56DECEAD0F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9" name="Rechteck: abgerundete Ecken 138">
                  <a:extLst>
                    <a:ext uri="{FF2B5EF4-FFF2-40B4-BE49-F238E27FC236}">
                      <a16:creationId xmlns:a16="http://schemas.microsoft.com/office/drawing/2014/main" id="{47A1BCE0-1822-8D60-541A-9706804340B5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5089CE1A-ACAE-4120-81CD-BA6AC9B7DAFF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31" name="Grafik 130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C7F86F48-FACF-020B-5BA2-2E31C1A12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9F6A1CFE-D0F9-8821-7D96-A3188D5DB36C}"/>
              </a:ext>
            </a:extLst>
          </p:cNvPr>
          <p:cNvCxnSpPr>
            <a:cxnSpLocks/>
          </p:cNvCxnSpPr>
          <p:nvPr/>
        </p:nvCxnSpPr>
        <p:spPr bwMode="gray">
          <a:xfrm flipV="1">
            <a:off x="6984813" y="2664053"/>
            <a:ext cx="0" cy="35119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0236FA0-4259-2A9C-9284-29CF5F4713E6}"/>
              </a:ext>
            </a:extLst>
          </p:cNvPr>
          <p:cNvCxnSpPr>
            <a:cxnSpLocks/>
          </p:cNvCxnSpPr>
          <p:nvPr/>
        </p:nvCxnSpPr>
        <p:spPr bwMode="gray">
          <a:xfrm flipV="1">
            <a:off x="4310345" y="2645003"/>
            <a:ext cx="0" cy="37024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966B838D-DB7C-D633-721C-FD5A214683BF}"/>
              </a:ext>
            </a:extLst>
          </p:cNvPr>
          <p:cNvCxnSpPr>
            <a:cxnSpLocks/>
          </p:cNvCxnSpPr>
          <p:nvPr/>
        </p:nvCxnSpPr>
        <p:spPr bwMode="gray">
          <a:xfrm flipV="1">
            <a:off x="5822153" y="2668816"/>
            <a:ext cx="0" cy="3464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34D9B161-B44E-A75D-1F8F-2B7F67F3C06E}"/>
              </a:ext>
            </a:extLst>
          </p:cNvPr>
          <p:cNvCxnSpPr>
            <a:cxnSpLocks/>
          </p:cNvCxnSpPr>
          <p:nvPr/>
        </p:nvCxnSpPr>
        <p:spPr bwMode="gray">
          <a:xfrm flipV="1">
            <a:off x="7328035" y="2387827"/>
            <a:ext cx="0" cy="2881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FBE603A9-CE2D-A871-0233-E588BDC57983}"/>
              </a:ext>
            </a:extLst>
          </p:cNvPr>
          <p:cNvCxnSpPr>
            <a:cxnSpLocks/>
          </p:cNvCxnSpPr>
          <p:nvPr/>
        </p:nvCxnSpPr>
        <p:spPr bwMode="gray">
          <a:xfrm flipV="1">
            <a:off x="5063868" y="2402686"/>
            <a:ext cx="0" cy="27089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8EB17F84-6306-6420-D5E1-E7BAA4CF8753}"/>
              </a:ext>
            </a:extLst>
          </p:cNvPr>
          <p:cNvCxnSpPr>
            <a:cxnSpLocks/>
          </p:cNvCxnSpPr>
          <p:nvPr/>
        </p:nvCxnSpPr>
        <p:spPr bwMode="gray">
          <a:xfrm>
            <a:off x="4296568" y="2659291"/>
            <a:ext cx="3043237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7F7185FE-7EB9-3190-AE42-7E832617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 Statement</a:t>
            </a:r>
            <a:br>
              <a:rPr lang="de-DE" dirty="0"/>
            </a:br>
            <a:r>
              <a:rPr lang="de-DE" sz="2800" dirty="0" err="1">
                <a:solidFill>
                  <a:schemeClr val="bg2"/>
                </a:solidFill>
              </a:rPr>
              <a:t>Proposed</a:t>
            </a:r>
            <a:r>
              <a:rPr lang="de-DE" sz="2800" dirty="0">
                <a:solidFill>
                  <a:schemeClr val="bg2"/>
                </a:solidFill>
              </a:rPr>
              <a:t> Blockchain Solution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275CD-61E4-28A5-8837-DCD0E67C471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>
            <a:normAutofit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ABABA-7396-D9A8-D222-A3ED1FA297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281737" cy="584200"/>
          </a:xfrm>
        </p:spPr>
        <p:txBody>
          <a:bodyPr>
            <a:normAutofit/>
          </a:bodyPr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B94DA-B23D-0C83-322B-83C057FD54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/>
          </a:bodyPr>
          <a:lstStyle/>
          <a:p>
            <a:fld id="{776FC98F-84AD-404B-BCCB-49E092AA6DE0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16" name="Textplatzhalter 76">
            <a:extLst>
              <a:ext uri="{FF2B5EF4-FFF2-40B4-BE49-F238E27FC236}">
                <a16:creationId xmlns:a16="http://schemas.microsoft.com/office/drawing/2014/main" id="{ABD1E0B7-193B-9FE7-B478-455FEFBA1230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549013" y="3015599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5" name="Textplatzhalter 76">
            <a:extLst>
              <a:ext uri="{FF2B5EF4-FFF2-40B4-BE49-F238E27FC236}">
                <a16:creationId xmlns:a16="http://schemas.microsoft.com/office/drawing/2014/main" id="{8857039D-3BE3-86A0-EF6F-46CF1AC9F23C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6715413" y="3015599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6" name="Textplatzhalter 76">
            <a:extLst>
              <a:ext uri="{FF2B5EF4-FFF2-40B4-BE49-F238E27FC236}">
                <a16:creationId xmlns:a16="http://schemas.microsoft.com/office/drawing/2014/main" id="{FB9A88F5-90C0-0BAD-65C7-A73F72A7E9D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4793013" y="1863599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1" name="Textplatzhalter 76">
            <a:extLst>
              <a:ext uri="{FF2B5EF4-FFF2-40B4-BE49-F238E27FC236}">
                <a16:creationId xmlns:a16="http://schemas.microsoft.com/office/drawing/2014/main" id="{9FCDF486-78B3-C38B-6E55-5AD1313C8EAB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4037013" y="3015599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2" name="Textplatzhalter 76">
            <a:extLst>
              <a:ext uri="{FF2B5EF4-FFF2-40B4-BE49-F238E27FC236}">
                <a16:creationId xmlns:a16="http://schemas.microsoft.com/office/drawing/2014/main" id="{D0295B94-0058-A2A6-59DB-239D61285CC3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061013" y="1863599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33" name="Grafik 32" descr="Glühbirne und Zahnrad Silhouette">
            <a:extLst>
              <a:ext uri="{FF2B5EF4-FFF2-40B4-BE49-F238E27FC236}">
                <a16:creationId xmlns:a16="http://schemas.microsoft.com/office/drawing/2014/main" id="{93CADE66-1CB5-9CEE-3CA0-769344AC689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9131" y="3063262"/>
            <a:ext cx="438150" cy="438150"/>
          </a:xfrm>
          <a:prstGeom prst="rect">
            <a:avLst/>
          </a:prstGeom>
        </p:spPr>
      </p:pic>
      <p:pic>
        <p:nvPicPr>
          <p:cNvPr id="34" name="Grafik 33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05739DD2-5CE6-DE8E-DE20-3B60F663F7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4848600" y="1988373"/>
            <a:ext cx="438560" cy="274752"/>
          </a:xfrm>
          <a:prstGeom prst="rect">
            <a:avLst/>
          </a:prstGeom>
        </p:spPr>
      </p:pic>
      <p:pic>
        <p:nvPicPr>
          <p:cNvPr id="35" name="Grafik 34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6E993B13-5AE0-3A33-A9A8-20888FA39D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84298" y="1887159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rafik 35" descr="Glühbirne und Zahnrad Silhouette">
            <a:extLst>
              <a:ext uri="{FF2B5EF4-FFF2-40B4-BE49-F238E27FC236}">
                <a16:creationId xmlns:a16="http://schemas.microsoft.com/office/drawing/2014/main" id="{5055DE2D-9270-E898-2F16-E98E4ECAD41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7258" y="3064055"/>
            <a:ext cx="438150" cy="438150"/>
          </a:xfrm>
          <a:prstGeom prst="rect">
            <a:avLst/>
          </a:prstGeom>
        </p:spPr>
      </p:pic>
      <p:pic>
        <p:nvPicPr>
          <p:cNvPr id="37" name="Grafik 36" descr="Glühbirne und Zahnrad Silhouette">
            <a:extLst>
              <a:ext uri="{FF2B5EF4-FFF2-40B4-BE49-F238E27FC236}">
                <a16:creationId xmlns:a16="http://schemas.microsoft.com/office/drawing/2014/main" id="{75AA200A-30F1-70E6-9790-8087082E0AF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0895" y="3064055"/>
            <a:ext cx="438150" cy="438150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E805277E-484F-CBA0-2CB3-A23A62BE6A37}"/>
              </a:ext>
            </a:extLst>
          </p:cNvPr>
          <p:cNvSpPr txBox="1"/>
          <p:nvPr/>
        </p:nvSpPr>
        <p:spPr bwMode="gray">
          <a:xfrm>
            <a:off x="7358098" y="3121208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Sensors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0BCE04C-3978-29CD-4047-128D3B78E56A}"/>
              </a:ext>
            </a:extLst>
          </p:cNvPr>
          <p:cNvSpPr txBox="1"/>
          <p:nvPr/>
        </p:nvSpPr>
        <p:spPr bwMode="gray">
          <a:xfrm>
            <a:off x="4043963" y="1965508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86F64EC-DF07-CE52-8D38-5122BD4EDBB2}"/>
              </a:ext>
            </a:extLst>
          </p:cNvPr>
          <p:cNvSpPr txBox="1"/>
          <p:nvPr/>
        </p:nvSpPr>
        <p:spPr bwMode="gray">
          <a:xfrm>
            <a:off x="6323613" y="1964399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</a:p>
        </p:txBody>
      </p:sp>
      <p:pic>
        <p:nvPicPr>
          <p:cNvPr id="57" name="Grafik 5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5141ADE1-6829-DF68-4E8D-DD8377C753D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3410" y="2277873"/>
            <a:ext cx="648072" cy="648072"/>
          </a:xfrm>
          <a:prstGeom prst="rect">
            <a:avLst/>
          </a:prstGeom>
        </p:spPr>
      </p:pic>
      <p:sp>
        <p:nvSpPr>
          <p:cNvPr id="64" name="Textfeld 63">
            <a:extLst>
              <a:ext uri="{FF2B5EF4-FFF2-40B4-BE49-F238E27FC236}">
                <a16:creationId xmlns:a16="http://schemas.microsoft.com/office/drawing/2014/main" id="{C3FA48A3-7CD2-3C56-5539-3BF15743F481}"/>
              </a:ext>
            </a:extLst>
          </p:cNvPr>
          <p:cNvSpPr txBox="1"/>
          <p:nvPr/>
        </p:nvSpPr>
        <p:spPr bwMode="gray">
          <a:xfrm>
            <a:off x="443410" y="1593435"/>
            <a:ext cx="2052120" cy="7028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Process</a:t>
            </a:r>
            <a:r>
              <a:rPr lang="de-DE" b="1" dirty="0"/>
              <a:t> Module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9B483C0-8E75-B707-5334-F25D15E4DFDC}"/>
              </a:ext>
            </a:extLst>
          </p:cNvPr>
          <p:cNvSpPr txBox="1"/>
          <p:nvPr/>
        </p:nvSpPr>
        <p:spPr bwMode="gray">
          <a:xfrm>
            <a:off x="371475" y="543602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No</a:t>
            </a:r>
            <a:r>
              <a:rPr lang="de-DE" b="1" dirty="0"/>
              <a:t> </a:t>
            </a:r>
            <a:r>
              <a:rPr lang="de-DE" b="1" dirty="0" err="1"/>
              <a:t>centralized</a:t>
            </a:r>
            <a:r>
              <a:rPr lang="de-DE" b="1" dirty="0"/>
              <a:t> root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trust</a:t>
            </a:r>
            <a:r>
              <a:rPr lang="de-DE" b="1" dirty="0"/>
              <a:t> (outside </a:t>
            </a:r>
            <a:r>
              <a:rPr lang="de-DE" b="1" dirty="0" err="1"/>
              <a:t>of</a:t>
            </a:r>
            <a:r>
              <a:rPr lang="de-DE" b="1" dirty="0"/>
              <a:t> a </a:t>
            </a:r>
            <a:r>
              <a:rPr lang="de-DE" b="1" dirty="0" err="1"/>
              <a:t>secured</a:t>
            </a:r>
            <a:r>
              <a:rPr lang="de-DE" b="1" dirty="0"/>
              <a:t> </a:t>
            </a:r>
            <a:r>
              <a:rPr lang="de-DE" b="1" dirty="0" err="1"/>
              <a:t>environment</a:t>
            </a:r>
            <a:r>
              <a:rPr lang="de-DE" b="1" dirty="0"/>
              <a:t>)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41E416F-2338-A639-9497-46E7E4F16D2A}"/>
              </a:ext>
            </a:extLst>
          </p:cNvPr>
          <p:cNvGrpSpPr/>
          <p:nvPr/>
        </p:nvGrpSpPr>
        <p:grpSpPr>
          <a:xfrm>
            <a:off x="378587" y="5467010"/>
            <a:ext cx="342000" cy="342000"/>
            <a:chOff x="7320136" y="4043360"/>
            <a:chExt cx="432000" cy="432000"/>
          </a:xfrm>
        </p:grpSpPr>
        <p:sp>
          <p:nvSpPr>
            <p:cNvPr id="13" name="Textplatzhalter 76">
              <a:extLst>
                <a:ext uri="{FF2B5EF4-FFF2-40B4-BE49-F238E27FC236}">
                  <a16:creationId xmlns:a16="http://schemas.microsoft.com/office/drawing/2014/main" id="{6A979FD8-1055-40D4-9EBE-8D721712F71B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B8E78B11-FB2C-F8E8-B720-683B1A21BFF4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/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24F02E6B-D53F-0C6C-A28A-88E990A7C1B5}"/>
              </a:ext>
            </a:extLst>
          </p:cNvPr>
          <p:cNvSpPr txBox="1"/>
          <p:nvPr/>
        </p:nvSpPr>
        <p:spPr bwMode="gray">
          <a:xfrm>
            <a:off x="371475" y="4367497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Self-</a:t>
            </a:r>
            <a:r>
              <a:rPr lang="de-DE" b="1" dirty="0" err="1"/>
              <a:t>sufficient</a:t>
            </a:r>
            <a:endParaRPr lang="de-DE" b="1" dirty="0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45B0D72-F680-4B12-3F2D-725F0602DC73}"/>
              </a:ext>
            </a:extLst>
          </p:cNvPr>
          <p:cNvGrpSpPr/>
          <p:nvPr/>
        </p:nvGrpSpPr>
        <p:grpSpPr>
          <a:xfrm>
            <a:off x="378587" y="4398482"/>
            <a:ext cx="342000" cy="342000"/>
            <a:chOff x="7320136" y="4043360"/>
            <a:chExt cx="432000" cy="432000"/>
          </a:xfrm>
        </p:grpSpPr>
        <p:sp>
          <p:nvSpPr>
            <p:cNvPr id="23" name="Textplatzhalter 76">
              <a:extLst>
                <a:ext uri="{FF2B5EF4-FFF2-40B4-BE49-F238E27FC236}">
                  <a16:creationId xmlns:a16="http://schemas.microsoft.com/office/drawing/2014/main" id="{29EDC2B6-7810-71F7-1A50-3AC7B98E8C11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6A6CC248-15C2-63EC-0D11-2C0863F52AAC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/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800DC457-561F-07A4-4ED6-AA0757E49CC8}"/>
              </a:ext>
            </a:extLst>
          </p:cNvPr>
          <p:cNvSpPr txBox="1"/>
          <p:nvPr/>
        </p:nvSpPr>
        <p:spPr bwMode="gray">
          <a:xfrm>
            <a:off x="358095" y="3626529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de-DE" b="1" dirty="0"/>
              <a:t>Goals </a:t>
            </a:r>
            <a:r>
              <a:rPr lang="de-DE" b="1" dirty="0" err="1"/>
              <a:t>for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modules</a:t>
            </a:r>
            <a:r>
              <a:rPr lang="de-DE" b="1" dirty="0"/>
              <a:t> </a:t>
            </a:r>
            <a:r>
              <a:rPr lang="de-DE" b="1" dirty="0" err="1"/>
              <a:t>certificate</a:t>
            </a:r>
            <a:r>
              <a:rPr lang="de-DE" b="1" dirty="0"/>
              <a:t> </a:t>
            </a:r>
            <a:r>
              <a:rPr lang="de-DE" b="1" dirty="0" err="1"/>
              <a:t>management</a:t>
            </a:r>
            <a:r>
              <a:rPr lang="de-DE" b="1" dirty="0"/>
              <a:t>: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F21114E-E21A-0F34-87F5-0106D4775274}"/>
              </a:ext>
            </a:extLst>
          </p:cNvPr>
          <p:cNvSpPr txBox="1"/>
          <p:nvPr/>
        </p:nvSpPr>
        <p:spPr bwMode="gray">
          <a:xfrm>
            <a:off x="371475" y="4723673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Automated</a:t>
            </a:r>
            <a:r>
              <a:rPr lang="de-DE" b="1" dirty="0"/>
              <a:t> 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F9F89AC3-C4CE-7F20-8C02-4E09D37C9172}"/>
              </a:ext>
            </a:extLst>
          </p:cNvPr>
          <p:cNvGrpSpPr/>
          <p:nvPr/>
        </p:nvGrpSpPr>
        <p:grpSpPr>
          <a:xfrm>
            <a:off x="378587" y="4754658"/>
            <a:ext cx="342000" cy="342000"/>
            <a:chOff x="7320136" y="4043360"/>
            <a:chExt cx="432000" cy="432000"/>
          </a:xfrm>
        </p:grpSpPr>
        <p:sp>
          <p:nvSpPr>
            <p:cNvPr id="45" name="Textplatzhalter 76">
              <a:extLst>
                <a:ext uri="{FF2B5EF4-FFF2-40B4-BE49-F238E27FC236}">
                  <a16:creationId xmlns:a16="http://schemas.microsoft.com/office/drawing/2014/main" id="{3DF73E1D-CBA8-B741-5E33-D92560DD538D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4EEA549D-C871-22A3-5BAC-7AA87CEC2E01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/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feld 46">
            <a:extLst>
              <a:ext uri="{FF2B5EF4-FFF2-40B4-BE49-F238E27FC236}">
                <a16:creationId xmlns:a16="http://schemas.microsoft.com/office/drawing/2014/main" id="{3F3B792D-EA08-123E-E634-EAE0971F7CC0}"/>
              </a:ext>
            </a:extLst>
          </p:cNvPr>
          <p:cNvSpPr txBox="1"/>
          <p:nvPr/>
        </p:nvSpPr>
        <p:spPr bwMode="gray">
          <a:xfrm>
            <a:off x="371475" y="5079849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Resource-efficient</a:t>
            </a:r>
            <a:r>
              <a:rPr lang="de-DE" b="1" dirty="0"/>
              <a:t> </a:t>
            </a: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5096A39C-19A4-4952-F5E8-414217A7B950}"/>
              </a:ext>
            </a:extLst>
          </p:cNvPr>
          <p:cNvGrpSpPr/>
          <p:nvPr/>
        </p:nvGrpSpPr>
        <p:grpSpPr>
          <a:xfrm>
            <a:off x="378587" y="5110834"/>
            <a:ext cx="342000" cy="342000"/>
            <a:chOff x="7320136" y="4043360"/>
            <a:chExt cx="432000" cy="432000"/>
          </a:xfrm>
        </p:grpSpPr>
        <p:sp>
          <p:nvSpPr>
            <p:cNvPr id="49" name="Textplatzhalter 76">
              <a:extLst>
                <a:ext uri="{FF2B5EF4-FFF2-40B4-BE49-F238E27FC236}">
                  <a16:creationId xmlns:a16="http://schemas.microsoft.com/office/drawing/2014/main" id="{E3F0E4CE-1785-489E-03AE-C52EC2F6F2F9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892F157B-7C37-24D8-24AD-37B66005D68D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tx2"/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Textfeld 139">
            <a:extLst>
              <a:ext uri="{FF2B5EF4-FFF2-40B4-BE49-F238E27FC236}">
                <a16:creationId xmlns:a16="http://schemas.microsoft.com/office/drawing/2014/main" id="{0C066856-F910-3021-933F-99E44ABF250A}"/>
              </a:ext>
            </a:extLst>
          </p:cNvPr>
          <p:cNvSpPr txBox="1"/>
          <p:nvPr/>
        </p:nvSpPr>
        <p:spPr bwMode="gray">
          <a:xfrm>
            <a:off x="371475" y="4011321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Compatible</a:t>
            </a:r>
            <a:r>
              <a:rPr lang="de-DE" b="1" dirty="0"/>
              <a:t> </a:t>
            </a:r>
            <a:r>
              <a:rPr lang="de-DE" b="1" dirty="0" err="1"/>
              <a:t>with</a:t>
            </a:r>
            <a:r>
              <a:rPr lang="de-DE" b="1" dirty="0"/>
              <a:t> PKI </a:t>
            </a:r>
            <a:r>
              <a:rPr lang="de-DE" b="1" dirty="0" err="1"/>
              <a:t>standards</a:t>
            </a:r>
            <a:endParaRPr lang="de-DE" b="1" dirty="0"/>
          </a:p>
        </p:txBody>
      </p:sp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A1E8179B-C469-F34A-A7A1-2A2C6FDBD587}"/>
              </a:ext>
            </a:extLst>
          </p:cNvPr>
          <p:cNvGrpSpPr/>
          <p:nvPr/>
        </p:nvGrpSpPr>
        <p:grpSpPr>
          <a:xfrm>
            <a:off x="378587" y="4042306"/>
            <a:ext cx="342000" cy="342000"/>
            <a:chOff x="7320136" y="4043360"/>
            <a:chExt cx="432000" cy="432000"/>
          </a:xfrm>
        </p:grpSpPr>
        <p:sp>
          <p:nvSpPr>
            <p:cNvPr id="142" name="Textplatzhalter 76">
              <a:extLst>
                <a:ext uri="{FF2B5EF4-FFF2-40B4-BE49-F238E27FC236}">
                  <a16:creationId xmlns:a16="http://schemas.microsoft.com/office/drawing/2014/main" id="{0D163954-039F-51B1-FDB7-89062BB61813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84D5D065-9F42-33BA-A4C7-0E53415BDF30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tx2"/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299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7" grpId="0"/>
      <p:bldP spid="38" grpId="0"/>
      <p:bldP spid="47" grpId="0"/>
      <p:bldP spid="1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0EC4-AE0D-BFD1-F13E-4835126EC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1DC74D-3C73-83FB-353E-AB3E232C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Fundamentals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81343-47FA-6E3D-F890-DB26FA20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2012C-2861-E88D-8E06-5EE6FDF9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EA097-3B5C-920F-D67A-1998D3F7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F854115D-5E5C-1721-F568-254B3FEA1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14179" b="-215"/>
          <a:stretch/>
        </p:blipFill>
        <p:spPr>
          <a:xfrm>
            <a:off x="0" y="1"/>
            <a:ext cx="12191999" cy="382428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E51ADD-5964-B411-86B3-8BADEB1398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Chapter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E88A48-2655-E89B-68D0-49F2BB55BC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849261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41A6DF-8798-07A6-ABB8-DAFA9970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Fundamentals</a:t>
            </a:r>
            <a:br>
              <a:rPr lang="de-DE" dirty="0"/>
            </a:br>
            <a:r>
              <a:rPr lang="de-DE" sz="3600" dirty="0">
                <a:solidFill>
                  <a:schemeClr val="bg2"/>
                </a:solidFill>
              </a:rPr>
              <a:t>Blockchain </a:t>
            </a:r>
            <a:r>
              <a:rPr lang="de-DE" sz="3600" dirty="0" err="1">
                <a:solidFill>
                  <a:schemeClr val="bg2"/>
                </a:solidFill>
              </a:rPr>
              <a:t>Structure</a:t>
            </a:r>
            <a:r>
              <a:rPr lang="de-DE" sz="3600" dirty="0">
                <a:solidFill>
                  <a:schemeClr val="bg2"/>
                </a:solidFill>
              </a:rPr>
              <a:t> 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EA8FEE-117A-E4FB-3A50-58FD4AC502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3E1860-A350-404E-BF89-23A268CA0970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F0D178-BC7C-8E4B-9525-7ECF345F6A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441394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95B79A-B0BD-00D8-FC7E-C4766A6435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F0DAF14-7B2A-CAC1-48A5-BB80EE4FE0AD}"/>
              </a:ext>
            </a:extLst>
          </p:cNvPr>
          <p:cNvSpPr/>
          <p:nvPr/>
        </p:nvSpPr>
        <p:spPr bwMode="gray">
          <a:xfrm>
            <a:off x="371475" y="1592262"/>
            <a:ext cx="3671888" cy="367347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1D89A91-0B61-CF76-94B7-DFAB4588F227}"/>
              </a:ext>
            </a:extLst>
          </p:cNvPr>
          <p:cNvSpPr txBox="1"/>
          <p:nvPr/>
        </p:nvSpPr>
        <p:spPr bwMode="gray">
          <a:xfrm>
            <a:off x="1581600" y="1650600"/>
            <a:ext cx="1244150" cy="360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Block n-1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3D43E77-226E-956B-61D4-D82DB581BAC1}"/>
              </a:ext>
            </a:extLst>
          </p:cNvPr>
          <p:cNvSpPr/>
          <p:nvPr/>
        </p:nvSpPr>
        <p:spPr bwMode="gray">
          <a:xfrm>
            <a:off x="1127713" y="2023753"/>
            <a:ext cx="2160000" cy="1153144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849C13C-E2EE-17CC-D906-2581F9E9810B}"/>
              </a:ext>
            </a:extLst>
          </p:cNvPr>
          <p:cNvSpPr/>
          <p:nvPr/>
        </p:nvSpPr>
        <p:spPr bwMode="gray">
          <a:xfrm>
            <a:off x="1127713" y="3383976"/>
            <a:ext cx="2160000" cy="1665862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61603DE-94BE-9F00-A07A-8295E83080BA}"/>
              </a:ext>
            </a:extLst>
          </p:cNvPr>
          <p:cNvSpPr/>
          <p:nvPr/>
        </p:nvSpPr>
        <p:spPr bwMode="gray">
          <a:xfrm>
            <a:off x="1345252" y="3824288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rgbClr val="002D4C"/>
                </a:solidFill>
              </a:rPr>
              <a:t>Transaction </a:t>
            </a:r>
            <a:r>
              <a:rPr lang="de-DE" sz="1400" dirty="0" err="1">
                <a:solidFill>
                  <a:srgbClr val="002D4C"/>
                </a:solidFill>
              </a:rPr>
              <a:t>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EB43E11-A078-E3B2-E567-4656E12733DF}"/>
              </a:ext>
            </a:extLst>
          </p:cNvPr>
          <p:cNvSpPr/>
          <p:nvPr/>
        </p:nvSpPr>
        <p:spPr bwMode="gray">
          <a:xfrm>
            <a:off x="1343813" y="28162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Metadata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42D4360-9000-0F6E-28FB-C8093ED42662}"/>
              </a:ext>
            </a:extLst>
          </p:cNvPr>
          <p:cNvSpPr/>
          <p:nvPr/>
        </p:nvSpPr>
        <p:spPr bwMode="gray">
          <a:xfrm>
            <a:off x="1343813" y="23843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Previous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hash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61C7626-983F-FD18-AFB9-96CF0A2651D2}"/>
              </a:ext>
            </a:extLst>
          </p:cNvPr>
          <p:cNvSpPr txBox="1"/>
          <p:nvPr/>
        </p:nvSpPr>
        <p:spPr bwMode="gray">
          <a:xfrm>
            <a:off x="1703411" y="2021723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Header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0694DC0-7A52-1BFB-CB49-54953ED990B8}"/>
              </a:ext>
            </a:extLst>
          </p:cNvPr>
          <p:cNvSpPr txBox="1"/>
          <p:nvPr/>
        </p:nvSpPr>
        <p:spPr bwMode="gray">
          <a:xfrm>
            <a:off x="1673897" y="3381362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Content</a:t>
            </a:r>
          </a:p>
        </p:txBody>
      </p:sp>
      <p:pic>
        <p:nvPicPr>
          <p:cNvPr id="56" name="Grafik 5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8C503832-D7FA-0467-F65F-6F4DF9C624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55200" y="4181400"/>
            <a:ext cx="684000" cy="684000"/>
          </a:xfrm>
          <a:prstGeom prst="rect">
            <a:avLst/>
          </a:prstGeom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2D00333A-D425-FF13-2BD2-7A10ABAC7C49}"/>
              </a:ext>
            </a:extLst>
          </p:cNvPr>
          <p:cNvSpPr txBox="1">
            <a:spLocks/>
          </p:cNvSpPr>
          <p:nvPr/>
        </p:nvSpPr>
        <p:spPr>
          <a:xfrm>
            <a:off x="371475" y="5868988"/>
            <a:ext cx="8163272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[5] Nakamoto (2008). Bitcoin: A peer-to-peer electronic cash system</a:t>
            </a:r>
            <a:endParaRPr lang="de-DE" sz="1100" dirty="0">
              <a:solidFill>
                <a:srgbClr val="002D4C"/>
              </a:solidFill>
              <a:latin typeface="Arial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62566B94-69B5-406D-430A-B36674F6DEA1}"/>
              </a:ext>
            </a:extLst>
          </p:cNvPr>
          <p:cNvSpPr/>
          <p:nvPr/>
        </p:nvSpPr>
        <p:spPr bwMode="gray">
          <a:xfrm>
            <a:off x="4259263" y="1592263"/>
            <a:ext cx="3673475" cy="367347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333496AB-5904-A8AC-FE3A-8C9C4E9ED28E}"/>
              </a:ext>
            </a:extLst>
          </p:cNvPr>
          <p:cNvSpPr txBox="1"/>
          <p:nvPr/>
        </p:nvSpPr>
        <p:spPr bwMode="gray">
          <a:xfrm>
            <a:off x="5465870" y="1664271"/>
            <a:ext cx="1244150" cy="360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Block n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870F8F9C-BB91-68D4-695D-9D49111ACBCE}"/>
              </a:ext>
            </a:extLst>
          </p:cNvPr>
          <p:cNvSpPr/>
          <p:nvPr/>
        </p:nvSpPr>
        <p:spPr bwMode="gray">
          <a:xfrm>
            <a:off x="5001600" y="2023753"/>
            <a:ext cx="2160000" cy="1153144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4D9375A5-4A5C-B846-34DF-832C06D493C4}"/>
              </a:ext>
            </a:extLst>
          </p:cNvPr>
          <p:cNvSpPr/>
          <p:nvPr/>
        </p:nvSpPr>
        <p:spPr bwMode="gray">
          <a:xfrm>
            <a:off x="5001600" y="3383976"/>
            <a:ext cx="2160000" cy="1665862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02A4B558-506A-06B0-BB9B-625500DFE71D}"/>
              </a:ext>
            </a:extLst>
          </p:cNvPr>
          <p:cNvSpPr/>
          <p:nvPr/>
        </p:nvSpPr>
        <p:spPr bwMode="gray">
          <a:xfrm>
            <a:off x="5206800" y="3824288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rgbClr val="002D4C"/>
                </a:solidFill>
              </a:rPr>
              <a:t>Transaction </a:t>
            </a:r>
            <a:r>
              <a:rPr lang="de-DE" sz="1400" dirty="0" err="1">
                <a:solidFill>
                  <a:srgbClr val="002D4C"/>
                </a:solidFill>
              </a:rPr>
              <a:t>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F2BD40E9-6BF3-B0B5-9467-48CF4DB29653}"/>
              </a:ext>
            </a:extLst>
          </p:cNvPr>
          <p:cNvSpPr/>
          <p:nvPr/>
        </p:nvSpPr>
        <p:spPr bwMode="gray">
          <a:xfrm>
            <a:off x="5206800" y="28162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Metadata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7017DBE0-07E2-4DCF-0B2C-E0003274D980}"/>
              </a:ext>
            </a:extLst>
          </p:cNvPr>
          <p:cNvSpPr/>
          <p:nvPr/>
        </p:nvSpPr>
        <p:spPr bwMode="gray">
          <a:xfrm>
            <a:off x="5206800" y="23843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Previous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hash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306C44C1-3445-9652-42C1-0B35062C9832}"/>
              </a:ext>
            </a:extLst>
          </p:cNvPr>
          <p:cNvSpPr txBox="1"/>
          <p:nvPr/>
        </p:nvSpPr>
        <p:spPr bwMode="gray">
          <a:xfrm>
            <a:off x="5588487" y="2022283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Header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55D1420C-9864-9A25-4825-455C9917ED5C}"/>
              </a:ext>
            </a:extLst>
          </p:cNvPr>
          <p:cNvSpPr txBox="1"/>
          <p:nvPr/>
        </p:nvSpPr>
        <p:spPr bwMode="gray">
          <a:xfrm>
            <a:off x="5558333" y="3381363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Content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BE603A10-FBFE-89D5-4073-6233FCD2A7E2}"/>
              </a:ext>
            </a:extLst>
          </p:cNvPr>
          <p:cNvCxnSpPr>
            <a:cxnSpLocks/>
          </p:cNvCxnSpPr>
          <p:nvPr/>
        </p:nvCxnSpPr>
        <p:spPr bwMode="gray">
          <a:xfrm>
            <a:off x="4043363" y="1592263"/>
            <a:ext cx="1163437" cy="810737"/>
          </a:xfrm>
          <a:prstGeom prst="line">
            <a:avLst/>
          </a:prstGeom>
          <a:ln w="31750">
            <a:solidFill>
              <a:schemeClr val="tx1"/>
            </a:solidFill>
            <a:prstDash val="dash"/>
            <a:round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2A71F46-E1BA-75F2-AAA4-54B5F00D0160}"/>
              </a:ext>
            </a:extLst>
          </p:cNvPr>
          <p:cNvCxnSpPr>
            <a:cxnSpLocks/>
          </p:cNvCxnSpPr>
          <p:nvPr/>
        </p:nvCxnSpPr>
        <p:spPr bwMode="gray">
          <a:xfrm flipV="1">
            <a:off x="4043363" y="2600325"/>
            <a:ext cx="1163437" cy="2665413"/>
          </a:xfrm>
          <a:prstGeom prst="line">
            <a:avLst/>
          </a:prstGeom>
          <a:ln w="31750">
            <a:solidFill>
              <a:schemeClr val="tx1"/>
            </a:solidFill>
            <a:prstDash val="dash"/>
            <a:round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hteck 99">
            <a:extLst>
              <a:ext uri="{FF2B5EF4-FFF2-40B4-BE49-F238E27FC236}">
                <a16:creationId xmlns:a16="http://schemas.microsoft.com/office/drawing/2014/main" id="{8A2977F2-45B9-72E0-90CE-653FC5C1902A}"/>
              </a:ext>
            </a:extLst>
          </p:cNvPr>
          <p:cNvSpPr/>
          <p:nvPr/>
        </p:nvSpPr>
        <p:spPr bwMode="gray">
          <a:xfrm>
            <a:off x="8148637" y="1592263"/>
            <a:ext cx="3671887" cy="367347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6E3184C6-FEA7-5C67-C03E-F702B7DDEC12}"/>
              </a:ext>
            </a:extLst>
          </p:cNvPr>
          <p:cNvSpPr txBox="1"/>
          <p:nvPr/>
        </p:nvSpPr>
        <p:spPr bwMode="gray">
          <a:xfrm>
            <a:off x="9379200" y="1650600"/>
            <a:ext cx="1244150" cy="360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Block n+1</a:t>
            </a: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99A0119B-C024-4596-40E0-D78ACD9417D1}"/>
              </a:ext>
            </a:extLst>
          </p:cNvPr>
          <p:cNvSpPr/>
          <p:nvPr/>
        </p:nvSpPr>
        <p:spPr bwMode="gray">
          <a:xfrm>
            <a:off x="8904288" y="2023753"/>
            <a:ext cx="2160000" cy="1153144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439083BA-3865-0600-C696-73D6786C46A9}"/>
              </a:ext>
            </a:extLst>
          </p:cNvPr>
          <p:cNvSpPr/>
          <p:nvPr/>
        </p:nvSpPr>
        <p:spPr bwMode="gray">
          <a:xfrm>
            <a:off x="8904288" y="3395669"/>
            <a:ext cx="2160000" cy="1665862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6EF2C633-BD28-AAD3-53C2-D59285D2809F}"/>
              </a:ext>
            </a:extLst>
          </p:cNvPr>
          <p:cNvSpPr/>
          <p:nvPr/>
        </p:nvSpPr>
        <p:spPr bwMode="gray">
          <a:xfrm>
            <a:off x="9111335" y="3826028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rgbClr val="002D4C"/>
                </a:solidFill>
              </a:rPr>
              <a:t>Transaction </a:t>
            </a:r>
            <a:r>
              <a:rPr lang="de-DE" sz="1400" dirty="0" err="1">
                <a:solidFill>
                  <a:srgbClr val="002D4C"/>
                </a:solidFill>
              </a:rPr>
              <a:t>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89FF1920-2F9E-AADD-312B-3D8159B40B18}"/>
              </a:ext>
            </a:extLst>
          </p:cNvPr>
          <p:cNvSpPr/>
          <p:nvPr/>
        </p:nvSpPr>
        <p:spPr bwMode="gray">
          <a:xfrm>
            <a:off x="9120188" y="28162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Metadata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BE055C4E-ED81-2AB4-BA81-02281DCB9734}"/>
              </a:ext>
            </a:extLst>
          </p:cNvPr>
          <p:cNvSpPr/>
          <p:nvPr/>
        </p:nvSpPr>
        <p:spPr bwMode="gray">
          <a:xfrm>
            <a:off x="9120188" y="23843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Previous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hash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139318B4-D669-CA17-65D1-CA85268C582E}"/>
              </a:ext>
            </a:extLst>
          </p:cNvPr>
          <p:cNvSpPr txBox="1"/>
          <p:nvPr/>
        </p:nvSpPr>
        <p:spPr bwMode="gray">
          <a:xfrm>
            <a:off x="9508150" y="2021723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Header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22AC433A-15D0-FDEA-48CC-20CE537C6593}"/>
              </a:ext>
            </a:extLst>
          </p:cNvPr>
          <p:cNvSpPr txBox="1"/>
          <p:nvPr/>
        </p:nvSpPr>
        <p:spPr bwMode="gray">
          <a:xfrm>
            <a:off x="9477996" y="3393055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Content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7B1AA0FC-B763-B492-EA9E-D6411ED93CEC}"/>
              </a:ext>
            </a:extLst>
          </p:cNvPr>
          <p:cNvCxnSpPr>
            <a:cxnSpLocks/>
          </p:cNvCxnSpPr>
          <p:nvPr/>
        </p:nvCxnSpPr>
        <p:spPr bwMode="gray">
          <a:xfrm flipV="1">
            <a:off x="7932738" y="2600325"/>
            <a:ext cx="1187450" cy="2665413"/>
          </a:xfrm>
          <a:prstGeom prst="line">
            <a:avLst/>
          </a:prstGeom>
          <a:ln w="31750">
            <a:solidFill>
              <a:schemeClr val="tx1"/>
            </a:solidFill>
            <a:prstDash val="dash"/>
            <a:round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614F0F2-8DC3-149D-AE8E-A8D8C44E9AD7}"/>
              </a:ext>
            </a:extLst>
          </p:cNvPr>
          <p:cNvCxnSpPr>
            <a:cxnSpLocks/>
          </p:cNvCxnSpPr>
          <p:nvPr/>
        </p:nvCxnSpPr>
        <p:spPr bwMode="gray">
          <a:xfrm>
            <a:off x="7932738" y="1592263"/>
            <a:ext cx="1187450" cy="810737"/>
          </a:xfrm>
          <a:prstGeom prst="line">
            <a:avLst/>
          </a:prstGeom>
          <a:ln w="31750">
            <a:solidFill>
              <a:schemeClr val="tx1"/>
            </a:solidFill>
            <a:prstDash val="dash"/>
            <a:round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fik 120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798E80E8-75A4-3CA7-00B2-29821666AE6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54000" y="4181400"/>
            <a:ext cx="684000" cy="684000"/>
          </a:xfrm>
          <a:prstGeom prst="rect">
            <a:avLst/>
          </a:prstGeom>
        </p:spPr>
      </p:pic>
      <p:pic>
        <p:nvPicPr>
          <p:cNvPr id="122" name="Grafik 12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D2726F69-437E-0F0B-90E1-957BFC24E6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52800" y="4181400"/>
            <a:ext cx="684000" cy="6840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BD988BEB-F068-93C7-60D8-32196B628914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Ensures</a:t>
            </a:r>
            <a:r>
              <a:rPr lang="de-DE" b="1" dirty="0"/>
              <a:t> </a:t>
            </a:r>
            <a:r>
              <a:rPr lang="de-DE" b="1" dirty="0" err="1"/>
              <a:t>consistency</a:t>
            </a:r>
            <a:r>
              <a:rPr lang="de-DE" b="1" dirty="0"/>
              <a:t> </a:t>
            </a:r>
            <a:r>
              <a:rPr lang="de-DE" b="1" dirty="0" err="1"/>
              <a:t>through</a:t>
            </a:r>
            <a:r>
              <a:rPr lang="de-DE" b="1" dirty="0"/>
              <a:t> </a:t>
            </a:r>
            <a:r>
              <a:rPr lang="de-DE" b="1" dirty="0" err="1"/>
              <a:t>hashes</a:t>
            </a:r>
            <a:r>
              <a:rPr lang="de-DE" b="1" dirty="0"/>
              <a:t> (digital </a:t>
            </a:r>
            <a:r>
              <a:rPr lang="de-DE" b="1" dirty="0" err="1"/>
              <a:t>fingerprints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data</a:t>
            </a:r>
            <a:r>
              <a:rPr lang="de-DE" b="1" dirty="0"/>
              <a:t>)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5F4375D-D610-D2B9-819A-BCF4C6AED95B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8" name="Textplatzhalter 76">
              <a:extLst>
                <a:ext uri="{FF2B5EF4-FFF2-40B4-BE49-F238E27FC236}">
                  <a16:creationId xmlns:a16="http://schemas.microsoft.com/office/drawing/2014/main" id="{3224EF1F-9D75-D3DF-699D-8C250DC584DE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524535A7-6B07-7A72-0DFC-5D84F20B9D0E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49096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animBg="1"/>
      <p:bldP spid="21" grpId="0" animBg="1"/>
      <p:bldP spid="23" grpId="0" animBg="1"/>
      <p:bldP spid="24" grpId="0" animBg="1"/>
      <p:bldP spid="25" grpId="0" animBg="1"/>
      <p:bldP spid="41" grpId="0"/>
      <p:bldP spid="42" grpId="0"/>
      <p:bldP spid="100" grpId="0" animBg="1"/>
      <p:bldP spid="101" grpId="0"/>
      <p:bldP spid="102" grpId="0" animBg="1"/>
      <p:bldP spid="103" grpId="0" animBg="1"/>
      <p:bldP spid="104" grpId="0" animBg="1"/>
      <p:bldP spid="105" grpId="0" animBg="1"/>
      <p:bldP spid="106" grpId="0" animBg="1"/>
      <p:bldP spid="107" grpId="0"/>
      <p:bldP spid="108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73AD0-C0CE-CCEA-DB3F-C3634163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90C39B98-2AF5-9453-ED20-E6E55DA8D7BD}"/>
              </a:ext>
            </a:extLst>
          </p:cNvPr>
          <p:cNvSpPr txBox="1">
            <a:spLocks/>
          </p:cNvSpPr>
          <p:nvPr/>
        </p:nvSpPr>
        <p:spPr bwMode="gray">
          <a:xfrm>
            <a:off x="371475" y="368908"/>
            <a:ext cx="11449050" cy="10074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/>
              <a:t>Fundamentals</a:t>
            </a:r>
            <a:br>
              <a:rPr lang="de-DE" dirty="0"/>
            </a:b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A702CF-C127-0720-6944-D7615D57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de-DE" dirty="0"/>
            </a:br>
            <a:r>
              <a:rPr lang="de-DE" sz="3600" dirty="0" err="1">
                <a:solidFill>
                  <a:schemeClr val="bg2"/>
                </a:solidFill>
              </a:rPr>
              <a:t>Immutability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D53082-1BAC-4D1E-FEC8-7D7EA819BBE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3E1860-A350-404E-BF89-23A268CA0970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641E48-D1B8-6927-254C-02FA3212615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38333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E16F6F-4C91-740F-84C9-91A0EE5A4F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B97A1B2-D719-0DAD-36B3-CCEF4D00A092}"/>
              </a:ext>
            </a:extLst>
          </p:cNvPr>
          <p:cNvSpPr/>
          <p:nvPr/>
        </p:nvSpPr>
        <p:spPr bwMode="gray">
          <a:xfrm>
            <a:off x="371475" y="1592262"/>
            <a:ext cx="3671888" cy="367347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034AA0D-2E9A-A352-198B-5D77D559D88D}"/>
              </a:ext>
            </a:extLst>
          </p:cNvPr>
          <p:cNvSpPr txBox="1"/>
          <p:nvPr/>
        </p:nvSpPr>
        <p:spPr bwMode="gray">
          <a:xfrm>
            <a:off x="1581600" y="1650600"/>
            <a:ext cx="1244150" cy="360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Block n-1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E94E823-A9BA-B9BA-48F6-BEB67FC70356}"/>
              </a:ext>
            </a:extLst>
          </p:cNvPr>
          <p:cNvSpPr/>
          <p:nvPr/>
        </p:nvSpPr>
        <p:spPr bwMode="gray">
          <a:xfrm>
            <a:off x="1127713" y="2023753"/>
            <a:ext cx="2160000" cy="1153144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A87A0A6-7D61-5AD0-B41F-0E3454F437BF}"/>
              </a:ext>
            </a:extLst>
          </p:cNvPr>
          <p:cNvSpPr/>
          <p:nvPr/>
        </p:nvSpPr>
        <p:spPr bwMode="gray">
          <a:xfrm>
            <a:off x="1127713" y="3383976"/>
            <a:ext cx="2160000" cy="1665862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293F89F-3207-11C4-F7AE-1223DDB15A04}"/>
              </a:ext>
            </a:extLst>
          </p:cNvPr>
          <p:cNvSpPr/>
          <p:nvPr/>
        </p:nvSpPr>
        <p:spPr bwMode="gray">
          <a:xfrm>
            <a:off x="1345252" y="3824288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rgbClr val="002D4C"/>
                </a:solidFill>
              </a:rPr>
              <a:t>Transaction </a:t>
            </a:r>
            <a:r>
              <a:rPr lang="de-DE" sz="1400" dirty="0" err="1">
                <a:solidFill>
                  <a:srgbClr val="002D4C"/>
                </a:solidFill>
              </a:rPr>
              <a:t>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B63A39F-2BCE-0F82-7ECA-0F946E1908B3}"/>
              </a:ext>
            </a:extLst>
          </p:cNvPr>
          <p:cNvSpPr/>
          <p:nvPr/>
        </p:nvSpPr>
        <p:spPr bwMode="gray">
          <a:xfrm>
            <a:off x="1343813" y="28162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Metadata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FB4BFB5-5F74-5606-50CD-10DAA6057E86}"/>
              </a:ext>
            </a:extLst>
          </p:cNvPr>
          <p:cNvSpPr/>
          <p:nvPr/>
        </p:nvSpPr>
        <p:spPr bwMode="gray">
          <a:xfrm>
            <a:off x="1343813" y="23843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Previous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hash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D6BB8B66-D901-52CF-C23B-F42663F156CF}"/>
              </a:ext>
            </a:extLst>
          </p:cNvPr>
          <p:cNvSpPr txBox="1"/>
          <p:nvPr/>
        </p:nvSpPr>
        <p:spPr bwMode="gray">
          <a:xfrm>
            <a:off x="1703411" y="2021723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Header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5B47D89-3F5D-511A-0C57-B333519E055B}"/>
              </a:ext>
            </a:extLst>
          </p:cNvPr>
          <p:cNvSpPr txBox="1"/>
          <p:nvPr/>
        </p:nvSpPr>
        <p:spPr bwMode="gray">
          <a:xfrm>
            <a:off x="1673897" y="3381362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Content</a:t>
            </a:r>
          </a:p>
        </p:txBody>
      </p:sp>
      <p:pic>
        <p:nvPicPr>
          <p:cNvPr id="56" name="Grafik 5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FD2AC752-32F5-C2F0-68C6-391B2DE048C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55200" y="4181400"/>
            <a:ext cx="684000" cy="684000"/>
          </a:xfrm>
          <a:prstGeom prst="rect">
            <a:avLst/>
          </a:prstGeom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6A6056B2-B630-BDE0-FBE4-9AC611F87FCB}"/>
              </a:ext>
            </a:extLst>
          </p:cNvPr>
          <p:cNvSpPr txBox="1">
            <a:spLocks/>
          </p:cNvSpPr>
          <p:nvPr/>
        </p:nvSpPr>
        <p:spPr>
          <a:xfrm>
            <a:off x="371475" y="5868988"/>
            <a:ext cx="8163272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[5] Nakamoto (2008). Bitcoin: A peer-to-peer electronic cash system</a:t>
            </a:r>
            <a:endParaRPr lang="de-DE" sz="1100" dirty="0">
              <a:solidFill>
                <a:srgbClr val="002D4C"/>
              </a:solidFill>
              <a:latin typeface="Arial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669D1A3D-D563-419D-A116-BE35459FCA52}"/>
              </a:ext>
            </a:extLst>
          </p:cNvPr>
          <p:cNvSpPr/>
          <p:nvPr/>
        </p:nvSpPr>
        <p:spPr bwMode="gray">
          <a:xfrm>
            <a:off x="4259263" y="1592263"/>
            <a:ext cx="3673475" cy="3673476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4A018D8B-4657-EFE5-C174-82D33F33922A}"/>
              </a:ext>
            </a:extLst>
          </p:cNvPr>
          <p:cNvSpPr txBox="1"/>
          <p:nvPr/>
        </p:nvSpPr>
        <p:spPr bwMode="gray">
          <a:xfrm>
            <a:off x="5465870" y="1664271"/>
            <a:ext cx="1244150" cy="360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Block n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E237CEA2-F2E0-0A16-8FBA-EA9AA19C4327}"/>
              </a:ext>
            </a:extLst>
          </p:cNvPr>
          <p:cNvSpPr/>
          <p:nvPr/>
        </p:nvSpPr>
        <p:spPr bwMode="gray">
          <a:xfrm>
            <a:off x="5001600" y="2023753"/>
            <a:ext cx="2160000" cy="1153144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44DC1491-4232-9A02-5F25-AE8B4D6289DF}"/>
              </a:ext>
            </a:extLst>
          </p:cNvPr>
          <p:cNvSpPr/>
          <p:nvPr/>
        </p:nvSpPr>
        <p:spPr bwMode="gray">
          <a:xfrm>
            <a:off x="5001600" y="3383976"/>
            <a:ext cx="2160000" cy="1665862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323D5A37-A015-334E-93F1-639DE23E65D3}"/>
              </a:ext>
            </a:extLst>
          </p:cNvPr>
          <p:cNvSpPr/>
          <p:nvPr/>
        </p:nvSpPr>
        <p:spPr bwMode="gray">
          <a:xfrm>
            <a:off x="5206800" y="3824288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rgbClr val="002D4C"/>
                </a:solidFill>
              </a:rPr>
              <a:t>Transaction </a:t>
            </a:r>
            <a:r>
              <a:rPr lang="de-DE" sz="1400" dirty="0" err="1">
                <a:solidFill>
                  <a:srgbClr val="002D4C"/>
                </a:solidFill>
              </a:rPr>
              <a:t>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65B4811-A3D2-3427-6EF4-A4A4E6AE0F83}"/>
              </a:ext>
            </a:extLst>
          </p:cNvPr>
          <p:cNvSpPr/>
          <p:nvPr/>
        </p:nvSpPr>
        <p:spPr bwMode="gray">
          <a:xfrm>
            <a:off x="5206800" y="28162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Metadata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711F487E-99F8-8F98-2F8E-59BBC56DB79A}"/>
              </a:ext>
            </a:extLst>
          </p:cNvPr>
          <p:cNvSpPr/>
          <p:nvPr/>
        </p:nvSpPr>
        <p:spPr bwMode="gray">
          <a:xfrm>
            <a:off x="5206800" y="23843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Previous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hash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E57DB59F-6164-EE93-268E-62F00C178827}"/>
              </a:ext>
            </a:extLst>
          </p:cNvPr>
          <p:cNvSpPr txBox="1"/>
          <p:nvPr/>
        </p:nvSpPr>
        <p:spPr bwMode="gray">
          <a:xfrm>
            <a:off x="5588487" y="2022283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Header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473E2D29-6DA3-F4A7-FE33-207ADF60BA18}"/>
              </a:ext>
            </a:extLst>
          </p:cNvPr>
          <p:cNvSpPr txBox="1"/>
          <p:nvPr/>
        </p:nvSpPr>
        <p:spPr bwMode="gray">
          <a:xfrm>
            <a:off x="5558333" y="3381363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Content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2AEA91B7-BABA-1366-7279-A3D3E43B70C9}"/>
              </a:ext>
            </a:extLst>
          </p:cNvPr>
          <p:cNvCxnSpPr>
            <a:cxnSpLocks/>
          </p:cNvCxnSpPr>
          <p:nvPr/>
        </p:nvCxnSpPr>
        <p:spPr bwMode="gray">
          <a:xfrm>
            <a:off x="4043363" y="1592263"/>
            <a:ext cx="1163437" cy="810737"/>
          </a:xfrm>
          <a:prstGeom prst="line">
            <a:avLst/>
          </a:prstGeom>
          <a:ln w="31750">
            <a:solidFill>
              <a:schemeClr val="tx1"/>
            </a:solidFill>
            <a:prstDash val="dash"/>
            <a:round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35C5A6B-0A2B-AB59-972A-AC1636EA4B01}"/>
              </a:ext>
            </a:extLst>
          </p:cNvPr>
          <p:cNvCxnSpPr>
            <a:cxnSpLocks/>
          </p:cNvCxnSpPr>
          <p:nvPr/>
        </p:nvCxnSpPr>
        <p:spPr bwMode="gray">
          <a:xfrm flipV="1">
            <a:off x="4043363" y="2600325"/>
            <a:ext cx="1163437" cy="2665413"/>
          </a:xfrm>
          <a:prstGeom prst="line">
            <a:avLst/>
          </a:prstGeom>
          <a:ln w="31750">
            <a:solidFill>
              <a:schemeClr val="tx1"/>
            </a:solidFill>
            <a:prstDash val="dash"/>
            <a:round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hteck 99">
            <a:extLst>
              <a:ext uri="{FF2B5EF4-FFF2-40B4-BE49-F238E27FC236}">
                <a16:creationId xmlns:a16="http://schemas.microsoft.com/office/drawing/2014/main" id="{245E0322-2D31-E4FC-AF66-32B483F1171A}"/>
              </a:ext>
            </a:extLst>
          </p:cNvPr>
          <p:cNvSpPr/>
          <p:nvPr/>
        </p:nvSpPr>
        <p:spPr bwMode="gray">
          <a:xfrm>
            <a:off x="8148637" y="1592263"/>
            <a:ext cx="3671887" cy="367347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957E60E3-3B17-1564-2890-35963FFA4BD2}"/>
              </a:ext>
            </a:extLst>
          </p:cNvPr>
          <p:cNvSpPr txBox="1"/>
          <p:nvPr/>
        </p:nvSpPr>
        <p:spPr bwMode="gray">
          <a:xfrm>
            <a:off x="9379200" y="1650600"/>
            <a:ext cx="1244150" cy="360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Block n+1</a:t>
            </a: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B2856FC7-9160-DD9C-10D5-752AA0D531B4}"/>
              </a:ext>
            </a:extLst>
          </p:cNvPr>
          <p:cNvSpPr/>
          <p:nvPr/>
        </p:nvSpPr>
        <p:spPr bwMode="gray">
          <a:xfrm>
            <a:off x="8904288" y="2023753"/>
            <a:ext cx="2160000" cy="1153144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B1F4BB1A-1C96-2207-4340-62E31D78A2EC}"/>
              </a:ext>
            </a:extLst>
          </p:cNvPr>
          <p:cNvSpPr/>
          <p:nvPr/>
        </p:nvSpPr>
        <p:spPr bwMode="gray">
          <a:xfrm>
            <a:off x="8904288" y="3395669"/>
            <a:ext cx="2160000" cy="1665862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441D7EA5-D169-E5CA-3C95-9B9EE10690FF}"/>
              </a:ext>
            </a:extLst>
          </p:cNvPr>
          <p:cNvSpPr/>
          <p:nvPr/>
        </p:nvSpPr>
        <p:spPr bwMode="gray">
          <a:xfrm>
            <a:off x="9111335" y="3826028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rgbClr val="002D4C"/>
                </a:solidFill>
              </a:rPr>
              <a:t>Transaction </a:t>
            </a:r>
            <a:r>
              <a:rPr lang="de-DE" sz="1400" dirty="0" err="1">
                <a:solidFill>
                  <a:srgbClr val="002D4C"/>
                </a:solidFill>
              </a:rPr>
              <a:t>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50EE9764-552D-6304-B5D8-BD1DF0674C34}"/>
              </a:ext>
            </a:extLst>
          </p:cNvPr>
          <p:cNvSpPr/>
          <p:nvPr/>
        </p:nvSpPr>
        <p:spPr bwMode="gray">
          <a:xfrm>
            <a:off x="9120188" y="28162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Metadata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1A857193-F84C-CAC7-3D87-B80EFBAAC913}"/>
              </a:ext>
            </a:extLst>
          </p:cNvPr>
          <p:cNvSpPr/>
          <p:nvPr/>
        </p:nvSpPr>
        <p:spPr bwMode="gray">
          <a:xfrm>
            <a:off x="9120188" y="2384325"/>
            <a:ext cx="172800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 err="1">
                <a:solidFill>
                  <a:srgbClr val="002D4C"/>
                </a:solidFill>
              </a:rPr>
              <a:t>Previous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hash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325526C1-BAEA-22E9-FE0C-EEF468FC75D6}"/>
              </a:ext>
            </a:extLst>
          </p:cNvPr>
          <p:cNvSpPr txBox="1"/>
          <p:nvPr/>
        </p:nvSpPr>
        <p:spPr bwMode="gray">
          <a:xfrm>
            <a:off x="9508150" y="2021723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Header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E99616F3-993B-6775-BD76-EFE79D1349EC}"/>
              </a:ext>
            </a:extLst>
          </p:cNvPr>
          <p:cNvSpPr txBox="1"/>
          <p:nvPr/>
        </p:nvSpPr>
        <p:spPr bwMode="gray">
          <a:xfrm>
            <a:off x="9477996" y="3393055"/>
            <a:ext cx="1008112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Content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8C53F633-FD92-7CA3-ED22-D8D87DEE3C20}"/>
              </a:ext>
            </a:extLst>
          </p:cNvPr>
          <p:cNvCxnSpPr>
            <a:cxnSpLocks/>
          </p:cNvCxnSpPr>
          <p:nvPr/>
        </p:nvCxnSpPr>
        <p:spPr bwMode="gray">
          <a:xfrm flipV="1">
            <a:off x="7932738" y="2600325"/>
            <a:ext cx="1187450" cy="2665413"/>
          </a:xfrm>
          <a:prstGeom prst="line">
            <a:avLst/>
          </a:prstGeom>
          <a:ln w="31750">
            <a:solidFill>
              <a:schemeClr val="tx1"/>
            </a:solidFill>
            <a:prstDash val="dash"/>
            <a:round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42ACBB99-1B9C-9117-C726-D8BE389111F0}"/>
              </a:ext>
            </a:extLst>
          </p:cNvPr>
          <p:cNvCxnSpPr>
            <a:cxnSpLocks/>
          </p:cNvCxnSpPr>
          <p:nvPr/>
        </p:nvCxnSpPr>
        <p:spPr bwMode="gray">
          <a:xfrm>
            <a:off x="7932738" y="1592263"/>
            <a:ext cx="1187450" cy="810737"/>
          </a:xfrm>
          <a:prstGeom prst="line">
            <a:avLst/>
          </a:prstGeom>
          <a:ln w="31750">
            <a:solidFill>
              <a:schemeClr val="tx1"/>
            </a:solidFill>
            <a:prstDash val="dash"/>
            <a:round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fik 120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52C3B763-ED6E-471C-1351-48E474F8B9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54000" y="4181400"/>
            <a:ext cx="684000" cy="684000"/>
          </a:xfrm>
          <a:prstGeom prst="rect">
            <a:avLst/>
          </a:prstGeom>
        </p:spPr>
      </p:pic>
      <p:pic>
        <p:nvPicPr>
          <p:cNvPr id="122" name="Grafik 12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9419A445-1DBE-314D-82D8-388266144F7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52800" y="4181400"/>
            <a:ext cx="684000" cy="6840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8DA4CC6-217E-ABA1-9572-51D58744B129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A </a:t>
            </a:r>
            <a:r>
              <a:rPr lang="de-DE" b="1" dirty="0" err="1"/>
              <a:t>falsified</a:t>
            </a:r>
            <a:r>
              <a:rPr lang="de-DE" b="1" dirty="0"/>
              <a:t> block </a:t>
            </a:r>
            <a:r>
              <a:rPr lang="de-DE" b="1" dirty="0" err="1"/>
              <a:t>leads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an </a:t>
            </a:r>
            <a:r>
              <a:rPr lang="de-DE" b="1" dirty="0" err="1"/>
              <a:t>error</a:t>
            </a:r>
            <a:r>
              <a:rPr lang="de-DE" b="1" dirty="0"/>
              <a:t> in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verification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subsequent block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3A98A13-0921-156B-08CD-3364D7B2ED8D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8" name="Textplatzhalter 76">
              <a:extLst>
                <a:ext uri="{FF2B5EF4-FFF2-40B4-BE49-F238E27FC236}">
                  <a16:creationId xmlns:a16="http://schemas.microsoft.com/office/drawing/2014/main" id="{44862B23-B470-6C8C-6D52-D124C72D0C32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95D3CE7B-C332-9112-CE68-531FEE591122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41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356B6-6D59-B502-1622-0F2FC7439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B81CDF1-CD23-1C41-82B1-74D44939ADBD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 bwMode="gray">
          <a:xfrm>
            <a:off x="6091238" y="2082800"/>
            <a:ext cx="340" cy="270778"/>
          </a:xfrm>
          <a:prstGeom prst="line">
            <a:avLst/>
          </a:prstGeom>
          <a:ln w="31750">
            <a:solidFill>
              <a:schemeClr val="bg2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9DB684EF-85C7-A4BC-4901-761FA88FD804}"/>
              </a:ext>
            </a:extLst>
          </p:cNvPr>
          <p:cNvSpPr txBox="1"/>
          <p:nvPr/>
        </p:nvSpPr>
        <p:spPr bwMode="gray">
          <a:xfrm>
            <a:off x="1473200" y="2923266"/>
            <a:ext cx="4622800" cy="321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Invoke</a:t>
            </a:r>
            <a:r>
              <a:rPr lang="de-DE" sz="1400" dirty="0"/>
              <a:t> </a:t>
            </a:r>
            <a:r>
              <a:rPr lang="de-DE" sz="1400" dirty="0" err="1"/>
              <a:t>chaincode</a:t>
            </a:r>
            <a:endParaRPr lang="de-DE" sz="1400" dirty="0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9BADEC2A-C2D9-6BDA-D09C-A8A2EFA1DA21}"/>
              </a:ext>
            </a:extLst>
          </p:cNvPr>
          <p:cNvSpPr txBox="1"/>
          <p:nvPr/>
        </p:nvSpPr>
        <p:spPr bwMode="gray">
          <a:xfrm>
            <a:off x="6108700" y="4504311"/>
            <a:ext cx="4648200" cy="321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Submit</a:t>
            </a:r>
            <a:r>
              <a:rPr lang="de-DE" sz="1400" dirty="0"/>
              <a:t> </a:t>
            </a:r>
            <a:r>
              <a:rPr lang="de-DE" sz="1400" dirty="0" err="1"/>
              <a:t>blocks</a:t>
            </a:r>
            <a:endParaRPr lang="de-DE" sz="1400" dirty="0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7E731D49-DC5D-1AF2-2D79-CDA399C01631}"/>
              </a:ext>
            </a:extLst>
          </p:cNvPr>
          <p:cNvSpPr txBox="1"/>
          <p:nvPr/>
        </p:nvSpPr>
        <p:spPr bwMode="gray">
          <a:xfrm>
            <a:off x="6096000" y="4012641"/>
            <a:ext cx="4654550" cy="321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Submit</a:t>
            </a:r>
            <a:r>
              <a:rPr lang="de-DE" sz="1400" dirty="0"/>
              <a:t> </a:t>
            </a:r>
            <a:r>
              <a:rPr lang="de-DE" sz="1400" dirty="0" err="1"/>
              <a:t>transaction</a:t>
            </a:r>
            <a:endParaRPr lang="de-DE" sz="1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08CF87-66DB-E760-86DF-ACBA00DDE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Fundamentals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Execute-Order-</a:t>
            </a:r>
            <a:r>
              <a:rPr lang="de-DE" sz="3200" dirty="0" err="1">
                <a:solidFill>
                  <a:schemeClr val="bg2"/>
                </a:solidFill>
              </a:rPr>
              <a:t>Validate</a:t>
            </a:r>
            <a:r>
              <a:rPr lang="de-DE" sz="3200" dirty="0">
                <a:solidFill>
                  <a:schemeClr val="bg2"/>
                </a:solidFill>
              </a:rPr>
              <a:t> Model</a:t>
            </a:r>
            <a:r>
              <a:rPr lang="de-DE" dirty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6152A7-61D3-A5A6-9FA6-12046B22A1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E289EA-6729-25BF-B955-32680013B7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376080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1A87D9-0675-1760-22F3-3186A59555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EBAD255-FC7C-AD93-C8A7-92F06E438B8C}"/>
              </a:ext>
            </a:extLst>
          </p:cNvPr>
          <p:cNvSpPr/>
          <p:nvPr/>
        </p:nvSpPr>
        <p:spPr bwMode="gray">
          <a:xfrm>
            <a:off x="3282950" y="1592263"/>
            <a:ext cx="5616575" cy="490537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Chaincode</a:t>
            </a:r>
            <a:r>
              <a:rPr lang="de-DE" b="1" dirty="0">
                <a:solidFill>
                  <a:schemeClr val="bg1"/>
                </a:solidFill>
              </a:rPr>
              <a:t> (Smart </a:t>
            </a:r>
            <a:r>
              <a:rPr lang="de-DE" b="1" dirty="0" err="1">
                <a:solidFill>
                  <a:schemeClr val="bg1"/>
                </a:solidFill>
              </a:rPr>
              <a:t>Contracts</a:t>
            </a:r>
            <a:r>
              <a:rPr lang="de-DE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D310B6B8-7512-C0E7-950D-F1B7C4C117D4}"/>
              </a:ext>
            </a:extLst>
          </p:cNvPr>
          <p:cNvCxnSpPr>
            <a:cxnSpLocks/>
          </p:cNvCxnSpPr>
          <p:nvPr/>
        </p:nvCxnSpPr>
        <p:spPr bwMode="gray">
          <a:xfrm>
            <a:off x="1460500" y="3234870"/>
            <a:ext cx="4635500" cy="0"/>
          </a:xfrm>
          <a:prstGeom prst="line">
            <a:avLst/>
          </a:prstGeom>
          <a:ln w="31750">
            <a:solidFill>
              <a:srgbClr val="002D4C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784E1686-448B-C045-A350-572E3A58E8A0}"/>
              </a:ext>
            </a:extLst>
          </p:cNvPr>
          <p:cNvCxnSpPr>
            <a:cxnSpLocks/>
          </p:cNvCxnSpPr>
          <p:nvPr/>
        </p:nvCxnSpPr>
        <p:spPr bwMode="gray">
          <a:xfrm>
            <a:off x="6095084" y="3416305"/>
            <a:ext cx="239486" cy="0"/>
          </a:xfrm>
          <a:prstGeom prst="line">
            <a:avLst/>
          </a:prstGeom>
          <a:ln w="31750">
            <a:solidFill>
              <a:srgbClr val="002D4C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77CF6A45-D1B8-0E61-4759-CBB086EF9D5E}"/>
              </a:ext>
            </a:extLst>
          </p:cNvPr>
          <p:cNvCxnSpPr>
            <a:cxnSpLocks/>
          </p:cNvCxnSpPr>
          <p:nvPr/>
        </p:nvCxnSpPr>
        <p:spPr bwMode="gray">
          <a:xfrm>
            <a:off x="6324819" y="3404738"/>
            <a:ext cx="0" cy="216468"/>
          </a:xfrm>
          <a:prstGeom prst="line">
            <a:avLst/>
          </a:prstGeom>
          <a:ln w="31750">
            <a:solidFill>
              <a:srgbClr val="002D4C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BC8B9943-33A8-C6E9-F332-D0579A6A014A}"/>
              </a:ext>
            </a:extLst>
          </p:cNvPr>
          <p:cNvCxnSpPr>
            <a:cxnSpLocks/>
          </p:cNvCxnSpPr>
          <p:nvPr/>
        </p:nvCxnSpPr>
        <p:spPr bwMode="gray">
          <a:xfrm>
            <a:off x="6101321" y="3616443"/>
            <a:ext cx="230981" cy="0"/>
          </a:xfrm>
          <a:prstGeom prst="line">
            <a:avLst/>
          </a:prstGeom>
          <a:ln w="31750">
            <a:solidFill>
              <a:srgbClr val="002D4C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DF5763E8-DE55-201C-7E1C-455DBD796472}"/>
              </a:ext>
            </a:extLst>
          </p:cNvPr>
          <p:cNvSpPr txBox="1"/>
          <p:nvPr/>
        </p:nvSpPr>
        <p:spPr bwMode="gray">
          <a:xfrm>
            <a:off x="6404882" y="3395782"/>
            <a:ext cx="1561194" cy="321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Simulate</a:t>
            </a:r>
            <a:r>
              <a:rPr lang="de-DE" sz="1400" dirty="0"/>
              <a:t> </a:t>
            </a:r>
            <a:r>
              <a:rPr lang="de-DE" sz="1400" dirty="0" err="1"/>
              <a:t>execution</a:t>
            </a:r>
            <a:endParaRPr lang="de-DE" sz="1400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5875A9F-DA33-E72A-C930-BA1C0581045F}"/>
              </a:ext>
            </a:extLst>
          </p:cNvPr>
          <p:cNvCxnSpPr>
            <a:cxnSpLocks/>
          </p:cNvCxnSpPr>
          <p:nvPr/>
        </p:nvCxnSpPr>
        <p:spPr bwMode="gray">
          <a:xfrm flipH="1">
            <a:off x="1454150" y="3761920"/>
            <a:ext cx="4634593" cy="0"/>
          </a:xfrm>
          <a:prstGeom prst="line">
            <a:avLst/>
          </a:prstGeom>
          <a:ln w="31750">
            <a:solidFill>
              <a:srgbClr val="002D4C"/>
            </a:solidFill>
            <a:prstDash val="dash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75BD793D-DFCA-318C-96A0-38CDAE06EA8F}"/>
              </a:ext>
            </a:extLst>
          </p:cNvPr>
          <p:cNvSpPr txBox="1"/>
          <p:nvPr/>
        </p:nvSpPr>
        <p:spPr bwMode="gray">
          <a:xfrm>
            <a:off x="1454150" y="3442045"/>
            <a:ext cx="4641849" cy="321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Endorse</a:t>
            </a:r>
            <a:r>
              <a:rPr lang="de-DE" sz="1400" dirty="0"/>
              <a:t> </a:t>
            </a:r>
            <a:r>
              <a:rPr lang="de-DE" sz="1400" dirty="0" err="1"/>
              <a:t>transaction</a:t>
            </a:r>
            <a:endParaRPr lang="de-DE" sz="1400" dirty="0"/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265A2A1F-F630-EC87-DCD8-9D22B6FFBB73}"/>
              </a:ext>
            </a:extLst>
          </p:cNvPr>
          <p:cNvCxnSpPr>
            <a:cxnSpLocks/>
          </p:cNvCxnSpPr>
          <p:nvPr/>
        </p:nvCxnSpPr>
        <p:spPr bwMode="gray">
          <a:xfrm>
            <a:off x="1461407" y="3945169"/>
            <a:ext cx="239486" cy="0"/>
          </a:xfrm>
          <a:prstGeom prst="line">
            <a:avLst/>
          </a:prstGeom>
          <a:ln w="31750">
            <a:solidFill>
              <a:srgbClr val="002D4C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6852773-4980-F322-942D-A0A01D0D971E}"/>
              </a:ext>
            </a:extLst>
          </p:cNvPr>
          <p:cNvCxnSpPr>
            <a:cxnSpLocks/>
          </p:cNvCxnSpPr>
          <p:nvPr/>
        </p:nvCxnSpPr>
        <p:spPr bwMode="gray">
          <a:xfrm>
            <a:off x="1683998" y="3933602"/>
            <a:ext cx="0" cy="216468"/>
          </a:xfrm>
          <a:prstGeom prst="line">
            <a:avLst/>
          </a:prstGeom>
          <a:ln w="31750">
            <a:solidFill>
              <a:srgbClr val="002D4C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12B6005-2157-B633-8C6F-F24F48F270E4}"/>
              </a:ext>
            </a:extLst>
          </p:cNvPr>
          <p:cNvCxnSpPr>
            <a:cxnSpLocks/>
          </p:cNvCxnSpPr>
          <p:nvPr/>
        </p:nvCxnSpPr>
        <p:spPr bwMode="gray">
          <a:xfrm>
            <a:off x="1467644" y="4145307"/>
            <a:ext cx="230981" cy="0"/>
          </a:xfrm>
          <a:prstGeom prst="line">
            <a:avLst/>
          </a:prstGeom>
          <a:ln w="31750">
            <a:solidFill>
              <a:srgbClr val="002D4C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FA1B7566-ED7A-6349-8C48-8AED60E43367}"/>
              </a:ext>
            </a:extLst>
          </p:cNvPr>
          <p:cNvSpPr txBox="1"/>
          <p:nvPr/>
        </p:nvSpPr>
        <p:spPr bwMode="gray">
          <a:xfrm>
            <a:off x="1746250" y="3920110"/>
            <a:ext cx="1770063" cy="321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Check </a:t>
            </a:r>
            <a:r>
              <a:rPr lang="de-DE" sz="1400" dirty="0" err="1"/>
              <a:t>policy</a:t>
            </a:r>
            <a:endParaRPr lang="de-DE" sz="1400" dirty="0"/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79C3D1AA-CE17-418D-5ECC-606E846F682F}"/>
              </a:ext>
            </a:extLst>
          </p:cNvPr>
          <p:cNvCxnSpPr>
            <a:cxnSpLocks/>
          </p:cNvCxnSpPr>
          <p:nvPr/>
        </p:nvCxnSpPr>
        <p:spPr bwMode="gray">
          <a:xfrm>
            <a:off x="1447800" y="4331613"/>
            <a:ext cx="9296400" cy="0"/>
          </a:xfrm>
          <a:prstGeom prst="line">
            <a:avLst/>
          </a:prstGeom>
          <a:ln w="31750">
            <a:solidFill>
              <a:srgbClr val="002D4C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CE30F698-AE5D-7233-714F-71B4B6F2AAB7}"/>
              </a:ext>
            </a:extLst>
          </p:cNvPr>
          <p:cNvCxnSpPr>
            <a:cxnSpLocks/>
          </p:cNvCxnSpPr>
          <p:nvPr/>
        </p:nvCxnSpPr>
        <p:spPr bwMode="gray">
          <a:xfrm>
            <a:off x="10748721" y="4417570"/>
            <a:ext cx="239486" cy="0"/>
          </a:xfrm>
          <a:prstGeom prst="line">
            <a:avLst/>
          </a:prstGeom>
          <a:ln w="31750">
            <a:solidFill>
              <a:srgbClr val="002D4C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762F7514-FCC6-D17E-F6FA-441C196A30C8}"/>
              </a:ext>
            </a:extLst>
          </p:cNvPr>
          <p:cNvCxnSpPr>
            <a:cxnSpLocks/>
          </p:cNvCxnSpPr>
          <p:nvPr/>
        </p:nvCxnSpPr>
        <p:spPr bwMode="gray">
          <a:xfrm>
            <a:off x="10971312" y="4406003"/>
            <a:ext cx="0" cy="216468"/>
          </a:xfrm>
          <a:prstGeom prst="line">
            <a:avLst/>
          </a:prstGeom>
          <a:ln w="31750">
            <a:solidFill>
              <a:srgbClr val="002D4C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2971C668-C759-5C93-0336-7A7BCE4398C5}"/>
              </a:ext>
            </a:extLst>
          </p:cNvPr>
          <p:cNvCxnSpPr>
            <a:cxnSpLocks/>
          </p:cNvCxnSpPr>
          <p:nvPr/>
        </p:nvCxnSpPr>
        <p:spPr bwMode="gray">
          <a:xfrm>
            <a:off x="10754958" y="4617708"/>
            <a:ext cx="230981" cy="0"/>
          </a:xfrm>
          <a:prstGeom prst="line">
            <a:avLst/>
          </a:prstGeom>
          <a:ln w="31750">
            <a:solidFill>
              <a:srgbClr val="002D4C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feld 57">
            <a:extLst>
              <a:ext uri="{FF2B5EF4-FFF2-40B4-BE49-F238E27FC236}">
                <a16:creationId xmlns:a16="http://schemas.microsoft.com/office/drawing/2014/main" id="{4A6D8560-AE6F-8FC6-2A92-00E17FCD899C}"/>
              </a:ext>
            </a:extLst>
          </p:cNvPr>
          <p:cNvSpPr txBox="1"/>
          <p:nvPr/>
        </p:nvSpPr>
        <p:spPr bwMode="gray">
          <a:xfrm>
            <a:off x="10811088" y="3880871"/>
            <a:ext cx="1380912" cy="321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Package </a:t>
            </a:r>
            <a:r>
              <a:rPr lang="de-DE" sz="1400" dirty="0" err="1"/>
              <a:t>transactions</a:t>
            </a:r>
            <a:endParaRPr lang="de-DE" sz="1400" dirty="0"/>
          </a:p>
        </p:txBody>
      </p: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A67BACBB-29A0-6A57-8DC3-5F5BACABE727}"/>
              </a:ext>
            </a:extLst>
          </p:cNvPr>
          <p:cNvCxnSpPr>
            <a:cxnSpLocks/>
          </p:cNvCxnSpPr>
          <p:nvPr/>
        </p:nvCxnSpPr>
        <p:spPr bwMode="gray">
          <a:xfrm flipH="1">
            <a:off x="6095991" y="4812393"/>
            <a:ext cx="4654559" cy="0"/>
          </a:xfrm>
          <a:prstGeom prst="line">
            <a:avLst/>
          </a:prstGeom>
          <a:ln w="31750">
            <a:solidFill>
              <a:srgbClr val="002D4C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C71D46B9-07A0-004E-717F-839587F9F227}"/>
              </a:ext>
            </a:extLst>
          </p:cNvPr>
          <p:cNvCxnSpPr>
            <a:cxnSpLocks/>
          </p:cNvCxnSpPr>
          <p:nvPr/>
        </p:nvCxnSpPr>
        <p:spPr bwMode="gray">
          <a:xfrm>
            <a:off x="6087826" y="5068212"/>
            <a:ext cx="239486" cy="0"/>
          </a:xfrm>
          <a:prstGeom prst="line">
            <a:avLst/>
          </a:prstGeom>
          <a:ln w="31750">
            <a:solidFill>
              <a:srgbClr val="002D4C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4BA6EF76-CCE2-21BD-0CA8-1842ECFA0973}"/>
              </a:ext>
            </a:extLst>
          </p:cNvPr>
          <p:cNvCxnSpPr>
            <a:cxnSpLocks/>
          </p:cNvCxnSpPr>
          <p:nvPr/>
        </p:nvCxnSpPr>
        <p:spPr bwMode="gray">
          <a:xfrm>
            <a:off x="6310417" y="5056645"/>
            <a:ext cx="0" cy="216468"/>
          </a:xfrm>
          <a:prstGeom prst="line">
            <a:avLst/>
          </a:prstGeom>
          <a:ln w="31750">
            <a:solidFill>
              <a:srgbClr val="002D4C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7FDE666B-5E7B-A2D7-ADAC-58CCC9B01B19}"/>
              </a:ext>
            </a:extLst>
          </p:cNvPr>
          <p:cNvCxnSpPr>
            <a:cxnSpLocks/>
          </p:cNvCxnSpPr>
          <p:nvPr/>
        </p:nvCxnSpPr>
        <p:spPr bwMode="gray">
          <a:xfrm>
            <a:off x="6094063" y="5268350"/>
            <a:ext cx="230981" cy="0"/>
          </a:xfrm>
          <a:prstGeom prst="line">
            <a:avLst/>
          </a:prstGeom>
          <a:ln w="31750">
            <a:solidFill>
              <a:srgbClr val="002D4C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3186C292-3FBB-2634-3734-3A8E93B13181}"/>
              </a:ext>
            </a:extLst>
          </p:cNvPr>
          <p:cNvSpPr txBox="1"/>
          <p:nvPr/>
        </p:nvSpPr>
        <p:spPr bwMode="gray">
          <a:xfrm>
            <a:off x="6408955" y="5049838"/>
            <a:ext cx="1693410" cy="3218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Validation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3B944FD0-8D04-4236-3CCE-BD7E57B3B74F}"/>
              </a:ext>
            </a:extLst>
          </p:cNvPr>
          <p:cNvSpPr txBox="1">
            <a:spLocks/>
          </p:cNvSpPr>
          <p:nvPr/>
        </p:nvSpPr>
        <p:spPr>
          <a:xfrm>
            <a:off x="381000" y="5868504"/>
            <a:ext cx="6745514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[6] Buterin (2014). Ethereum: A next-generation smart contract and decentralized application platform</a:t>
            </a:r>
            <a:r>
              <a:rPr lang="de-DE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         </a:t>
            </a: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[7] </a:t>
            </a:r>
            <a:r>
              <a:rPr lang="en-US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Androulaki</a:t>
            </a: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et al. (2018). Hyperledger Fabric: A distributed operating system for permissioned blockchains</a:t>
            </a:r>
            <a:endParaRPr lang="de-DE" sz="1100" dirty="0">
              <a:solidFill>
                <a:srgbClr val="002D4C"/>
              </a:solidFill>
              <a:latin typeface="Arial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FAFBB006-2A38-25E2-C668-EB258F72D0D7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Deterministic</a:t>
            </a:r>
            <a:r>
              <a:rPr lang="de-DE" b="1" dirty="0"/>
              <a:t> </a:t>
            </a:r>
            <a:r>
              <a:rPr lang="de-DE" b="1" dirty="0" err="1"/>
              <a:t>ledger</a:t>
            </a:r>
            <a:r>
              <a:rPr lang="de-DE" b="1" dirty="0"/>
              <a:t> </a:t>
            </a:r>
            <a:r>
              <a:rPr lang="de-DE" b="1" dirty="0" err="1"/>
              <a:t>states</a:t>
            </a:r>
            <a:r>
              <a:rPr lang="de-DE" b="1" dirty="0"/>
              <a:t> </a:t>
            </a:r>
            <a:r>
              <a:rPr lang="de-DE" b="1" dirty="0" err="1"/>
              <a:t>through</a:t>
            </a:r>
            <a:r>
              <a:rPr lang="de-DE" b="1" dirty="0"/>
              <a:t> </a:t>
            </a:r>
            <a:r>
              <a:rPr lang="de-DE" b="1" dirty="0" err="1"/>
              <a:t>validation</a:t>
            </a:r>
            <a:r>
              <a:rPr lang="de-DE" b="1" dirty="0"/>
              <a:t> </a:t>
            </a:r>
            <a:r>
              <a:rPr lang="de-DE" b="1" dirty="0" err="1"/>
              <a:t>model</a:t>
            </a:r>
            <a:r>
              <a:rPr lang="de-DE" b="1" dirty="0"/>
              <a:t> and </a:t>
            </a:r>
            <a:r>
              <a:rPr lang="de-DE" b="1" dirty="0" err="1"/>
              <a:t>endorsement</a:t>
            </a:r>
            <a:r>
              <a:rPr lang="de-DE" b="1" dirty="0"/>
              <a:t> </a:t>
            </a:r>
          </a:p>
        </p:txBody>
      </p: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077C7CD1-6086-3A87-7D81-920BDB209B15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111" name="Textplatzhalter 76">
              <a:extLst>
                <a:ext uri="{FF2B5EF4-FFF2-40B4-BE49-F238E27FC236}">
                  <a16:creationId xmlns:a16="http://schemas.microsoft.com/office/drawing/2014/main" id="{16FB73FB-2A45-B759-BC43-A6869AA81E62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C35E94E8-BF3A-D22B-CAD3-2A4494845131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Textfeld 125">
            <a:extLst>
              <a:ext uri="{FF2B5EF4-FFF2-40B4-BE49-F238E27FC236}">
                <a16:creationId xmlns:a16="http://schemas.microsoft.com/office/drawing/2014/main" id="{F4C211DC-2F14-6DCF-FC78-0084E4859C28}"/>
              </a:ext>
            </a:extLst>
          </p:cNvPr>
          <p:cNvSpPr txBox="1"/>
          <p:nvPr/>
        </p:nvSpPr>
        <p:spPr bwMode="gray">
          <a:xfrm>
            <a:off x="6044746" y="2111149"/>
            <a:ext cx="1561194" cy="3218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Installed</a:t>
            </a:r>
            <a:r>
              <a:rPr lang="de-DE" sz="1400" dirty="0"/>
              <a:t> on</a:t>
            </a: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16D8CA95-4841-37A1-8BBA-71B809C6A2F0}"/>
              </a:ext>
            </a:extLst>
          </p:cNvPr>
          <p:cNvCxnSpPr>
            <a:cxnSpLocks/>
            <a:stCxn id="8" idx="2"/>
          </p:cNvCxnSpPr>
          <p:nvPr/>
        </p:nvCxnSpPr>
        <p:spPr bwMode="gray">
          <a:xfrm>
            <a:off x="1460046" y="2818035"/>
            <a:ext cx="0" cy="2592000"/>
          </a:xfrm>
          <a:prstGeom prst="line">
            <a:avLst/>
          </a:prstGeom>
          <a:ln w="31750">
            <a:solidFill>
              <a:schemeClr val="bg2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E8D1520-7454-10E9-1B4D-903C2DCC9FC8}"/>
              </a:ext>
            </a:extLst>
          </p:cNvPr>
          <p:cNvCxnSpPr>
            <a:cxnSpLocks/>
            <a:stCxn id="9" idx="2"/>
          </p:cNvCxnSpPr>
          <p:nvPr/>
        </p:nvCxnSpPr>
        <p:spPr bwMode="gray">
          <a:xfrm>
            <a:off x="6091578" y="2818035"/>
            <a:ext cx="2145" cy="2590190"/>
          </a:xfrm>
          <a:prstGeom prst="line">
            <a:avLst/>
          </a:prstGeom>
          <a:ln w="31750">
            <a:solidFill>
              <a:schemeClr val="bg2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961028AA-E7DA-6E83-75E3-2E73D70396C3}"/>
              </a:ext>
            </a:extLst>
          </p:cNvPr>
          <p:cNvCxnSpPr>
            <a:cxnSpLocks/>
          </p:cNvCxnSpPr>
          <p:nvPr/>
        </p:nvCxnSpPr>
        <p:spPr bwMode="gray">
          <a:xfrm>
            <a:off x="10746453" y="2816225"/>
            <a:ext cx="0" cy="2592000"/>
          </a:xfrm>
          <a:prstGeom prst="line">
            <a:avLst/>
          </a:prstGeom>
          <a:ln w="31750">
            <a:solidFill>
              <a:schemeClr val="bg2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FBC88F73-2FBE-D4AE-6746-5E15B8172CF3}"/>
              </a:ext>
            </a:extLst>
          </p:cNvPr>
          <p:cNvSpPr/>
          <p:nvPr/>
        </p:nvSpPr>
        <p:spPr bwMode="gray">
          <a:xfrm>
            <a:off x="600075" y="2353578"/>
            <a:ext cx="1719942" cy="464457"/>
          </a:xfrm>
          <a:prstGeom prst="roundRect">
            <a:avLst/>
          </a:prstGeom>
          <a:solidFill>
            <a:srgbClr val="00968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Requester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7895C79-EC2A-AB0F-FA1D-E152CD4326EC}"/>
              </a:ext>
            </a:extLst>
          </p:cNvPr>
          <p:cNvSpPr/>
          <p:nvPr/>
        </p:nvSpPr>
        <p:spPr bwMode="gray">
          <a:xfrm>
            <a:off x="3287713" y="2353578"/>
            <a:ext cx="5607730" cy="464457"/>
          </a:xfrm>
          <a:prstGeom prst="roundRect">
            <a:avLst/>
          </a:prstGeom>
          <a:solidFill>
            <a:srgbClr val="00968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Endorsing</a:t>
            </a:r>
            <a:r>
              <a:rPr lang="de-DE" b="1" dirty="0">
                <a:solidFill>
                  <a:schemeClr val="bg1"/>
                </a:solidFill>
              </a:rPr>
              <a:t> Peers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150A8A7-B0A8-9DEB-FC82-E1019572E606}"/>
              </a:ext>
            </a:extLst>
          </p:cNvPr>
          <p:cNvSpPr/>
          <p:nvPr/>
        </p:nvSpPr>
        <p:spPr bwMode="gray">
          <a:xfrm>
            <a:off x="9882188" y="2368096"/>
            <a:ext cx="1719942" cy="464457"/>
          </a:xfrm>
          <a:prstGeom prst="roundRect">
            <a:avLst/>
          </a:prstGeom>
          <a:solidFill>
            <a:srgbClr val="00968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 err="1">
                <a:solidFill>
                  <a:schemeClr val="bg1"/>
                </a:solidFill>
              </a:rPr>
              <a:t>Orderer</a:t>
            </a:r>
            <a:endParaRPr lang="de-D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1858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77" grpId="0"/>
      <p:bldP spid="54" grpId="0"/>
      <p:bldP spid="14" grpId="0" animBg="1"/>
      <p:bldP spid="22" grpId="0"/>
      <p:bldP spid="44" grpId="0"/>
      <p:bldP spid="50" grpId="0"/>
      <p:bldP spid="58" grpId="0"/>
      <p:bldP spid="93" grpId="0"/>
      <p:bldP spid="109" grpId="0"/>
      <p:bldP spid="1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E2701F6-8B62-F86C-7830-B6003FF9B5C0}"/>
              </a:ext>
            </a:extLst>
          </p:cNvPr>
          <p:cNvCxnSpPr>
            <a:cxnSpLocks/>
            <a:endCxn id="12" idx="1"/>
          </p:cNvCxnSpPr>
          <p:nvPr/>
        </p:nvCxnSpPr>
        <p:spPr bwMode="gray">
          <a:xfrm>
            <a:off x="4259263" y="3257233"/>
            <a:ext cx="1292222" cy="0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4D080DFB-19A3-1560-BFAE-200B9743C0BD}"/>
              </a:ext>
            </a:extLst>
          </p:cNvPr>
          <p:cNvSpPr/>
          <p:nvPr/>
        </p:nvSpPr>
        <p:spPr bwMode="gray">
          <a:xfrm>
            <a:off x="585788" y="2107883"/>
            <a:ext cx="3673475" cy="2232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DC0989E-AA7F-19DA-22CF-DD3978474A09}"/>
              </a:ext>
            </a:extLst>
          </p:cNvPr>
          <p:cNvCxnSpPr>
            <a:cxnSpLocks/>
            <a:endCxn id="11" idx="1"/>
          </p:cNvCxnSpPr>
          <p:nvPr/>
        </p:nvCxnSpPr>
        <p:spPr bwMode="gray">
          <a:xfrm>
            <a:off x="4148138" y="3486136"/>
            <a:ext cx="1314446" cy="0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09064888-0EE3-7616-D43E-CFE86294B488}"/>
              </a:ext>
            </a:extLst>
          </p:cNvPr>
          <p:cNvSpPr/>
          <p:nvPr/>
        </p:nvSpPr>
        <p:spPr bwMode="gray">
          <a:xfrm>
            <a:off x="479425" y="2215832"/>
            <a:ext cx="3673475" cy="2232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3FDF937-2EE5-7112-EC1F-18938836E76E}"/>
              </a:ext>
            </a:extLst>
          </p:cNvPr>
          <p:cNvSpPr/>
          <p:nvPr/>
        </p:nvSpPr>
        <p:spPr bwMode="gray">
          <a:xfrm>
            <a:off x="371475" y="2323783"/>
            <a:ext cx="3673475" cy="2232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CD4D83-974A-F0C8-32BD-B20A9613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Fundamentals</a:t>
            </a:r>
            <a:br>
              <a:rPr lang="de-DE" dirty="0"/>
            </a:br>
            <a:r>
              <a:rPr lang="de-DE" sz="3600" dirty="0" err="1">
                <a:solidFill>
                  <a:schemeClr val="bg2"/>
                </a:solidFill>
              </a:rPr>
              <a:t>Practical</a:t>
            </a:r>
            <a:r>
              <a:rPr lang="de-DE" sz="3600" dirty="0">
                <a:solidFill>
                  <a:schemeClr val="bg2"/>
                </a:solidFill>
              </a:rPr>
              <a:t> </a:t>
            </a:r>
            <a:r>
              <a:rPr lang="de-DE" sz="3600" dirty="0" err="1">
                <a:solidFill>
                  <a:schemeClr val="bg2"/>
                </a:solidFill>
              </a:rPr>
              <a:t>Example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D9ADD0-E6BD-66DD-6995-AFF44922F9B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2E8F13-8C4C-BC63-4179-1C41CA650DA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557508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570D85-B85A-1F32-363A-A188E81F2B9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49BCCB-95A0-E554-41A6-38D951898F23}"/>
              </a:ext>
            </a:extLst>
          </p:cNvPr>
          <p:cNvSpPr txBox="1"/>
          <p:nvPr/>
        </p:nvSpPr>
        <p:spPr bwMode="gray">
          <a:xfrm>
            <a:off x="1425682" y="2395791"/>
            <a:ext cx="1569930" cy="360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>
                <a:solidFill>
                  <a:schemeClr val="bg1"/>
                </a:solidFill>
              </a:rPr>
              <a:t>Chaincode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2609E65-5EFA-F12B-4A70-271758BF7484}"/>
              </a:ext>
            </a:extLst>
          </p:cNvPr>
          <p:cNvSpPr/>
          <p:nvPr/>
        </p:nvSpPr>
        <p:spPr bwMode="gray">
          <a:xfrm>
            <a:off x="859812" y="2755273"/>
            <a:ext cx="2707300" cy="1741798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0BC43FC-D23B-74EC-6C39-56AED7DB1243}"/>
              </a:ext>
            </a:extLst>
          </p:cNvPr>
          <p:cNvSpPr txBox="1"/>
          <p:nvPr/>
        </p:nvSpPr>
        <p:spPr bwMode="gray">
          <a:xfrm>
            <a:off x="1243255" y="2772853"/>
            <a:ext cx="1942613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Smart </a:t>
            </a:r>
            <a:r>
              <a:rPr lang="de-DE" b="1" dirty="0" err="1">
                <a:solidFill>
                  <a:srgbClr val="002D4C"/>
                </a:solidFill>
              </a:rPr>
              <a:t>Contract</a:t>
            </a:r>
            <a:endParaRPr lang="de-DE" b="1" dirty="0">
              <a:solidFill>
                <a:srgbClr val="002D4C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D5C7D8F-785C-AFD0-D0A5-28E8E56D0D56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Produces</a:t>
            </a:r>
            <a:r>
              <a:rPr lang="de-DE" b="1" dirty="0"/>
              <a:t> a </a:t>
            </a:r>
            <a:r>
              <a:rPr lang="de-DE" b="1" dirty="0" err="1"/>
              <a:t>database</a:t>
            </a:r>
            <a:r>
              <a:rPr lang="de-DE" b="1" dirty="0"/>
              <a:t> </a:t>
            </a:r>
            <a:r>
              <a:rPr lang="de-DE" b="1" dirty="0" err="1"/>
              <a:t>with</a:t>
            </a:r>
            <a:r>
              <a:rPr lang="de-DE" b="1" dirty="0"/>
              <a:t> </a:t>
            </a:r>
            <a:r>
              <a:rPr lang="de-DE" b="1" dirty="0" err="1"/>
              <a:t>decentralized</a:t>
            </a:r>
            <a:r>
              <a:rPr lang="de-DE" b="1" dirty="0"/>
              <a:t> </a:t>
            </a:r>
            <a:r>
              <a:rPr lang="de-DE" b="1" dirty="0" err="1"/>
              <a:t>audited</a:t>
            </a:r>
            <a:r>
              <a:rPr lang="de-DE" b="1" dirty="0"/>
              <a:t> </a:t>
            </a:r>
            <a:r>
              <a:rPr lang="de-DE" b="1" dirty="0" err="1"/>
              <a:t>execution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predefined</a:t>
            </a:r>
            <a:r>
              <a:rPr lang="de-DE" b="1" dirty="0"/>
              <a:t> </a:t>
            </a:r>
            <a:r>
              <a:rPr lang="de-DE" b="1" dirty="0" err="1"/>
              <a:t>functions</a:t>
            </a:r>
            <a:endParaRPr lang="de-DE" b="1" dirty="0"/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6336CC4-E33F-54CD-1010-3EE40540D5C3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37" name="Textplatzhalter 76">
              <a:extLst>
                <a:ext uri="{FF2B5EF4-FFF2-40B4-BE49-F238E27FC236}">
                  <a16:creationId xmlns:a16="http://schemas.microsoft.com/office/drawing/2014/main" id="{A05A6D18-4859-806E-D5E2-4D6997904474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25389B0A-9875-69DE-A77A-D7F4990133E7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hteck 39">
            <a:extLst>
              <a:ext uri="{FF2B5EF4-FFF2-40B4-BE49-F238E27FC236}">
                <a16:creationId xmlns:a16="http://schemas.microsoft.com/office/drawing/2014/main" id="{6CD6BDC2-9C5B-C476-5171-7AFDFC5402B6}"/>
              </a:ext>
            </a:extLst>
          </p:cNvPr>
          <p:cNvSpPr/>
          <p:nvPr/>
        </p:nvSpPr>
        <p:spPr bwMode="gray">
          <a:xfrm>
            <a:off x="8147050" y="2323783"/>
            <a:ext cx="3673475" cy="2232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97D523A-ED00-E0BC-2CF8-6D14FB7B8E74}"/>
              </a:ext>
            </a:extLst>
          </p:cNvPr>
          <p:cNvSpPr txBox="1"/>
          <p:nvPr/>
        </p:nvSpPr>
        <p:spPr bwMode="gray">
          <a:xfrm>
            <a:off x="9198082" y="2389441"/>
            <a:ext cx="1569930" cy="360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World State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E3AE95D-C665-D4F5-A684-71A1F4C2CECD}"/>
              </a:ext>
            </a:extLst>
          </p:cNvPr>
          <p:cNvSpPr/>
          <p:nvPr/>
        </p:nvSpPr>
        <p:spPr bwMode="gray">
          <a:xfrm>
            <a:off x="8613162" y="2729872"/>
            <a:ext cx="2707300" cy="1779897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E26DAE2-5630-EDA8-542A-BFC17F2C445A}"/>
              </a:ext>
            </a:extLst>
          </p:cNvPr>
          <p:cNvSpPr txBox="1"/>
          <p:nvPr/>
        </p:nvSpPr>
        <p:spPr bwMode="gray">
          <a:xfrm>
            <a:off x="8768005" y="2734753"/>
            <a:ext cx="2431807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rgbClr val="002D4C"/>
                </a:solidFill>
              </a:rPr>
              <a:t>Database</a:t>
            </a:r>
          </a:p>
        </p:txBody>
      </p:sp>
      <p:graphicFrame>
        <p:nvGraphicFramePr>
          <p:cNvPr id="45" name="Tabelle 44">
            <a:extLst>
              <a:ext uri="{FF2B5EF4-FFF2-40B4-BE49-F238E27FC236}">
                <a16:creationId xmlns:a16="http://schemas.microsoft.com/office/drawing/2014/main" id="{5BC4D3BE-4174-7A4D-7A96-072E0227A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989955"/>
              </p:ext>
            </p:extLst>
          </p:nvPr>
        </p:nvGraphicFramePr>
        <p:xfrm>
          <a:off x="8731250" y="3072448"/>
          <a:ext cx="2525712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36712">
                  <a:extLst>
                    <a:ext uri="{9D8B030D-6E8A-4147-A177-3AD203B41FA5}">
                      <a16:colId xmlns:a16="http://schemas.microsoft.com/office/drawing/2014/main" val="230247894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71091650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de-DE" sz="1400" dirty="0" err="1"/>
                        <a:t>Proposal</a:t>
                      </a:r>
                      <a:r>
                        <a:rPr lang="de-DE" sz="1400" dirty="0"/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98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err="1"/>
                        <a:t>VotesFor</a:t>
                      </a:r>
                      <a:endParaRPr lang="de-DE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293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 err="1"/>
                        <a:t>VotesAgainst</a:t>
                      </a:r>
                      <a:endParaRPr lang="de-DE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756610"/>
                  </a:ext>
                </a:extLst>
              </a:tr>
            </a:tbl>
          </a:graphicData>
        </a:graphic>
      </p:graphicFrame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6E0FFC3-006F-18DA-15C7-31EAD2007AEB}"/>
              </a:ext>
            </a:extLst>
          </p:cNvPr>
          <p:cNvGrpSpPr/>
          <p:nvPr/>
        </p:nvGrpSpPr>
        <p:grpSpPr>
          <a:xfrm>
            <a:off x="4894000" y="2319214"/>
            <a:ext cx="2277000" cy="746902"/>
            <a:chOff x="7842567" y="2883600"/>
            <a:chExt cx="2277000" cy="746902"/>
          </a:xfrm>
        </p:grpSpPr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434AEAB5-2F64-FCD3-86FC-A2C54806C92F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Rechteck: abgerundete Ecken 47">
              <a:extLst>
                <a:ext uri="{FF2B5EF4-FFF2-40B4-BE49-F238E27FC236}">
                  <a16:creationId xmlns:a16="http://schemas.microsoft.com/office/drawing/2014/main" id="{63800850-3842-F251-AB8D-B56219973A23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Rechteck: abgerundete Ecken 48">
              <a:extLst>
                <a:ext uri="{FF2B5EF4-FFF2-40B4-BE49-F238E27FC236}">
                  <a16:creationId xmlns:a16="http://schemas.microsoft.com/office/drawing/2014/main" id="{B4481E6A-ABDB-7DB5-5361-CD85CA12640F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B58A1932-A019-4894-9589-F95E05C7039E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Rechteck: abgerundete Ecken 50">
              <a:extLst>
                <a:ext uri="{FF2B5EF4-FFF2-40B4-BE49-F238E27FC236}">
                  <a16:creationId xmlns:a16="http://schemas.microsoft.com/office/drawing/2014/main" id="{71249B2C-CAE1-A15D-348F-C60D34A10C40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Rechteck: abgerundete Ecken 51">
              <a:extLst>
                <a:ext uri="{FF2B5EF4-FFF2-40B4-BE49-F238E27FC236}">
                  <a16:creationId xmlns:a16="http://schemas.microsoft.com/office/drawing/2014/main" id="{A8C61EB9-2ED1-46F4-B606-A0CE0A261B2C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Rechteck 57">
            <a:extLst>
              <a:ext uri="{FF2B5EF4-FFF2-40B4-BE49-F238E27FC236}">
                <a16:creationId xmlns:a16="http://schemas.microsoft.com/office/drawing/2014/main" id="{37695536-C653-172E-D0DE-0DC9BE179AC0}"/>
              </a:ext>
            </a:extLst>
          </p:cNvPr>
          <p:cNvSpPr/>
          <p:nvPr/>
        </p:nvSpPr>
        <p:spPr bwMode="gray">
          <a:xfrm>
            <a:off x="6175373" y="2378727"/>
            <a:ext cx="873127" cy="301361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Block</a:t>
            </a: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1576351C-134D-F1FF-1AF0-56E69AA137FD}"/>
              </a:ext>
            </a:extLst>
          </p:cNvPr>
          <p:cNvCxnSpPr>
            <a:cxnSpLocks/>
            <a:stCxn id="53" idx="3"/>
            <a:endCxn id="45" idx="1"/>
          </p:cNvCxnSpPr>
          <p:nvPr/>
        </p:nvCxnSpPr>
        <p:spPr bwMode="gray">
          <a:xfrm>
            <a:off x="6591300" y="2859608"/>
            <a:ext cx="2139950" cy="769100"/>
          </a:xfrm>
          <a:prstGeom prst="line">
            <a:avLst/>
          </a:prstGeom>
          <a:ln w="3175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hteck 52">
            <a:extLst>
              <a:ext uri="{FF2B5EF4-FFF2-40B4-BE49-F238E27FC236}">
                <a16:creationId xmlns:a16="http://schemas.microsoft.com/office/drawing/2014/main" id="{8D5F4884-F1D7-8EA7-6F88-BCE92C693458}"/>
              </a:ext>
            </a:extLst>
          </p:cNvPr>
          <p:cNvSpPr/>
          <p:nvPr/>
        </p:nvSpPr>
        <p:spPr bwMode="gray">
          <a:xfrm>
            <a:off x="6073773" y="2708927"/>
            <a:ext cx="517527" cy="301361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TX</a:t>
            </a: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EF4917C2-2199-DC19-1847-8CDEB591A5F0}"/>
              </a:ext>
            </a:extLst>
          </p:cNvPr>
          <p:cNvCxnSpPr>
            <a:cxnSpLocks/>
            <a:stCxn id="14" idx="3"/>
          </p:cNvCxnSpPr>
          <p:nvPr/>
        </p:nvCxnSpPr>
        <p:spPr bwMode="gray">
          <a:xfrm>
            <a:off x="3465512" y="3730257"/>
            <a:ext cx="1911351" cy="0"/>
          </a:xfrm>
          <a:prstGeom prst="line">
            <a:avLst/>
          </a:prstGeom>
          <a:ln w="3175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04EC3151-B33E-F957-B702-606F84F7B30E}"/>
              </a:ext>
            </a:extLst>
          </p:cNvPr>
          <p:cNvSpPr/>
          <p:nvPr/>
        </p:nvSpPr>
        <p:spPr bwMode="gray">
          <a:xfrm>
            <a:off x="944562" y="3115844"/>
            <a:ext cx="2520950" cy="12288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 err="1">
                <a:solidFill>
                  <a:srgbClr val="002D4C"/>
                </a:solidFill>
              </a:rPr>
              <a:t>function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b="1" dirty="0">
                <a:solidFill>
                  <a:srgbClr val="002D4C"/>
                </a:solidFill>
              </a:rPr>
              <a:t>vote</a:t>
            </a:r>
          </a:p>
          <a:p>
            <a:r>
              <a:rPr lang="de-DE" sz="1400" dirty="0">
                <a:solidFill>
                  <a:srgbClr val="002D4C"/>
                </a:solidFill>
              </a:rPr>
              <a:t>   </a:t>
            </a:r>
            <a:r>
              <a:rPr lang="de-DE" sz="1400" b="1" dirty="0" err="1">
                <a:solidFill>
                  <a:srgbClr val="002D4C"/>
                </a:solidFill>
              </a:rPr>
              <a:t>if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voter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b="1" dirty="0">
                <a:solidFill>
                  <a:srgbClr val="002D4C"/>
                </a:solidFill>
              </a:rPr>
              <a:t>in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members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</a:p>
          <a:p>
            <a:r>
              <a:rPr lang="de-DE" sz="1400" dirty="0">
                <a:solidFill>
                  <a:srgbClr val="002D4C"/>
                </a:solidFill>
              </a:rPr>
              <a:t>      </a:t>
            </a:r>
            <a:r>
              <a:rPr lang="de-DE" sz="1400" dirty="0" err="1">
                <a:solidFill>
                  <a:srgbClr val="002D4C"/>
                </a:solidFill>
              </a:rPr>
              <a:t>recordVote</a:t>
            </a:r>
            <a:r>
              <a:rPr lang="de-DE" sz="1400" dirty="0">
                <a:solidFill>
                  <a:srgbClr val="002D4C"/>
                </a:solidFill>
              </a:rPr>
              <a:t>(</a:t>
            </a:r>
            <a:r>
              <a:rPr lang="de-DE" sz="1400" dirty="0" err="1">
                <a:solidFill>
                  <a:srgbClr val="002D4C"/>
                </a:solidFill>
              </a:rPr>
              <a:t>decision</a:t>
            </a:r>
            <a:r>
              <a:rPr lang="de-DE" sz="1400" dirty="0">
                <a:solidFill>
                  <a:srgbClr val="002D4C"/>
                </a:solidFill>
              </a:rPr>
              <a:t>)</a:t>
            </a:r>
          </a:p>
          <a:p>
            <a:r>
              <a:rPr lang="de-DE" sz="1400" dirty="0">
                <a:solidFill>
                  <a:srgbClr val="002D4C"/>
                </a:solidFill>
              </a:rPr>
              <a:t>   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F7445D5-8EBD-1727-BB04-D3FB3A7DF4F6}"/>
              </a:ext>
            </a:extLst>
          </p:cNvPr>
          <p:cNvSpPr/>
          <p:nvPr/>
        </p:nvSpPr>
        <p:spPr bwMode="gray">
          <a:xfrm>
            <a:off x="10379868" y="3463608"/>
            <a:ext cx="850900" cy="33496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E559C312-5CA7-F6A2-E934-ECA96CBE8651}"/>
              </a:ext>
            </a:extLst>
          </p:cNvPr>
          <p:cNvSpPr txBox="1"/>
          <p:nvPr/>
        </p:nvSpPr>
        <p:spPr bwMode="gray">
          <a:xfrm>
            <a:off x="5147372" y="1998582"/>
            <a:ext cx="1942613" cy="3021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>
                <a:solidFill>
                  <a:srgbClr val="002D4C"/>
                </a:solidFill>
              </a:rPr>
              <a:t>Ledger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2DA6997D-1C36-A9CC-2CF5-479EEA4893B1}"/>
              </a:ext>
            </a:extLst>
          </p:cNvPr>
          <p:cNvSpPr/>
          <p:nvPr/>
        </p:nvSpPr>
        <p:spPr bwMode="gray">
          <a:xfrm>
            <a:off x="6619873" y="2708927"/>
            <a:ext cx="517527" cy="301361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TX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85CA913-7C19-74F5-7735-0E9C15125061}"/>
              </a:ext>
            </a:extLst>
          </p:cNvPr>
          <p:cNvCxnSpPr>
            <a:cxnSpLocks/>
            <a:endCxn id="53" idx="2"/>
          </p:cNvCxnSpPr>
          <p:nvPr/>
        </p:nvCxnSpPr>
        <p:spPr bwMode="gray">
          <a:xfrm flipV="1">
            <a:off x="5700713" y="3010288"/>
            <a:ext cx="631824" cy="731132"/>
          </a:xfrm>
          <a:prstGeom prst="line">
            <a:avLst/>
          </a:prstGeom>
          <a:ln w="3175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464E1644-DF22-FFF0-918B-4F2873526ABE}"/>
              </a:ext>
            </a:extLst>
          </p:cNvPr>
          <p:cNvSpPr/>
          <p:nvPr/>
        </p:nvSpPr>
        <p:spPr bwMode="gray">
          <a:xfrm>
            <a:off x="5551485" y="3102942"/>
            <a:ext cx="652465" cy="308581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R/W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EE1960B-BA38-2616-3BF8-6B9772135F29}"/>
              </a:ext>
            </a:extLst>
          </p:cNvPr>
          <p:cNvSpPr/>
          <p:nvPr/>
        </p:nvSpPr>
        <p:spPr bwMode="gray">
          <a:xfrm>
            <a:off x="5462584" y="3331845"/>
            <a:ext cx="652465" cy="308581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R/W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BDDC239-4162-6601-EEF5-7437BA762721}"/>
              </a:ext>
            </a:extLst>
          </p:cNvPr>
          <p:cNvSpPr/>
          <p:nvPr/>
        </p:nvSpPr>
        <p:spPr bwMode="gray">
          <a:xfrm>
            <a:off x="5381622" y="3590001"/>
            <a:ext cx="652465" cy="308581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R/W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DC41D7B2-9262-EB08-5A42-5FF34E4A71FA}"/>
              </a:ext>
            </a:extLst>
          </p:cNvPr>
          <p:cNvGrpSpPr/>
          <p:nvPr/>
        </p:nvGrpSpPr>
        <p:grpSpPr>
          <a:xfrm>
            <a:off x="6158708" y="3584031"/>
            <a:ext cx="323957" cy="319065"/>
            <a:chOff x="6203950" y="2825279"/>
            <a:chExt cx="432000" cy="432000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0D7E0DC8-12B8-273D-A59A-0098497E887F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205A255E-039C-8C78-21ED-3374493C3772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607CE52F-AF09-04CA-F63F-F1DE0F0115E4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0951553D-EA4E-F47D-3876-3EEDDD4C0B1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C535806C-82EE-8E39-57CE-F5FE73951AB0}"/>
              </a:ext>
            </a:extLst>
          </p:cNvPr>
          <p:cNvSpPr txBox="1">
            <a:spLocks/>
          </p:cNvSpPr>
          <p:nvPr/>
        </p:nvSpPr>
        <p:spPr>
          <a:xfrm>
            <a:off x="381000" y="5868504"/>
            <a:ext cx="8163272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[7] </a:t>
            </a:r>
            <a:r>
              <a:rPr lang="en-US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Androulaki</a:t>
            </a: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et al. (2018). Hyperledger Fabric: A distributed operating system for permissioned blockchains</a:t>
            </a:r>
            <a:endParaRPr lang="de-DE" sz="1100" dirty="0">
              <a:solidFill>
                <a:srgbClr val="002D4C"/>
              </a:solidFill>
              <a:latin typeface="Arial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0582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0 L -0.01367 0.070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0" y="351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33333E-6 L -0.00638 0.0379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" y="189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0" grpId="0" animBg="1"/>
      <p:bldP spid="41" grpId="0"/>
      <p:bldP spid="42" grpId="0" animBg="1"/>
      <p:bldP spid="44" grpId="0"/>
      <p:bldP spid="58" grpId="0" animBg="1"/>
      <p:bldP spid="53" grpId="0" animBg="1"/>
      <p:bldP spid="76" grpId="0" animBg="1"/>
      <p:bldP spid="77" grpId="0"/>
      <p:bldP spid="57" grpId="0" animBg="1"/>
      <p:bldP spid="12" grpId="0" animBg="1"/>
      <p:bldP spid="12" grpId="1" animBg="1"/>
      <p:bldP spid="11" grpId="0" animBg="1"/>
      <p:bldP spid="11" grpId="1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E8A4-717A-7645-09CF-D86774BE8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E05C67D-760D-8B82-EBCF-2605DC670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D43A1-3945-6434-7653-ACC1D33C6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D002D-5DDF-E3CA-D84D-483D60AE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78265-BDEB-C78C-D15F-77192010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de-DE" smtClean="0"/>
              <a:pPr/>
              <a:t>13</a:t>
            </a:fld>
            <a:endParaRPr lang="de-DE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775C944-AADC-6D46-1FEA-5C30694CB3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14179" b="-215"/>
          <a:stretch/>
        </p:blipFill>
        <p:spPr>
          <a:xfrm>
            <a:off x="0" y="1"/>
            <a:ext cx="12191999" cy="382428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85EA0A-45C8-4F6D-6B52-29C4557B6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Chapter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50F75E-0936-7E14-B8B6-886E4204DF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373386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C3E4DF-6A75-AB3E-1D06-3FD5DEAF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Structured </a:t>
            </a:r>
            <a:r>
              <a:rPr lang="de-DE" sz="3200" dirty="0" err="1">
                <a:solidFill>
                  <a:schemeClr val="bg2"/>
                </a:solidFill>
              </a:rPr>
              <a:t>Literature</a:t>
            </a:r>
            <a:r>
              <a:rPr lang="de-DE" sz="3200" dirty="0">
                <a:solidFill>
                  <a:schemeClr val="bg2"/>
                </a:solidFill>
              </a:rPr>
              <a:t> Research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4A6C27-479D-9D4D-7FF2-6FC69194B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1800" b="1" dirty="0"/>
              <a:t>Goal: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Analyze </a:t>
            </a:r>
            <a:r>
              <a:rPr lang="de-DE" sz="1800" dirty="0" err="1"/>
              <a:t>blockchain</a:t>
            </a:r>
            <a:r>
              <a:rPr lang="de-DE" sz="1800" dirty="0"/>
              <a:t> </a:t>
            </a:r>
            <a:r>
              <a:rPr lang="de-DE" sz="1800" dirty="0" err="1"/>
              <a:t>based</a:t>
            </a:r>
            <a:r>
              <a:rPr lang="de-DE" sz="1800" dirty="0"/>
              <a:t> </a:t>
            </a:r>
            <a:r>
              <a:rPr lang="de-DE" sz="1800" dirty="0" err="1"/>
              <a:t>solutions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certificate</a:t>
            </a:r>
            <a:r>
              <a:rPr lang="de-DE" sz="1800" dirty="0"/>
              <a:t> </a:t>
            </a:r>
            <a:r>
              <a:rPr lang="de-DE" sz="1800" dirty="0" err="1"/>
              <a:t>management</a:t>
            </a:r>
            <a:r>
              <a:rPr lang="de-DE" sz="1800" dirty="0"/>
              <a:t> in </a:t>
            </a:r>
            <a:r>
              <a:rPr lang="de-DE" sz="1800" dirty="0" err="1"/>
              <a:t>the</a:t>
            </a:r>
            <a:r>
              <a:rPr lang="de-DE" sz="1800" dirty="0"/>
              <a:t> IT </a:t>
            </a:r>
            <a:r>
              <a:rPr lang="de-DE" sz="1800" dirty="0" err="1"/>
              <a:t>domain</a:t>
            </a: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 err="1"/>
              <a:t>Identify</a:t>
            </a:r>
            <a:r>
              <a:rPr lang="de-DE" sz="1800" dirty="0"/>
              <a:t> </a:t>
            </a:r>
            <a:r>
              <a:rPr lang="de-DE" sz="1800" dirty="0" err="1"/>
              <a:t>architectures</a:t>
            </a:r>
            <a:r>
              <a:rPr lang="de-DE" sz="1800" dirty="0"/>
              <a:t> </a:t>
            </a:r>
            <a:r>
              <a:rPr lang="de-DE" sz="1800" dirty="0" err="1"/>
              <a:t>that</a:t>
            </a:r>
            <a:r>
              <a:rPr lang="de-DE" sz="1800" dirty="0"/>
              <a:t> </a:t>
            </a:r>
            <a:r>
              <a:rPr lang="de-DE" sz="1800" dirty="0" err="1"/>
              <a:t>could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transferred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modular </a:t>
            </a:r>
            <a:r>
              <a:rPr lang="de-DE" sz="1800" dirty="0" err="1"/>
              <a:t>automation</a:t>
            </a:r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b="1" dirty="0"/>
          </a:p>
          <a:p>
            <a:endParaRPr lang="de-DE" sz="1800" b="1" dirty="0"/>
          </a:p>
          <a:p>
            <a:endParaRPr lang="de-DE" sz="1800" b="1" dirty="0"/>
          </a:p>
          <a:p>
            <a:endParaRPr lang="de-DE" sz="1800" b="1" dirty="0"/>
          </a:p>
          <a:p>
            <a:endParaRPr lang="de-DE" sz="1800" b="1" dirty="0"/>
          </a:p>
          <a:p>
            <a:r>
              <a:rPr lang="de-DE" sz="1800" b="1" dirty="0" err="1"/>
              <a:t>Result</a:t>
            </a:r>
            <a:r>
              <a:rPr lang="de-DE" sz="1800" b="1" dirty="0"/>
              <a:t> </a:t>
            </a:r>
            <a:r>
              <a:rPr lang="de-DE" sz="1800" b="1" dirty="0" err="1"/>
              <a:t>to</a:t>
            </a:r>
            <a:r>
              <a:rPr lang="de-DE" sz="1800" b="1" dirty="0"/>
              <a:t> </a:t>
            </a:r>
            <a:r>
              <a:rPr lang="de-DE" sz="1800" b="1" dirty="0" err="1"/>
              <a:t>categorize</a:t>
            </a:r>
            <a:r>
              <a:rPr lang="de-DE" sz="1800" b="1" dirty="0"/>
              <a:t> </a:t>
            </a:r>
            <a:r>
              <a:rPr lang="de-DE" sz="1800" b="1" dirty="0" err="1"/>
              <a:t>publications</a:t>
            </a:r>
            <a:r>
              <a:rPr lang="de-DE" sz="18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Five </a:t>
            </a:r>
            <a:r>
              <a:rPr lang="de-DE" sz="1800" dirty="0" err="1"/>
              <a:t>general</a:t>
            </a:r>
            <a:r>
              <a:rPr lang="de-DE" sz="1800" dirty="0"/>
              <a:t> </a:t>
            </a:r>
            <a:r>
              <a:rPr lang="de-DE" sz="1800" dirty="0" err="1"/>
              <a:t>system</a:t>
            </a:r>
            <a:r>
              <a:rPr lang="de-DE" sz="1800" dirty="0"/>
              <a:t> </a:t>
            </a:r>
            <a:r>
              <a:rPr lang="de-DE" sz="1800" dirty="0" err="1"/>
              <a:t>structures</a:t>
            </a:r>
            <a:endParaRPr lang="de-DE" sz="18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07AD19-C945-05B7-9018-0C1267ABD3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8C0523-507C-312B-9396-4458409D93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412366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85A7EA-F290-F678-FF3C-5947879AE5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14</a:t>
            </a:fld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8671B32-18CB-9937-5CD5-AEE08D7367FE}"/>
              </a:ext>
            </a:extLst>
          </p:cNvPr>
          <p:cNvCxnSpPr>
            <a:cxnSpLocks/>
            <a:stCxn id="56" idx="2"/>
            <a:endCxn id="21" idx="0"/>
          </p:cNvCxnSpPr>
          <p:nvPr/>
        </p:nvCxnSpPr>
        <p:spPr bwMode="gray">
          <a:xfrm>
            <a:off x="9240838" y="4332288"/>
            <a:ext cx="396" cy="1027112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5A04046B-CB0F-93AD-8542-1A6143750A95}"/>
              </a:ext>
            </a:extLst>
          </p:cNvPr>
          <p:cNvCxnSpPr>
            <a:cxnSpLocks/>
            <a:stCxn id="56" idx="2"/>
            <a:endCxn id="22" idx="0"/>
          </p:cNvCxnSpPr>
          <p:nvPr/>
        </p:nvCxnSpPr>
        <p:spPr bwMode="gray">
          <a:xfrm flipH="1">
            <a:off x="8190111" y="4332288"/>
            <a:ext cx="1050727" cy="1027112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1A391B62-13FC-D794-8E49-2E4172F57788}"/>
              </a:ext>
            </a:extLst>
          </p:cNvPr>
          <p:cNvCxnSpPr>
            <a:cxnSpLocks/>
            <a:stCxn id="56" idx="2"/>
            <a:endCxn id="23" idx="0"/>
          </p:cNvCxnSpPr>
          <p:nvPr/>
        </p:nvCxnSpPr>
        <p:spPr bwMode="gray">
          <a:xfrm flipH="1">
            <a:off x="7138988" y="4332288"/>
            <a:ext cx="2101850" cy="1027112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399AAF8-32C2-1040-06F6-75E9981C09EB}"/>
              </a:ext>
            </a:extLst>
          </p:cNvPr>
          <p:cNvCxnSpPr>
            <a:cxnSpLocks/>
            <a:stCxn id="56" idx="2"/>
            <a:endCxn id="20" idx="0"/>
          </p:cNvCxnSpPr>
          <p:nvPr/>
        </p:nvCxnSpPr>
        <p:spPr bwMode="gray">
          <a:xfrm>
            <a:off x="9240838" y="4332288"/>
            <a:ext cx="1051519" cy="1027112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F3D726BB-C4E6-3352-02D8-4AC91DBF28DD}"/>
              </a:ext>
            </a:extLst>
          </p:cNvPr>
          <p:cNvCxnSpPr>
            <a:cxnSpLocks/>
            <a:stCxn id="56" idx="2"/>
            <a:endCxn id="19" idx="0"/>
          </p:cNvCxnSpPr>
          <p:nvPr/>
        </p:nvCxnSpPr>
        <p:spPr bwMode="gray">
          <a:xfrm>
            <a:off x="9240838" y="4332288"/>
            <a:ext cx="2102643" cy="1027112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03F6374-7341-11D1-3780-47AE2B9AAA60}"/>
              </a:ext>
            </a:extLst>
          </p:cNvPr>
          <p:cNvCxnSpPr>
            <a:cxnSpLocks/>
            <a:stCxn id="43" idx="2"/>
            <a:endCxn id="56" idx="0"/>
          </p:cNvCxnSpPr>
          <p:nvPr/>
        </p:nvCxnSpPr>
        <p:spPr bwMode="gray">
          <a:xfrm flipH="1">
            <a:off x="9240838" y="2263775"/>
            <a:ext cx="396" cy="938213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D614186B-EFAF-DD9C-B055-2944CEF9E9CC}"/>
              </a:ext>
            </a:extLst>
          </p:cNvPr>
          <p:cNvCxnSpPr>
            <a:cxnSpLocks/>
            <a:stCxn id="44" idx="2"/>
            <a:endCxn id="56" idx="0"/>
          </p:cNvCxnSpPr>
          <p:nvPr/>
        </p:nvCxnSpPr>
        <p:spPr bwMode="gray">
          <a:xfrm flipH="1">
            <a:off x="9240838" y="2263775"/>
            <a:ext cx="1042194" cy="938213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D520205D-E016-8A96-F186-06326CC04692}"/>
              </a:ext>
            </a:extLst>
          </p:cNvPr>
          <p:cNvCxnSpPr>
            <a:cxnSpLocks/>
            <a:stCxn id="45" idx="2"/>
            <a:endCxn id="56" idx="0"/>
          </p:cNvCxnSpPr>
          <p:nvPr/>
        </p:nvCxnSpPr>
        <p:spPr bwMode="gray">
          <a:xfrm flipH="1">
            <a:off x="9240838" y="2268538"/>
            <a:ext cx="2096294" cy="93345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36308D6E-8B23-30F4-0A3A-F5B416A46D94}"/>
              </a:ext>
            </a:extLst>
          </p:cNvPr>
          <p:cNvCxnSpPr>
            <a:cxnSpLocks/>
            <a:stCxn id="42" idx="2"/>
            <a:endCxn id="56" idx="0"/>
          </p:cNvCxnSpPr>
          <p:nvPr/>
        </p:nvCxnSpPr>
        <p:spPr bwMode="gray">
          <a:xfrm>
            <a:off x="8187134" y="2263775"/>
            <a:ext cx="1053704" cy="938213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D08C3B94-67F4-6117-010A-ED3B71EA1A29}"/>
              </a:ext>
            </a:extLst>
          </p:cNvPr>
          <p:cNvCxnSpPr>
            <a:cxnSpLocks/>
            <a:stCxn id="41" idx="2"/>
            <a:endCxn id="56" idx="0"/>
          </p:cNvCxnSpPr>
          <p:nvPr/>
        </p:nvCxnSpPr>
        <p:spPr bwMode="gray">
          <a:xfrm>
            <a:off x="7133034" y="2268538"/>
            <a:ext cx="2107804" cy="93345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5D957E0A-172E-1B84-B405-DD7B495D32AF}"/>
              </a:ext>
            </a:extLst>
          </p:cNvPr>
          <p:cNvSpPr/>
          <p:nvPr/>
        </p:nvSpPr>
        <p:spPr bwMode="gray">
          <a:xfrm>
            <a:off x="7900988" y="3201988"/>
            <a:ext cx="2679700" cy="1130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Screening </a:t>
            </a:r>
            <a:r>
              <a:rPr lang="de-DE" sz="1400" b="1" dirty="0" err="1">
                <a:solidFill>
                  <a:schemeClr val="tx1"/>
                </a:solidFill>
              </a:rPr>
              <a:t>process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based</a:t>
            </a:r>
            <a:r>
              <a:rPr lang="de-DE" sz="1400" b="1" dirty="0">
                <a:solidFill>
                  <a:schemeClr val="tx1"/>
                </a:solidFill>
              </a:rPr>
              <a:t> on </a:t>
            </a:r>
            <a:r>
              <a:rPr lang="de-DE" sz="1400" b="1" dirty="0" err="1">
                <a:solidFill>
                  <a:schemeClr val="tx1"/>
                </a:solidFill>
              </a:rPr>
              <a:t>requirements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FB24CFE6-E758-0D66-3294-FFFD51DE62A8}"/>
              </a:ext>
            </a:extLst>
          </p:cNvPr>
          <p:cNvSpPr/>
          <p:nvPr/>
        </p:nvSpPr>
        <p:spPr bwMode="gray">
          <a:xfrm>
            <a:off x="6649640" y="1773238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Scholar</a:t>
            </a:r>
            <a:br>
              <a:rPr lang="de-DE" sz="1400" dirty="0">
                <a:solidFill>
                  <a:schemeClr val="tx1"/>
                </a:solidFill>
              </a:rPr>
            </a:br>
            <a:r>
              <a:rPr lang="de-DE" sz="1400" dirty="0">
                <a:solidFill>
                  <a:schemeClr val="tx1"/>
                </a:solidFill>
              </a:rPr>
              <a:t>(364)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65AABD8-7727-FBC8-7D22-0D4ED32877EA}"/>
              </a:ext>
            </a:extLst>
          </p:cNvPr>
          <p:cNvSpPr/>
          <p:nvPr/>
        </p:nvSpPr>
        <p:spPr bwMode="gray">
          <a:xfrm>
            <a:off x="7703740" y="1768475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KIT</a:t>
            </a:r>
            <a:br>
              <a:rPr lang="de-DE" sz="1400" dirty="0">
                <a:solidFill>
                  <a:schemeClr val="tx1"/>
                </a:solidFill>
              </a:rPr>
            </a:br>
            <a:r>
              <a:rPr lang="de-DE" sz="1400" dirty="0">
                <a:solidFill>
                  <a:schemeClr val="tx1"/>
                </a:solidFill>
              </a:rPr>
              <a:t>(851)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F17CC72-869F-9930-245F-06CAC000BD7D}"/>
              </a:ext>
            </a:extLst>
          </p:cNvPr>
          <p:cNvSpPr/>
          <p:nvPr/>
        </p:nvSpPr>
        <p:spPr bwMode="gray">
          <a:xfrm>
            <a:off x="8757840" y="1768475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 err="1">
                <a:solidFill>
                  <a:schemeClr val="tx1"/>
                </a:solidFill>
              </a:rPr>
              <a:t>Others</a:t>
            </a:r>
            <a:br>
              <a:rPr lang="de-DE" sz="1400" dirty="0">
                <a:solidFill>
                  <a:schemeClr val="tx1"/>
                </a:solidFill>
              </a:rPr>
            </a:br>
            <a:r>
              <a:rPr lang="de-DE" sz="1400" dirty="0">
                <a:solidFill>
                  <a:schemeClr val="tx1"/>
                </a:solidFill>
              </a:rPr>
              <a:t>(21)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186614E0-D68C-1E11-ADA4-E98900A1DA5B}"/>
              </a:ext>
            </a:extLst>
          </p:cNvPr>
          <p:cNvSpPr/>
          <p:nvPr/>
        </p:nvSpPr>
        <p:spPr bwMode="gray">
          <a:xfrm>
            <a:off x="9799638" y="1768475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IEEE</a:t>
            </a:r>
            <a:br>
              <a:rPr lang="de-DE" sz="1400" dirty="0">
                <a:solidFill>
                  <a:schemeClr val="tx1"/>
                </a:solidFill>
              </a:rPr>
            </a:br>
            <a:r>
              <a:rPr lang="de-DE" sz="1400" dirty="0">
                <a:solidFill>
                  <a:schemeClr val="tx1"/>
                </a:solidFill>
              </a:rPr>
              <a:t>(177)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3C7B0A9C-E21F-FC22-B5FF-C75430A51221}"/>
              </a:ext>
            </a:extLst>
          </p:cNvPr>
          <p:cNvSpPr/>
          <p:nvPr/>
        </p:nvSpPr>
        <p:spPr bwMode="gray">
          <a:xfrm>
            <a:off x="10853738" y="1773238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Scopus</a:t>
            </a:r>
            <a:br>
              <a:rPr lang="de-DE" sz="1400" dirty="0">
                <a:solidFill>
                  <a:schemeClr val="tx1"/>
                </a:solidFill>
              </a:rPr>
            </a:br>
            <a:r>
              <a:rPr lang="de-DE" sz="1400" dirty="0">
                <a:solidFill>
                  <a:schemeClr val="tx1"/>
                </a:solidFill>
              </a:rPr>
              <a:t>(369)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4F38359-D42E-7EBC-E0CE-BD7E5C87DBC5}"/>
              </a:ext>
            </a:extLst>
          </p:cNvPr>
          <p:cNvSpPr/>
          <p:nvPr/>
        </p:nvSpPr>
        <p:spPr bwMode="gray">
          <a:xfrm>
            <a:off x="10860087" y="5359400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Type 5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(20)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52DEBFB-31F2-588E-5CF5-31369D6D8DB1}"/>
              </a:ext>
            </a:extLst>
          </p:cNvPr>
          <p:cNvSpPr/>
          <p:nvPr/>
        </p:nvSpPr>
        <p:spPr bwMode="gray">
          <a:xfrm>
            <a:off x="9808963" y="5359400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Type 4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(13)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216A83D-923E-9C0F-F215-E5C25C6820B0}"/>
              </a:ext>
            </a:extLst>
          </p:cNvPr>
          <p:cNvSpPr/>
          <p:nvPr/>
        </p:nvSpPr>
        <p:spPr bwMode="gray">
          <a:xfrm>
            <a:off x="8757840" y="5359400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Type 3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(9)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74C8647-5318-4060-34D1-AEDE29EBD56E}"/>
              </a:ext>
            </a:extLst>
          </p:cNvPr>
          <p:cNvSpPr/>
          <p:nvPr/>
        </p:nvSpPr>
        <p:spPr bwMode="gray">
          <a:xfrm>
            <a:off x="7706717" y="5359400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Type 2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(13)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708BBEC-E076-DB10-946F-A5D803AEB7B6}"/>
              </a:ext>
            </a:extLst>
          </p:cNvPr>
          <p:cNvSpPr/>
          <p:nvPr/>
        </p:nvSpPr>
        <p:spPr bwMode="gray">
          <a:xfrm>
            <a:off x="6655594" y="5359400"/>
            <a:ext cx="966787" cy="495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Type 1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(27)</a:t>
            </a:r>
          </a:p>
        </p:txBody>
      </p:sp>
    </p:spTree>
    <p:extLst>
      <p:ext uri="{BB962C8B-B14F-4D97-AF65-F5344CB8AC3E}">
        <p14:creationId xmlns:p14="http://schemas.microsoft.com/office/powerpoint/2010/main" val="30780137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31856-CB9A-1C55-EB17-810E6440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0D471B2F-A122-B381-34AB-8322C6DE7E3B}"/>
              </a:ext>
            </a:extLst>
          </p:cNvPr>
          <p:cNvCxnSpPr>
            <a:cxnSpLocks/>
          </p:cNvCxnSpPr>
          <p:nvPr/>
        </p:nvCxnSpPr>
        <p:spPr bwMode="gray">
          <a:xfrm>
            <a:off x="9182087" y="2276872"/>
            <a:ext cx="0" cy="69441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A6173B5C-27FA-26CD-3369-BE29832D77C4}"/>
              </a:ext>
            </a:extLst>
          </p:cNvPr>
          <p:cNvCxnSpPr>
            <a:cxnSpLocks/>
          </p:cNvCxnSpPr>
          <p:nvPr/>
        </p:nvCxnSpPr>
        <p:spPr bwMode="gray">
          <a:xfrm flipV="1">
            <a:off x="7648575" y="3717032"/>
            <a:ext cx="614855" cy="969268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87A758BA-D558-BC10-F783-32EAE1BD32BA}"/>
              </a:ext>
            </a:extLst>
          </p:cNvPr>
          <p:cNvCxnSpPr>
            <a:cxnSpLocks/>
          </p:cNvCxnSpPr>
          <p:nvPr/>
        </p:nvCxnSpPr>
        <p:spPr bwMode="gray">
          <a:xfrm flipV="1">
            <a:off x="8410575" y="3717032"/>
            <a:ext cx="276114" cy="978793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BA769C77-FF19-263A-BB7A-C48817E96315}"/>
              </a:ext>
            </a:extLst>
          </p:cNvPr>
          <p:cNvCxnSpPr>
            <a:cxnSpLocks/>
          </p:cNvCxnSpPr>
          <p:nvPr/>
        </p:nvCxnSpPr>
        <p:spPr bwMode="gray">
          <a:xfrm flipV="1">
            <a:off x="9172593" y="3717032"/>
            <a:ext cx="0" cy="978793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AFEC46D3-E6AE-3428-AFAC-E50A47D9CC7D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9629423" y="3717032"/>
            <a:ext cx="286102" cy="959743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8351191C-68A7-958A-0D54-1018CB8F8D13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0086252" y="3717032"/>
            <a:ext cx="586511" cy="959743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068D3925-862B-F8F5-82F1-2E61417A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Blockchain-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1368E5-7E45-1C61-C104-5ADB1E809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1800" b="1" dirty="0"/>
              <a:t>Type 1-3:</a:t>
            </a:r>
          </a:p>
          <a:p>
            <a:r>
              <a:rPr lang="de-DE" sz="1800" b="1" dirty="0"/>
              <a:t>Still CA </a:t>
            </a:r>
            <a:r>
              <a:rPr lang="de-DE" sz="1800" b="1" dirty="0" err="1"/>
              <a:t>based</a:t>
            </a:r>
            <a:r>
              <a:rPr lang="de-DE" sz="1800" b="1" dirty="0"/>
              <a:t> </a:t>
            </a:r>
            <a:r>
              <a:rPr lang="de-DE" sz="1800" b="1" dirty="0" err="1"/>
              <a:t>with</a:t>
            </a:r>
            <a:r>
              <a:rPr lang="de-DE" sz="1800" b="1" dirty="0"/>
              <a:t> </a:t>
            </a:r>
            <a:r>
              <a:rPr lang="de-DE" sz="1800" b="1" dirty="0" err="1"/>
              <a:t>increasing</a:t>
            </a:r>
            <a:r>
              <a:rPr lang="de-DE" sz="1800" b="1" dirty="0"/>
              <a:t> </a:t>
            </a:r>
            <a:r>
              <a:rPr lang="de-DE" sz="1800" b="1" dirty="0" err="1"/>
              <a:t>auditing</a:t>
            </a:r>
            <a:r>
              <a:rPr lang="de-DE" sz="1800" b="1" dirty="0"/>
              <a:t> </a:t>
            </a:r>
            <a:r>
              <a:rPr lang="de-DE" sz="1800" b="1" dirty="0" err="1"/>
              <a:t>function</a:t>
            </a:r>
            <a:r>
              <a:rPr lang="de-DE" sz="1800" b="1" dirty="0"/>
              <a:t> </a:t>
            </a:r>
            <a:r>
              <a:rPr lang="de-DE" sz="1800" b="1" dirty="0" err="1"/>
              <a:t>of</a:t>
            </a:r>
            <a:r>
              <a:rPr lang="de-DE" sz="1800" b="1" dirty="0"/>
              <a:t> </a:t>
            </a:r>
            <a:r>
              <a:rPr lang="de-DE" sz="1800" b="1" dirty="0" err="1"/>
              <a:t>the</a:t>
            </a:r>
            <a:r>
              <a:rPr lang="de-DE" sz="1800" b="1" dirty="0"/>
              <a:t> </a:t>
            </a:r>
            <a:r>
              <a:rPr lang="de-DE" sz="1800" b="1" dirty="0" err="1"/>
              <a:t>blockchain</a:t>
            </a:r>
            <a:r>
              <a:rPr lang="de-DE" sz="1800" b="1" dirty="0"/>
              <a:t> network</a:t>
            </a:r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Compatible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PKI </a:t>
            </a:r>
            <a:r>
              <a:rPr lang="de-DE" sz="1800" dirty="0" err="1"/>
              <a:t>standards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/>
              <a:t>Self-</a:t>
            </a:r>
            <a:r>
              <a:rPr lang="de-DE" sz="1800" dirty="0" err="1"/>
              <a:t>sufficient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No</a:t>
            </a:r>
            <a:r>
              <a:rPr lang="de-DE" sz="1800" dirty="0"/>
              <a:t> </a:t>
            </a:r>
            <a:r>
              <a:rPr lang="de-DE" sz="1800" dirty="0" err="1"/>
              <a:t>centralized</a:t>
            </a:r>
            <a:r>
              <a:rPr lang="de-DE" sz="1800" dirty="0"/>
              <a:t> root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trust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11D777-17C7-7F0A-63A8-7A7D7360566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07E181-0345-782D-349B-E14EE69DEB5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361566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1F60BE-8430-3946-2AC8-2D32198A80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15</a:t>
            </a:fld>
            <a:endParaRPr lang="de-DE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3519D600-4699-B3AD-6435-ED741828AE66}"/>
              </a:ext>
            </a:extLst>
          </p:cNvPr>
          <p:cNvGrpSpPr/>
          <p:nvPr/>
        </p:nvGrpSpPr>
        <p:grpSpPr>
          <a:xfrm>
            <a:off x="558300" y="3246202"/>
            <a:ext cx="323957" cy="321940"/>
            <a:chOff x="6817001" y="3335951"/>
            <a:chExt cx="432000" cy="432000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776FF8A-0D00-FBCD-00EB-D94DB8A05A8D}"/>
                </a:ext>
              </a:extLst>
            </p:cNvPr>
            <p:cNvSpPr/>
            <p:nvPr/>
          </p:nvSpPr>
          <p:spPr bwMode="gray">
            <a:xfrm>
              <a:off x="6817001" y="3335951"/>
              <a:ext cx="432000" cy="432000"/>
            </a:xfrm>
            <a:prstGeom prst="ellipse">
              <a:avLst/>
            </a:prstGeom>
            <a:solidFill>
              <a:srgbClr val="D30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FE65B0A6-196D-7B21-C3F6-7A1F6283FA60}"/>
                </a:ext>
              </a:extLst>
            </p:cNvPr>
            <p:cNvGrpSpPr/>
            <p:nvPr/>
          </p:nvGrpSpPr>
          <p:grpSpPr>
            <a:xfrm>
              <a:off x="6945062" y="3464012"/>
              <a:ext cx="175878" cy="175878"/>
              <a:chOff x="7104112" y="2564904"/>
              <a:chExt cx="360313" cy="360313"/>
            </a:xfrm>
          </p:grpSpPr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4841B280-ACE3-B8EA-861C-2547053F5152}"/>
                  </a:ext>
                </a:extLst>
              </p:cNvPr>
              <p:cNvCxnSpPr/>
              <p:nvPr/>
            </p:nvCxnSpPr>
            <p:spPr bwMode="gray">
              <a:xfrm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AD3BC1FB-BB63-EB0B-8BC2-72E4B44AC08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A7F13AF9-59F1-4DF5-2A1A-EB44A0812C47}"/>
              </a:ext>
            </a:extLst>
          </p:cNvPr>
          <p:cNvGrpSpPr/>
          <p:nvPr/>
        </p:nvGrpSpPr>
        <p:grpSpPr>
          <a:xfrm>
            <a:off x="560796" y="2535805"/>
            <a:ext cx="323957" cy="319065"/>
            <a:chOff x="6203950" y="2825279"/>
            <a:chExt cx="432000" cy="432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3C174E4-BA86-E440-3EB9-B12698750555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4E7229D5-1170-2876-40AF-7C7ECB5694F4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EBDE22B6-3067-9582-EB7C-EDEC9DCD3B14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742C11E8-F7BF-4467-D09F-5BD34E21A48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Textplatzhalter 76">
            <a:extLst>
              <a:ext uri="{FF2B5EF4-FFF2-40B4-BE49-F238E27FC236}">
                <a16:creationId xmlns:a16="http://schemas.microsoft.com/office/drawing/2014/main" id="{54A0E9C0-341E-33E0-5161-3378263A06FE}"/>
              </a:ext>
            </a:extLst>
          </p:cNvPr>
          <p:cNvSpPr txBox="1">
            <a:spLocks/>
          </p:cNvSpPr>
          <p:nvPr/>
        </p:nvSpPr>
        <p:spPr bwMode="gray">
          <a:xfrm>
            <a:off x="8730000" y="1592263"/>
            <a:ext cx="907200" cy="68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800" dirty="0">
                <a:solidFill>
                  <a:schemeClr val="bg1"/>
                </a:solidFill>
              </a:rPr>
              <a:t>CA</a:t>
            </a: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E85F4D0D-9179-4BBB-D9CC-6FF0C79E1CB8}"/>
              </a:ext>
            </a:extLst>
          </p:cNvPr>
          <p:cNvGrpSpPr/>
          <p:nvPr/>
        </p:nvGrpSpPr>
        <p:grpSpPr>
          <a:xfrm>
            <a:off x="8038840" y="2971288"/>
            <a:ext cx="2277000" cy="746902"/>
            <a:chOff x="7842567" y="2883600"/>
            <a:chExt cx="2277000" cy="746902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1DE82C78-B0C5-1434-EEA3-D2E253C6822D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EC7A236B-23EF-A6E9-B241-39404494BE96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262BD66A-2CD8-78FF-0FF1-632DB998D227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5BC8A9FF-A7EF-E094-3DED-C935735CB42E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EB03893E-519B-6203-7ED9-5B7E77EE0354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5BBEC269-5BD4-1EB1-92DF-B13B9598DB5E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8" name="Textfeld 37">
            <a:extLst>
              <a:ext uri="{FF2B5EF4-FFF2-40B4-BE49-F238E27FC236}">
                <a16:creationId xmlns:a16="http://schemas.microsoft.com/office/drawing/2014/main" id="{3C35FC20-ED4C-51EA-7D3F-1D1DA24BCA6A}"/>
              </a:ext>
            </a:extLst>
          </p:cNvPr>
          <p:cNvSpPr txBox="1"/>
          <p:nvPr/>
        </p:nvSpPr>
        <p:spPr bwMode="gray">
          <a:xfrm>
            <a:off x="9305042" y="2465872"/>
            <a:ext cx="1725815" cy="3974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Manages</a:t>
            </a:r>
            <a:r>
              <a:rPr lang="de-DE" sz="1400" dirty="0"/>
              <a:t> </a:t>
            </a:r>
            <a:r>
              <a:rPr lang="de-DE" sz="1400" dirty="0" err="1"/>
              <a:t>certificates</a:t>
            </a:r>
            <a:endParaRPr lang="de-DE" sz="1400" dirty="0"/>
          </a:p>
        </p:txBody>
      </p: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04A15C33-7493-2EC6-64C9-6CC4A12D5BCA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902593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45CBA70D-2ADB-25CC-C75A-F0D58B020B0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658497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A44BF007-A60E-8A83-F622-0FE60D72B66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46689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E6C0E7BB-0763-B7B3-40BA-982A41272142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90785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990B536B-B8F3-15E1-05D3-E4460C06ADAF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414401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CFE91A9-110B-169B-316A-DDA49B388CE5}"/>
              </a:ext>
            </a:extLst>
          </p:cNvPr>
          <p:cNvSpPr/>
          <p:nvPr/>
        </p:nvSpPr>
        <p:spPr bwMode="gray">
          <a:xfrm>
            <a:off x="9237663" y="3052763"/>
            <a:ext cx="1019175" cy="609600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pic>
        <p:nvPicPr>
          <p:cNvPr id="61" name="Grafik 60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C0DD8043-B296-B386-201C-39CA1CF14E2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46633" y="3109227"/>
            <a:ext cx="471025" cy="471025"/>
          </a:xfrm>
          <a:prstGeom prst="rect">
            <a:avLst/>
          </a:prstGeom>
        </p:spPr>
      </p:pic>
      <p:sp>
        <p:nvSpPr>
          <p:cNvPr id="46" name="Textfeld 45">
            <a:extLst>
              <a:ext uri="{FF2B5EF4-FFF2-40B4-BE49-F238E27FC236}">
                <a16:creationId xmlns:a16="http://schemas.microsoft.com/office/drawing/2014/main" id="{9102F364-3F40-5DC5-25BC-E166C386A39E}"/>
              </a:ext>
            </a:extLst>
          </p:cNvPr>
          <p:cNvSpPr txBox="1"/>
          <p:nvPr/>
        </p:nvSpPr>
        <p:spPr bwMode="gray">
          <a:xfrm>
            <a:off x="8635434" y="4964122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Nodes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AD374B8-A012-54E3-345B-6F117D938CDC}"/>
              </a:ext>
            </a:extLst>
          </p:cNvPr>
          <p:cNvSpPr txBox="1"/>
          <p:nvPr/>
        </p:nvSpPr>
        <p:spPr bwMode="gray">
          <a:xfrm>
            <a:off x="10443030" y="3820941"/>
            <a:ext cx="1355724" cy="5188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Queries</a:t>
            </a:r>
            <a:r>
              <a:rPr lang="de-DE" sz="1400" dirty="0"/>
              <a:t> </a:t>
            </a:r>
            <a:r>
              <a:rPr lang="de-DE" sz="1400" dirty="0" err="1"/>
              <a:t>ledger</a:t>
            </a:r>
            <a:endParaRPr lang="de-DE" sz="140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81724D1-FB51-F9AE-3B14-7A39CE92AB72}"/>
              </a:ext>
            </a:extLst>
          </p:cNvPr>
          <p:cNvGrpSpPr/>
          <p:nvPr/>
        </p:nvGrpSpPr>
        <p:grpSpPr>
          <a:xfrm>
            <a:off x="560796" y="2884148"/>
            <a:ext cx="323957" cy="319065"/>
            <a:chOff x="6203950" y="2825279"/>
            <a:chExt cx="432000" cy="432000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7248DB65-469C-A1E8-8367-2795927AFF94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F8D8397C-365B-EC36-408F-DE6CBFA9ECB7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817F0C67-AC11-1FBE-9FEB-00D92B927F68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77777E63-41E2-B860-8D01-FE32CCB4A12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2083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BF3DA-A0FB-AED1-5640-1DC4EDE88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85A79F70-CCB8-5510-B450-950E3E7CA29C}"/>
              </a:ext>
            </a:extLst>
          </p:cNvPr>
          <p:cNvSpPr/>
          <p:nvPr/>
        </p:nvSpPr>
        <p:spPr bwMode="gray">
          <a:xfrm>
            <a:off x="7278914" y="2600325"/>
            <a:ext cx="4541611" cy="2193948"/>
          </a:xfrm>
          <a:prstGeom prst="rect">
            <a:avLst/>
          </a:prstGeom>
          <a:noFill/>
          <a:ln w="76200">
            <a:solidFill>
              <a:srgbClr val="009682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48" name="Textplatzhalter 2">
            <a:extLst>
              <a:ext uri="{FF2B5EF4-FFF2-40B4-BE49-F238E27FC236}">
                <a16:creationId xmlns:a16="http://schemas.microsoft.com/office/drawing/2014/main" id="{CFAE7B1E-A1A7-F2A7-3E8A-97BE5A5DF6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616575" cy="4684711"/>
          </a:xfrm>
        </p:spPr>
        <p:txBody>
          <a:bodyPr/>
          <a:lstStyle/>
          <a:p>
            <a:r>
              <a:rPr lang="de-DE" sz="1800" b="1" dirty="0"/>
              <a:t>Type 1-3:</a:t>
            </a:r>
          </a:p>
          <a:p>
            <a:r>
              <a:rPr lang="de-DE" sz="1800" b="1" dirty="0"/>
              <a:t>Still CA </a:t>
            </a:r>
            <a:r>
              <a:rPr lang="de-DE" sz="1800" b="1" dirty="0" err="1"/>
              <a:t>based</a:t>
            </a:r>
            <a:r>
              <a:rPr lang="de-DE" sz="1800" b="1" dirty="0"/>
              <a:t> </a:t>
            </a:r>
            <a:r>
              <a:rPr lang="de-DE" sz="1800" b="1" dirty="0" err="1"/>
              <a:t>with</a:t>
            </a:r>
            <a:r>
              <a:rPr lang="de-DE" sz="1800" b="1" dirty="0"/>
              <a:t> </a:t>
            </a:r>
            <a:r>
              <a:rPr lang="de-DE" sz="1800" b="1" dirty="0" err="1"/>
              <a:t>increasing</a:t>
            </a:r>
            <a:r>
              <a:rPr lang="de-DE" sz="1800" b="1" dirty="0"/>
              <a:t> </a:t>
            </a:r>
            <a:r>
              <a:rPr lang="de-DE" sz="1800" b="1" dirty="0" err="1"/>
              <a:t>auditing</a:t>
            </a:r>
            <a:r>
              <a:rPr lang="de-DE" sz="1800" b="1" dirty="0"/>
              <a:t> </a:t>
            </a:r>
            <a:r>
              <a:rPr lang="de-DE" sz="1800" b="1" dirty="0" err="1"/>
              <a:t>function</a:t>
            </a:r>
            <a:r>
              <a:rPr lang="de-DE" sz="1800" b="1" dirty="0"/>
              <a:t> </a:t>
            </a:r>
            <a:r>
              <a:rPr lang="de-DE" sz="1800" b="1" dirty="0" err="1"/>
              <a:t>of</a:t>
            </a:r>
            <a:r>
              <a:rPr lang="de-DE" sz="1800" b="1" dirty="0"/>
              <a:t> </a:t>
            </a:r>
            <a:r>
              <a:rPr lang="de-DE" sz="1800" b="1" dirty="0" err="1"/>
              <a:t>the</a:t>
            </a:r>
            <a:r>
              <a:rPr lang="de-DE" sz="1800" b="1" dirty="0"/>
              <a:t> </a:t>
            </a:r>
            <a:r>
              <a:rPr lang="de-DE" sz="1800" b="1" dirty="0" err="1"/>
              <a:t>blockchain</a:t>
            </a:r>
            <a:r>
              <a:rPr lang="de-DE" sz="1800" b="1" dirty="0"/>
              <a:t> network</a:t>
            </a:r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Compatible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PKI </a:t>
            </a:r>
            <a:r>
              <a:rPr lang="de-DE" sz="1800" dirty="0" err="1"/>
              <a:t>standards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/>
              <a:t>Self-</a:t>
            </a:r>
            <a:r>
              <a:rPr lang="de-DE" sz="1800" dirty="0" err="1"/>
              <a:t>sufficient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No</a:t>
            </a:r>
            <a:r>
              <a:rPr lang="de-DE" sz="1800" dirty="0"/>
              <a:t> </a:t>
            </a:r>
            <a:r>
              <a:rPr lang="de-DE" sz="1800" dirty="0" err="1"/>
              <a:t>centralized</a:t>
            </a:r>
            <a:r>
              <a:rPr lang="de-DE" sz="1800" dirty="0"/>
              <a:t> root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trust</a:t>
            </a:r>
            <a:endParaRPr lang="de-DE" dirty="0"/>
          </a:p>
        </p:txBody>
      </p: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F7DDFD6F-BCB9-6BE7-8203-4A679CB04AFD}"/>
              </a:ext>
            </a:extLst>
          </p:cNvPr>
          <p:cNvCxnSpPr>
            <a:cxnSpLocks/>
          </p:cNvCxnSpPr>
          <p:nvPr/>
        </p:nvCxnSpPr>
        <p:spPr bwMode="gray">
          <a:xfrm flipV="1">
            <a:off x="9533731" y="3467100"/>
            <a:ext cx="0" cy="292100"/>
          </a:xfrm>
          <a:prstGeom prst="line">
            <a:avLst/>
          </a:prstGeom>
          <a:ln w="31750">
            <a:solidFill>
              <a:srgbClr val="D30015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BE96D132-0F9D-2552-848A-0DACE9330070}"/>
              </a:ext>
            </a:extLst>
          </p:cNvPr>
          <p:cNvGrpSpPr>
            <a:grpSpLocks noChangeAspect="1"/>
          </p:cNvGrpSpPr>
          <p:nvPr/>
        </p:nvGrpSpPr>
        <p:grpSpPr>
          <a:xfrm>
            <a:off x="10393232" y="4016375"/>
            <a:ext cx="736862" cy="241706"/>
            <a:chOff x="8023724" y="4482298"/>
            <a:chExt cx="2277000" cy="746902"/>
          </a:xfrm>
        </p:grpSpPr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7C299705-41DF-DC97-8DF0-F6D6AAD749A1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49" name="Gruppieren 48">
                <a:extLst>
                  <a:ext uri="{FF2B5EF4-FFF2-40B4-BE49-F238E27FC236}">
                    <a16:creationId xmlns:a16="http://schemas.microsoft.com/office/drawing/2014/main" id="{5FFC9ADB-AC28-7EBC-BB16-B757413E2967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52" name="Rechteck: abgerundete Ecken 51">
                  <a:extLst>
                    <a:ext uri="{FF2B5EF4-FFF2-40B4-BE49-F238E27FC236}">
                      <a16:creationId xmlns:a16="http://schemas.microsoft.com/office/drawing/2014/main" id="{68BBD0E5-A4BF-3A94-B863-CAD12B32A3BD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Rechteck: abgerundete Ecken 52">
                  <a:extLst>
                    <a:ext uri="{FF2B5EF4-FFF2-40B4-BE49-F238E27FC236}">
                      <a16:creationId xmlns:a16="http://schemas.microsoft.com/office/drawing/2014/main" id="{92025E16-8E36-728A-D7AE-F27911136A24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5" name="Rechteck: abgerundete Ecken 54">
                  <a:extLst>
                    <a:ext uri="{FF2B5EF4-FFF2-40B4-BE49-F238E27FC236}">
                      <a16:creationId xmlns:a16="http://schemas.microsoft.com/office/drawing/2014/main" id="{60B6F706-4CEC-8EE2-089E-4A883E6E71FE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6" name="Rechteck: abgerundete Ecken 55">
                  <a:extLst>
                    <a:ext uri="{FF2B5EF4-FFF2-40B4-BE49-F238E27FC236}">
                      <a16:creationId xmlns:a16="http://schemas.microsoft.com/office/drawing/2014/main" id="{35721F69-075A-2A45-2810-B91E6E2BF600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8" name="Rechteck: abgerundete Ecken 57">
                  <a:extLst>
                    <a:ext uri="{FF2B5EF4-FFF2-40B4-BE49-F238E27FC236}">
                      <a16:creationId xmlns:a16="http://schemas.microsoft.com/office/drawing/2014/main" id="{015C5E0B-5B76-6C75-39E1-56C00B11E7B2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9" name="Rechteck: abgerundete Ecken 58">
                  <a:extLst>
                    <a:ext uri="{FF2B5EF4-FFF2-40B4-BE49-F238E27FC236}">
                      <a16:creationId xmlns:a16="http://schemas.microsoft.com/office/drawing/2014/main" id="{D6925A0D-470E-EBD0-1F2C-DBFAAC1C05D7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D603BFAE-F5EE-C365-08B8-238F779E78C7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47" name="Grafik 46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A78739CE-4EA8-22EA-95D3-7EB07E0CC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BDD5C6F6-2028-F976-6521-1BCE0B86DACF}"/>
              </a:ext>
            </a:extLst>
          </p:cNvPr>
          <p:cNvGrpSpPr>
            <a:grpSpLocks noChangeAspect="1"/>
          </p:cNvGrpSpPr>
          <p:nvPr/>
        </p:nvGrpSpPr>
        <p:grpSpPr>
          <a:xfrm>
            <a:off x="9240707" y="4016375"/>
            <a:ext cx="736862" cy="241706"/>
            <a:chOff x="8023724" y="4482298"/>
            <a:chExt cx="2277000" cy="746902"/>
          </a:xfrm>
        </p:grpSpPr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E535417C-5C7B-CDB5-DB3C-EE4E95485C63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65" name="Gruppieren 64">
                <a:extLst>
                  <a:ext uri="{FF2B5EF4-FFF2-40B4-BE49-F238E27FC236}">
                    <a16:creationId xmlns:a16="http://schemas.microsoft.com/office/drawing/2014/main" id="{CA75DDD9-2CB2-8D31-7199-562CE2DAA63F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67" name="Rechteck: abgerundete Ecken 66">
                  <a:extLst>
                    <a:ext uri="{FF2B5EF4-FFF2-40B4-BE49-F238E27FC236}">
                      <a16:creationId xmlns:a16="http://schemas.microsoft.com/office/drawing/2014/main" id="{7F1AC46B-A995-2FC8-D279-3876D95A1DF5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8" name="Rechteck: abgerundete Ecken 67">
                  <a:extLst>
                    <a:ext uri="{FF2B5EF4-FFF2-40B4-BE49-F238E27FC236}">
                      <a16:creationId xmlns:a16="http://schemas.microsoft.com/office/drawing/2014/main" id="{B51D29FC-AABF-7B6B-F1BA-3A3AF9AE5D33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9" name="Rechteck: abgerundete Ecken 68">
                  <a:extLst>
                    <a:ext uri="{FF2B5EF4-FFF2-40B4-BE49-F238E27FC236}">
                      <a16:creationId xmlns:a16="http://schemas.microsoft.com/office/drawing/2014/main" id="{19FA1E27-EE36-5090-2FD0-E300831249F2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Rechteck: abgerundete Ecken 69">
                  <a:extLst>
                    <a:ext uri="{FF2B5EF4-FFF2-40B4-BE49-F238E27FC236}">
                      <a16:creationId xmlns:a16="http://schemas.microsoft.com/office/drawing/2014/main" id="{8129B08A-B0F1-0A72-3544-8FF8FAA27E4A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1" name="Rechteck: abgerundete Ecken 70">
                  <a:extLst>
                    <a:ext uri="{FF2B5EF4-FFF2-40B4-BE49-F238E27FC236}">
                      <a16:creationId xmlns:a16="http://schemas.microsoft.com/office/drawing/2014/main" id="{8C9F0552-D32C-2DD2-1DC6-7B14AF1CECB8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2" name="Rechteck: abgerundete Ecken 71">
                  <a:extLst>
                    <a:ext uri="{FF2B5EF4-FFF2-40B4-BE49-F238E27FC236}">
                      <a16:creationId xmlns:a16="http://schemas.microsoft.com/office/drawing/2014/main" id="{12F1C59A-5199-3473-C0BE-F0ECE9155854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0A7FCA65-43D4-04BA-E9D7-A66B85F95B20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64" name="Grafik 63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240C5A23-4A52-B89A-ED68-424BEA314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6C6BB279-5085-FBF4-6837-FA99464A727F}"/>
              </a:ext>
            </a:extLst>
          </p:cNvPr>
          <p:cNvGrpSpPr>
            <a:grpSpLocks noChangeAspect="1"/>
          </p:cNvGrpSpPr>
          <p:nvPr/>
        </p:nvGrpSpPr>
        <p:grpSpPr>
          <a:xfrm>
            <a:off x="7719751" y="4016375"/>
            <a:ext cx="736862" cy="241706"/>
            <a:chOff x="8023724" y="4482298"/>
            <a:chExt cx="2277000" cy="746902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AD550FF9-22F9-11F3-5199-3C94499A1E01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76" name="Gruppieren 75">
                <a:extLst>
                  <a:ext uri="{FF2B5EF4-FFF2-40B4-BE49-F238E27FC236}">
                    <a16:creationId xmlns:a16="http://schemas.microsoft.com/office/drawing/2014/main" id="{4E9F55C3-B287-9CF1-8F6B-843AF059637C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78" name="Rechteck: abgerundete Ecken 77">
                  <a:extLst>
                    <a:ext uri="{FF2B5EF4-FFF2-40B4-BE49-F238E27FC236}">
                      <a16:creationId xmlns:a16="http://schemas.microsoft.com/office/drawing/2014/main" id="{73FBD590-0F44-9665-864D-08772D7D0917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9" name="Rechteck: abgerundete Ecken 78">
                  <a:extLst>
                    <a:ext uri="{FF2B5EF4-FFF2-40B4-BE49-F238E27FC236}">
                      <a16:creationId xmlns:a16="http://schemas.microsoft.com/office/drawing/2014/main" id="{FEE4A76F-4147-5B7D-EB2A-736D00244CDD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Rechteck: abgerundete Ecken 79">
                  <a:extLst>
                    <a:ext uri="{FF2B5EF4-FFF2-40B4-BE49-F238E27FC236}">
                      <a16:creationId xmlns:a16="http://schemas.microsoft.com/office/drawing/2014/main" id="{34CB8818-01A5-3AAA-AD95-51300BAD36D8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Rechteck: abgerundete Ecken 80">
                  <a:extLst>
                    <a:ext uri="{FF2B5EF4-FFF2-40B4-BE49-F238E27FC236}">
                      <a16:creationId xmlns:a16="http://schemas.microsoft.com/office/drawing/2014/main" id="{A48CED36-5B49-D6D0-95A9-F1E88B999A46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2" name="Rechteck: abgerundete Ecken 81">
                  <a:extLst>
                    <a:ext uri="{FF2B5EF4-FFF2-40B4-BE49-F238E27FC236}">
                      <a16:creationId xmlns:a16="http://schemas.microsoft.com/office/drawing/2014/main" id="{93ADDAA4-C8B1-0C1C-8262-1283EEBEDF42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3" name="Rechteck: abgerundete Ecken 82">
                  <a:extLst>
                    <a:ext uri="{FF2B5EF4-FFF2-40B4-BE49-F238E27FC236}">
                      <a16:creationId xmlns:a16="http://schemas.microsoft.com/office/drawing/2014/main" id="{7294A7A4-9988-4A77-0884-1F1F5B35BC40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7" name="Rechteck 76">
                <a:extLst>
                  <a:ext uri="{FF2B5EF4-FFF2-40B4-BE49-F238E27FC236}">
                    <a16:creationId xmlns:a16="http://schemas.microsoft.com/office/drawing/2014/main" id="{83457DCD-83E2-B73B-C012-FF27501C6719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75" name="Grafik 74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07CCE096-FB8E-3C9B-005B-5610F999D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ACA9600D-5079-8D2F-8BAC-42B96E19F6D9}"/>
              </a:ext>
            </a:extLst>
          </p:cNvPr>
          <p:cNvGrpSpPr>
            <a:grpSpLocks noChangeAspect="1"/>
          </p:cNvGrpSpPr>
          <p:nvPr/>
        </p:nvGrpSpPr>
        <p:grpSpPr>
          <a:xfrm>
            <a:off x="10601063" y="2890800"/>
            <a:ext cx="736862" cy="241706"/>
            <a:chOff x="8023724" y="4482298"/>
            <a:chExt cx="2277000" cy="746902"/>
          </a:xfrm>
        </p:grpSpPr>
        <p:grpSp>
          <p:nvGrpSpPr>
            <p:cNvPr id="85" name="Gruppieren 84">
              <a:extLst>
                <a:ext uri="{FF2B5EF4-FFF2-40B4-BE49-F238E27FC236}">
                  <a16:creationId xmlns:a16="http://schemas.microsoft.com/office/drawing/2014/main" id="{EE2ED7FC-E717-D8D9-84B6-5DF2D3F51F63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87" name="Gruppieren 86">
                <a:extLst>
                  <a:ext uri="{FF2B5EF4-FFF2-40B4-BE49-F238E27FC236}">
                    <a16:creationId xmlns:a16="http://schemas.microsoft.com/office/drawing/2014/main" id="{E7A3F391-FB2A-96B7-D80C-68679C4078B8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89" name="Rechteck: abgerundete Ecken 88">
                  <a:extLst>
                    <a:ext uri="{FF2B5EF4-FFF2-40B4-BE49-F238E27FC236}">
                      <a16:creationId xmlns:a16="http://schemas.microsoft.com/office/drawing/2014/main" id="{FD423F01-B94D-E1BA-266D-85EFC501402C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0" name="Rechteck: abgerundete Ecken 89">
                  <a:extLst>
                    <a:ext uri="{FF2B5EF4-FFF2-40B4-BE49-F238E27FC236}">
                      <a16:creationId xmlns:a16="http://schemas.microsoft.com/office/drawing/2014/main" id="{D780C826-7D09-FC7B-97A7-AC71BB08F3CB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1" name="Rechteck: abgerundete Ecken 90">
                  <a:extLst>
                    <a:ext uri="{FF2B5EF4-FFF2-40B4-BE49-F238E27FC236}">
                      <a16:creationId xmlns:a16="http://schemas.microsoft.com/office/drawing/2014/main" id="{6CEECD5F-5AD6-A422-A7D2-6450CF634152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2" name="Rechteck: abgerundete Ecken 91">
                  <a:extLst>
                    <a:ext uri="{FF2B5EF4-FFF2-40B4-BE49-F238E27FC236}">
                      <a16:creationId xmlns:a16="http://schemas.microsoft.com/office/drawing/2014/main" id="{8079E28B-4201-0E9E-D8A2-CF21C5088D04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3" name="Rechteck: abgerundete Ecken 92">
                  <a:extLst>
                    <a:ext uri="{FF2B5EF4-FFF2-40B4-BE49-F238E27FC236}">
                      <a16:creationId xmlns:a16="http://schemas.microsoft.com/office/drawing/2014/main" id="{C15DE832-5010-8AC7-5E75-0F7128009FDB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4" name="Rechteck: abgerundete Ecken 93">
                  <a:extLst>
                    <a:ext uri="{FF2B5EF4-FFF2-40B4-BE49-F238E27FC236}">
                      <a16:creationId xmlns:a16="http://schemas.microsoft.com/office/drawing/2014/main" id="{BCBF9759-44D4-8539-A57A-68E4F4A4D45A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8" name="Rechteck 87">
                <a:extLst>
                  <a:ext uri="{FF2B5EF4-FFF2-40B4-BE49-F238E27FC236}">
                    <a16:creationId xmlns:a16="http://schemas.microsoft.com/office/drawing/2014/main" id="{246CDD7A-F912-00D5-E3B4-EF145B75255C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86" name="Grafik 85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5293294E-9D5E-AEA4-B30C-08C4CD832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E92FC3C6-CE12-5F64-3B45-F9B3A71B187D}"/>
              </a:ext>
            </a:extLst>
          </p:cNvPr>
          <p:cNvGrpSpPr>
            <a:grpSpLocks noChangeAspect="1"/>
          </p:cNvGrpSpPr>
          <p:nvPr/>
        </p:nvGrpSpPr>
        <p:grpSpPr>
          <a:xfrm>
            <a:off x="8323001" y="2891243"/>
            <a:ext cx="736862" cy="241706"/>
            <a:chOff x="8023724" y="4482298"/>
            <a:chExt cx="2277000" cy="746902"/>
          </a:xfrm>
        </p:grpSpPr>
        <p:grpSp>
          <p:nvGrpSpPr>
            <p:cNvPr id="96" name="Gruppieren 95">
              <a:extLst>
                <a:ext uri="{FF2B5EF4-FFF2-40B4-BE49-F238E27FC236}">
                  <a16:creationId xmlns:a16="http://schemas.microsoft.com/office/drawing/2014/main" id="{39D018D8-8500-8658-9360-9BCEDC967B44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98" name="Gruppieren 97">
                <a:extLst>
                  <a:ext uri="{FF2B5EF4-FFF2-40B4-BE49-F238E27FC236}">
                    <a16:creationId xmlns:a16="http://schemas.microsoft.com/office/drawing/2014/main" id="{F65BC6EA-405A-E66C-16A5-3DF0EB72B89B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00" name="Rechteck: abgerundete Ecken 99">
                  <a:extLst>
                    <a:ext uri="{FF2B5EF4-FFF2-40B4-BE49-F238E27FC236}">
                      <a16:creationId xmlns:a16="http://schemas.microsoft.com/office/drawing/2014/main" id="{14DABAC8-C24E-03B0-E10B-C20DC6157C18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1" name="Rechteck: abgerundete Ecken 100">
                  <a:extLst>
                    <a:ext uri="{FF2B5EF4-FFF2-40B4-BE49-F238E27FC236}">
                      <a16:creationId xmlns:a16="http://schemas.microsoft.com/office/drawing/2014/main" id="{ADBAB7F8-C9DF-B642-6070-3293BF44B654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2" name="Rechteck: abgerundete Ecken 101">
                  <a:extLst>
                    <a:ext uri="{FF2B5EF4-FFF2-40B4-BE49-F238E27FC236}">
                      <a16:creationId xmlns:a16="http://schemas.microsoft.com/office/drawing/2014/main" id="{C618CB1C-2B43-2BB8-CAC6-230F61E02170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3" name="Rechteck: abgerundete Ecken 102">
                  <a:extLst>
                    <a:ext uri="{FF2B5EF4-FFF2-40B4-BE49-F238E27FC236}">
                      <a16:creationId xmlns:a16="http://schemas.microsoft.com/office/drawing/2014/main" id="{633FE150-D4FF-EA56-6985-A81DFB9A0E3A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4" name="Rechteck: abgerundete Ecken 103">
                  <a:extLst>
                    <a:ext uri="{FF2B5EF4-FFF2-40B4-BE49-F238E27FC236}">
                      <a16:creationId xmlns:a16="http://schemas.microsoft.com/office/drawing/2014/main" id="{0ED5860D-118D-DB98-A71F-D4A686FFAAB5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5" name="Rechteck: abgerundete Ecken 104">
                  <a:extLst>
                    <a:ext uri="{FF2B5EF4-FFF2-40B4-BE49-F238E27FC236}">
                      <a16:creationId xmlns:a16="http://schemas.microsoft.com/office/drawing/2014/main" id="{F001C4AA-8713-AAC8-9D07-E146319176FB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25E437D6-B075-08CF-A1D8-9916D963900B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97" name="Grafik 96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165D2B3D-C45D-63AC-A54B-47D8A3780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ABA6870F-87AB-E5A5-C1E8-609A4A7D69BF}"/>
              </a:ext>
            </a:extLst>
          </p:cNvPr>
          <p:cNvCxnSpPr>
            <a:cxnSpLocks/>
          </p:cNvCxnSpPr>
          <p:nvPr/>
        </p:nvCxnSpPr>
        <p:spPr bwMode="gray">
          <a:xfrm flipV="1">
            <a:off x="10691155" y="3486149"/>
            <a:ext cx="0" cy="2881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484AD599-4874-C910-5525-EB0203CB992E}"/>
              </a:ext>
            </a:extLst>
          </p:cNvPr>
          <p:cNvCxnSpPr>
            <a:cxnSpLocks/>
          </p:cNvCxnSpPr>
          <p:nvPr/>
        </p:nvCxnSpPr>
        <p:spPr bwMode="gray">
          <a:xfrm flipV="1">
            <a:off x="10340434" y="3762375"/>
            <a:ext cx="0" cy="35119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8481D07E-0AEC-4BB4-27B8-B1A69556C545}"/>
              </a:ext>
            </a:extLst>
          </p:cNvPr>
          <p:cNvCxnSpPr>
            <a:cxnSpLocks/>
          </p:cNvCxnSpPr>
          <p:nvPr/>
        </p:nvCxnSpPr>
        <p:spPr bwMode="gray">
          <a:xfrm flipV="1">
            <a:off x="7669497" y="3743325"/>
            <a:ext cx="0" cy="37024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7B3425D9-6741-31C1-ED1B-55D46F624D53}"/>
              </a:ext>
            </a:extLst>
          </p:cNvPr>
          <p:cNvCxnSpPr>
            <a:cxnSpLocks/>
          </p:cNvCxnSpPr>
          <p:nvPr/>
        </p:nvCxnSpPr>
        <p:spPr bwMode="gray">
          <a:xfrm flipV="1">
            <a:off x="9184480" y="3767138"/>
            <a:ext cx="0" cy="3464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4E9789F4-BD56-54BA-6426-9E714C664FA3}"/>
              </a:ext>
            </a:extLst>
          </p:cNvPr>
          <p:cNvCxnSpPr>
            <a:cxnSpLocks/>
          </p:cNvCxnSpPr>
          <p:nvPr/>
        </p:nvCxnSpPr>
        <p:spPr bwMode="gray">
          <a:xfrm flipV="1">
            <a:off x="8419051" y="3501008"/>
            <a:ext cx="0" cy="27089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AAB50485-08FF-9490-3603-19FF184D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Blockchain-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15F2AA-7F5A-6270-DF31-87330F8B2DC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470F68-0992-F690-65AE-60B8E3727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209166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6BAFFF-1E74-FDE3-0687-83A0D4DC7A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9550CC17-196C-8482-89FC-9335AB7D6508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902800" y="4114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01990975-938B-C740-E78A-3238819334C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069200" y="4114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997034A9-B7DB-5F2F-D07F-9DB054CEB602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46800" y="2962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DB727F1D-E09E-2B5D-0487-0FEC96F37C5C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90800" y="4114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3F6817C1-4436-63CD-72CD-60855F30F96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414800" y="2962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8E9C1513-3B9C-31C6-C61B-04D791EDE9C2}"/>
              </a:ext>
            </a:extLst>
          </p:cNvPr>
          <p:cNvSpPr txBox="1">
            <a:spLocks/>
          </p:cNvSpPr>
          <p:nvPr/>
        </p:nvSpPr>
        <p:spPr bwMode="gray">
          <a:xfrm>
            <a:off x="371475" y="4041775"/>
            <a:ext cx="5616575" cy="2232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Applicable</a:t>
            </a:r>
            <a:r>
              <a:rPr lang="de-DE" sz="1800" dirty="0"/>
              <a:t> </a:t>
            </a:r>
            <a:r>
              <a:rPr lang="de-DE" sz="1800" dirty="0" err="1"/>
              <a:t>as</a:t>
            </a:r>
            <a:r>
              <a:rPr lang="de-DE" sz="1800" dirty="0"/>
              <a:t> a </a:t>
            </a:r>
            <a:r>
              <a:rPr lang="de-DE" sz="1800" dirty="0" err="1"/>
              <a:t>replacement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revocation</a:t>
            </a:r>
            <a:r>
              <a:rPr lang="de-DE" sz="1800" dirty="0"/>
              <a:t> </a:t>
            </a:r>
            <a:r>
              <a:rPr lang="de-DE" sz="1800" dirty="0" err="1"/>
              <a:t>lists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added</a:t>
            </a:r>
            <a:r>
              <a:rPr lang="de-DE" sz="1800" dirty="0"/>
              <a:t> </a:t>
            </a:r>
            <a:r>
              <a:rPr lang="de-DE" sz="1800" dirty="0" err="1"/>
              <a:t>auditing</a:t>
            </a:r>
            <a:r>
              <a:rPr lang="de-DE" sz="1800" dirty="0"/>
              <a:t> </a:t>
            </a:r>
            <a:r>
              <a:rPr lang="de-DE" sz="1800" dirty="0" err="1"/>
              <a:t>functions</a:t>
            </a:r>
            <a:endParaRPr lang="de-DE" sz="1800" dirty="0"/>
          </a:p>
          <a:p>
            <a:pPr marL="612900" lvl="1" indent="-342900">
              <a:buFont typeface="Arial" panose="020B0604020202020204" pitchFamily="34" charset="0"/>
              <a:buChar char="•"/>
            </a:pPr>
            <a:endParaRPr lang="de-DE" sz="1800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93D2699-416A-BB56-B468-962E59163D7E}"/>
              </a:ext>
            </a:extLst>
          </p:cNvPr>
          <p:cNvGrpSpPr/>
          <p:nvPr/>
        </p:nvGrpSpPr>
        <p:grpSpPr>
          <a:xfrm>
            <a:off x="550800" y="4033719"/>
            <a:ext cx="342000" cy="342000"/>
            <a:chOff x="7320136" y="4043360"/>
            <a:chExt cx="432000" cy="432000"/>
          </a:xfrm>
        </p:grpSpPr>
        <p:sp>
          <p:nvSpPr>
            <p:cNvPr id="35" name="Textplatzhalter 76">
              <a:extLst>
                <a:ext uri="{FF2B5EF4-FFF2-40B4-BE49-F238E27FC236}">
                  <a16:creationId xmlns:a16="http://schemas.microsoft.com/office/drawing/2014/main" id="{886B0AED-68AB-D579-94B7-05164079FF5D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DD4B34A0-9D9E-9063-89B6-786E1F22D4AF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6" name="Grafik 105" descr="Glühbirne und Zahnrad Silhouette">
            <a:extLst>
              <a:ext uri="{FF2B5EF4-FFF2-40B4-BE49-F238E27FC236}">
                <a16:creationId xmlns:a16="http://schemas.microsoft.com/office/drawing/2014/main" id="{6FF76CEC-AE31-689C-86AE-2EE1DBA735D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2918" y="4162463"/>
            <a:ext cx="438150" cy="438150"/>
          </a:xfrm>
          <a:prstGeom prst="rect">
            <a:avLst/>
          </a:prstGeom>
        </p:spPr>
      </p:pic>
      <p:pic>
        <p:nvPicPr>
          <p:cNvPr id="107" name="Grafik 106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784D1CEC-F98D-C9DE-EEDC-2AAE26D735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8202387" y="3087574"/>
            <a:ext cx="438560" cy="274752"/>
          </a:xfrm>
          <a:prstGeom prst="rect">
            <a:avLst/>
          </a:prstGeom>
        </p:spPr>
      </p:pic>
      <p:pic>
        <p:nvPicPr>
          <p:cNvPr id="108" name="Grafik 107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FBFC6D20-9AAE-2E51-6819-3BCA769B4F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38085" y="2986360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rafik 108" descr="Glühbirne und Zahnrad Silhouette">
            <a:extLst>
              <a:ext uri="{FF2B5EF4-FFF2-40B4-BE49-F238E27FC236}">
                <a16:creationId xmlns:a16="http://schemas.microsoft.com/office/drawing/2014/main" id="{50316959-6AE3-353B-8459-3BAD4CD420A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1045" y="4163256"/>
            <a:ext cx="438150" cy="438150"/>
          </a:xfrm>
          <a:prstGeom prst="rect">
            <a:avLst/>
          </a:prstGeom>
        </p:spPr>
      </p:pic>
      <p:pic>
        <p:nvPicPr>
          <p:cNvPr id="110" name="Grafik 109" descr="Glühbirne und Zahnrad Silhouette">
            <a:extLst>
              <a:ext uri="{FF2B5EF4-FFF2-40B4-BE49-F238E27FC236}">
                <a16:creationId xmlns:a16="http://schemas.microsoft.com/office/drawing/2014/main" id="{D51EC407-CDA9-AABC-BF02-D0B40ACF13E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4682" y="4163256"/>
            <a:ext cx="438150" cy="438150"/>
          </a:xfrm>
          <a:prstGeom prst="rect">
            <a:avLst/>
          </a:prstGeom>
        </p:spPr>
      </p:pic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A540C054-F606-6FA2-8159-EE6AED2BB7A3}"/>
              </a:ext>
            </a:extLst>
          </p:cNvPr>
          <p:cNvCxnSpPr>
            <a:cxnSpLocks/>
          </p:cNvCxnSpPr>
          <p:nvPr/>
        </p:nvCxnSpPr>
        <p:spPr bwMode="gray">
          <a:xfrm>
            <a:off x="7658100" y="3757613"/>
            <a:ext cx="3019425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35306C77-515F-AB94-34C6-D7A64722473D}"/>
              </a:ext>
            </a:extLst>
          </p:cNvPr>
          <p:cNvSpPr txBox="1"/>
          <p:nvPr/>
        </p:nvSpPr>
        <p:spPr bwMode="gray">
          <a:xfrm>
            <a:off x="10711885" y="4220409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Sensors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6943C87E-4306-DCC9-830B-D5393976E46C}"/>
              </a:ext>
            </a:extLst>
          </p:cNvPr>
          <p:cNvSpPr txBox="1"/>
          <p:nvPr/>
        </p:nvSpPr>
        <p:spPr bwMode="gray">
          <a:xfrm>
            <a:off x="7397750" y="3064709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133AEEE2-0F18-1B3B-CC24-3255DDCD79A3}"/>
              </a:ext>
            </a:extLst>
          </p:cNvPr>
          <p:cNvSpPr txBox="1"/>
          <p:nvPr/>
        </p:nvSpPr>
        <p:spPr bwMode="gray">
          <a:xfrm>
            <a:off x="9777413" y="3063600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</a:p>
        </p:txBody>
      </p:sp>
      <p:sp>
        <p:nvSpPr>
          <p:cNvPr id="23" name="Textplatzhalter 76">
            <a:extLst>
              <a:ext uri="{FF2B5EF4-FFF2-40B4-BE49-F238E27FC236}">
                <a16:creationId xmlns:a16="http://schemas.microsoft.com/office/drawing/2014/main" id="{A6C664B4-7D55-7F39-D992-C5C165D90D60}"/>
              </a:ext>
            </a:extLst>
          </p:cNvPr>
          <p:cNvSpPr txBox="1">
            <a:spLocks/>
          </p:cNvSpPr>
          <p:nvPr/>
        </p:nvSpPr>
        <p:spPr bwMode="gray">
          <a:xfrm>
            <a:off x="9262269" y="2963175"/>
            <a:ext cx="540000" cy="5400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800" dirty="0">
                <a:solidFill>
                  <a:schemeClr val="bg1"/>
                </a:solidFill>
              </a:rPr>
              <a:t>CA</a:t>
            </a: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6A9DC84F-9DEE-FF79-37B7-1D0793EFCE56}"/>
              </a:ext>
            </a:extLst>
          </p:cNvPr>
          <p:cNvGrpSpPr/>
          <p:nvPr/>
        </p:nvGrpSpPr>
        <p:grpSpPr>
          <a:xfrm>
            <a:off x="558300" y="3246202"/>
            <a:ext cx="323957" cy="321940"/>
            <a:chOff x="6817001" y="3335951"/>
            <a:chExt cx="432000" cy="432000"/>
          </a:xfrm>
        </p:grpSpPr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8247824C-5945-6CE6-2D73-C97C37BF1043}"/>
                </a:ext>
              </a:extLst>
            </p:cNvPr>
            <p:cNvSpPr/>
            <p:nvPr/>
          </p:nvSpPr>
          <p:spPr bwMode="gray">
            <a:xfrm>
              <a:off x="6817001" y="3335951"/>
              <a:ext cx="432000" cy="432000"/>
            </a:xfrm>
            <a:prstGeom prst="ellipse">
              <a:avLst/>
            </a:prstGeom>
            <a:solidFill>
              <a:srgbClr val="D30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078BAF5B-41D9-D081-0C63-A3111A47DC59}"/>
                </a:ext>
              </a:extLst>
            </p:cNvPr>
            <p:cNvGrpSpPr/>
            <p:nvPr/>
          </p:nvGrpSpPr>
          <p:grpSpPr>
            <a:xfrm>
              <a:off x="6945062" y="3464012"/>
              <a:ext cx="175878" cy="175878"/>
              <a:chOff x="7104112" y="2564904"/>
              <a:chExt cx="360313" cy="360313"/>
            </a:xfrm>
          </p:grpSpPr>
          <p:cxnSp>
            <p:nvCxnSpPr>
              <p:cNvPr id="60" name="Gerader Verbinder 59">
                <a:extLst>
                  <a:ext uri="{FF2B5EF4-FFF2-40B4-BE49-F238E27FC236}">
                    <a16:creationId xmlns:a16="http://schemas.microsoft.com/office/drawing/2014/main" id="{B669C4C1-4FC4-6309-E866-F92A08A0DE76}"/>
                  </a:ext>
                </a:extLst>
              </p:cNvPr>
              <p:cNvCxnSpPr/>
              <p:nvPr/>
            </p:nvCxnSpPr>
            <p:spPr bwMode="gray">
              <a:xfrm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Gerader Verbinder 60">
                <a:extLst>
                  <a:ext uri="{FF2B5EF4-FFF2-40B4-BE49-F238E27FC236}">
                    <a16:creationId xmlns:a16="http://schemas.microsoft.com/office/drawing/2014/main" id="{0EA947E7-BA6A-15E3-BA7B-948C2CAD173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43947C35-CCD0-7AE1-6059-8E2587F71814}"/>
              </a:ext>
            </a:extLst>
          </p:cNvPr>
          <p:cNvGrpSpPr/>
          <p:nvPr/>
        </p:nvGrpSpPr>
        <p:grpSpPr>
          <a:xfrm>
            <a:off x="560796" y="2535805"/>
            <a:ext cx="323957" cy="319065"/>
            <a:chOff x="6203950" y="2825279"/>
            <a:chExt cx="432000" cy="432000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878DBCD3-63EB-C06F-4B0E-6788AF806E76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22" name="Gruppieren 121">
              <a:extLst>
                <a:ext uri="{FF2B5EF4-FFF2-40B4-BE49-F238E27FC236}">
                  <a16:creationId xmlns:a16="http://schemas.microsoft.com/office/drawing/2014/main" id="{B548E8BA-C645-2E1F-4B1F-A61C50D3C9CD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751358B9-27F8-DF92-D5BB-C5665A6847D2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Gerader Verbinder 123">
                <a:extLst>
                  <a:ext uri="{FF2B5EF4-FFF2-40B4-BE49-F238E27FC236}">
                    <a16:creationId xmlns:a16="http://schemas.microsoft.com/office/drawing/2014/main" id="{5339EBBF-341B-7996-3B64-A8990F759DF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F04A8EEE-20F1-F978-7FCE-03D6C6C1464B}"/>
              </a:ext>
            </a:extLst>
          </p:cNvPr>
          <p:cNvGrpSpPr/>
          <p:nvPr/>
        </p:nvGrpSpPr>
        <p:grpSpPr>
          <a:xfrm>
            <a:off x="560796" y="2884148"/>
            <a:ext cx="323957" cy="319065"/>
            <a:chOff x="6203950" y="2825279"/>
            <a:chExt cx="432000" cy="432000"/>
          </a:xfrm>
        </p:grpSpPr>
        <p:sp>
          <p:nvSpPr>
            <p:cNvPr id="126" name="Ellipse 125">
              <a:extLst>
                <a:ext uri="{FF2B5EF4-FFF2-40B4-BE49-F238E27FC236}">
                  <a16:creationId xmlns:a16="http://schemas.microsoft.com/office/drawing/2014/main" id="{D9CDB147-8DA6-8AF9-A0E2-CE41E6C9FFE7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27" name="Gruppieren 126">
              <a:extLst>
                <a:ext uri="{FF2B5EF4-FFF2-40B4-BE49-F238E27FC236}">
                  <a16:creationId xmlns:a16="http://schemas.microsoft.com/office/drawing/2014/main" id="{827D9B55-25D3-4DD0-3AC8-E502831FAE58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338C70A1-ADEE-A6C5-EAF2-20CC7A0D1959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Gerader Verbinder 128">
                <a:extLst>
                  <a:ext uri="{FF2B5EF4-FFF2-40B4-BE49-F238E27FC236}">
                    <a16:creationId xmlns:a16="http://schemas.microsoft.com/office/drawing/2014/main" id="{80162B52-F741-BC9B-DBB0-062A5A45B14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F80C539-19B9-9FFE-07B8-95537D29F99B}"/>
              </a:ext>
            </a:extLst>
          </p:cNvPr>
          <p:cNvCxnSpPr>
            <a:cxnSpLocks/>
          </p:cNvCxnSpPr>
          <p:nvPr/>
        </p:nvCxnSpPr>
        <p:spPr bwMode="gray">
          <a:xfrm flipV="1">
            <a:off x="9184366" y="2776538"/>
            <a:ext cx="0" cy="995946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C6245FF6-FDC9-82E1-68A2-16AF8765D404}"/>
              </a:ext>
            </a:extLst>
          </p:cNvPr>
          <p:cNvSpPr/>
          <p:nvPr/>
        </p:nvSpPr>
        <p:spPr bwMode="gray">
          <a:xfrm>
            <a:off x="8073555" y="2419940"/>
            <a:ext cx="2952328" cy="360000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rgbClr val="002D4C"/>
                </a:solidFill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287556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926E7-105B-8684-13C6-9CA2124F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E7113C-E79C-FB1E-29CD-50B5365A73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1800" b="1" dirty="0" err="1"/>
              <a:t>Full</a:t>
            </a:r>
            <a:r>
              <a:rPr lang="de-DE" sz="1800" b="1" dirty="0"/>
              <a:t> </a:t>
            </a:r>
            <a:r>
              <a:rPr lang="de-DE" sz="1800" b="1" dirty="0" err="1"/>
              <a:t>decentralization</a:t>
            </a:r>
            <a:r>
              <a:rPr lang="de-DE" sz="1800" b="1" dirty="0"/>
              <a:t>:</a:t>
            </a:r>
          </a:p>
          <a:p>
            <a:r>
              <a:rPr lang="de-DE" sz="1800" b="1" dirty="0"/>
              <a:t>The </a:t>
            </a:r>
            <a:r>
              <a:rPr lang="de-DE" sz="1800" b="1" dirty="0" err="1"/>
              <a:t>whole</a:t>
            </a:r>
            <a:r>
              <a:rPr lang="de-DE" sz="1800" b="1" dirty="0"/>
              <a:t> network </a:t>
            </a:r>
            <a:r>
              <a:rPr lang="de-DE" sz="1800" b="1" dirty="0" err="1"/>
              <a:t>needs</a:t>
            </a:r>
            <a:r>
              <a:rPr lang="de-DE" sz="1800" b="1" dirty="0"/>
              <a:t> </a:t>
            </a:r>
            <a:r>
              <a:rPr lang="de-DE" sz="1800" b="1" dirty="0" err="1"/>
              <a:t>to</a:t>
            </a:r>
            <a:r>
              <a:rPr lang="de-DE" sz="1800" b="1" dirty="0"/>
              <a:t> </a:t>
            </a:r>
            <a:r>
              <a:rPr lang="de-DE" sz="1800" b="1" dirty="0" err="1"/>
              <a:t>approve</a:t>
            </a:r>
            <a:r>
              <a:rPr lang="de-DE" sz="1800" b="1" dirty="0"/>
              <a:t> </a:t>
            </a:r>
            <a:r>
              <a:rPr lang="de-DE" sz="1800" b="1" dirty="0" err="1"/>
              <a:t>nodes</a:t>
            </a:r>
            <a:endParaRPr lang="de-DE" sz="1800" b="1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Compatible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PKI </a:t>
            </a:r>
            <a:r>
              <a:rPr lang="de-DE" sz="1800" dirty="0" err="1"/>
              <a:t>standards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/>
              <a:t>Self-</a:t>
            </a:r>
            <a:r>
              <a:rPr lang="de-DE" sz="1800" dirty="0" err="1"/>
              <a:t>sufficient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No</a:t>
            </a:r>
            <a:r>
              <a:rPr lang="de-DE" sz="1800" dirty="0"/>
              <a:t> </a:t>
            </a:r>
            <a:r>
              <a:rPr lang="de-DE" sz="1800" dirty="0" err="1"/>
              <a:t>centralized</a:t>
            </a:r>
            <a:r>
              <a:rPr lang="de-DE" sz="1800" dirty="0"/>
              <a:t> root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trust</a:t>
            </a:r>
            <a:endParaRPr lang="de-DE" sz="1800" dirty="0"/>
          </a:p>
        </p:txBody>
      </p:sp>
      <p:sp>
        <p:nvSpPr>
          <p:cNvPr id="19" name="Textplatzhalter 76">
            <a:extLst>
              <a:ext uri="{FF2B5EF4-FFF2-40B4-BE49-F238E27FC236}">
                <a16:creationId xmlns:a16="http://schemas.microsoft.com/office/drawing/2014/main" id="{9D78D215-3956-93B5-36C3-32F4F3E74A11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59593" y="2286000"/>
            <a:ext cx="325317" cy="311944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BB18A73-3F88-6894-B980-AE637085D691}"/>
              </a:ext>
            </a:extLst>
          </p:cNvPr>
          <p:cNvSpPr txBox="1"/>
          <p:nvPr/>
        </p:nvSpPr>
        <p:spPr bwMode="gray">
          <a:xfrm>
            <a:off x="10489957" y="2475929"/>
            <a:ext cx="1516306" cy="2640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Transmits</a:t>
            </a:r>
            <a:r>
              <a:rPr lang="de-DE" sz="1400" dirty="0"/>
              <a:t> </a:t>
            </a:r>
            <a:r>
              <a:rPr lang="de-DE" sz="1400" dirty="0" err="1"/>
              <a:t>join</a:t>
            </a:r>
            <a:r>
              <a:rPr lang="de-DE" sz="1400" dirty="0"/>
              <a:t> </a:t>
            </a:r>
            <a:r>
              <a:rPr lang="de-DE" sz="1400" dirty="0" err="1"/>
              <a:t>request</a:t>
            </a:r>
            <a:endParaRPr lang="de-DE" sz="14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B137016-4EEB-0298-7196-D1A47ABFF6DA}"/>
              </a:ext>
            </a:extLst>
          </p:cNvPr>
          <p:cNvSpPr txBox="1"/>
          <p:nvPr/>
        </p:nvSpPr>
        <p:spPr bwMode="gray">
          <a:xfrm>
            <a:off x="10130778" y="3810000"/>
            <a:ext cx="1689747" cy="4635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Approves</a:t>
            </a:r>
            <a:r>
              <a:rPr lang="de-DE" sz="1400" dirty="0"/>
              <a:t> and </a:t>
            </a:r>
            <a:r>
              <a:rPr lang="de-DE" sz="1400" dirty="0" err="1"/>
              <a:t>provides</a:t>
            </a:r>
            <a:r>
              <a:rPr lang="de-DE" sz="1400" dirty="0"/>
              <a:t> </a:t>
            </a:r>
            <a:r>
              <a:rPr lang="de-DE" sz="1400" dirty="0" err="1"/>
              <a:t>certificate</a:t>
            </a:r>
            <a:endParaRPr lang="de-DE" sz="1400" dirty="0"/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B9CFF7BF-3853-E68E-2F38-6164A9BF522E}"/>
              </a:ext>
            </a:extLst>
          </p:cNvPr>
          <p:cNvCxnSpPr>
            <a:cxnSpLocks/>
            <a:stCxn id="32" idx="0"/>
          </p:cNvCxnSpPr>
          <p:nvPr/>
        </p:nvCxnSpPr>
        <p:spPr bwMode="gray">
          <a:xfrm flipV="1">
            <a:off x="9152819" y="3233738"/>
            <a:ext cx="1534231" cy="124971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E708FB69-86E1-D064-7538-7EE0E1E36AB1}"/>
              </a:ext>
            </a:extLst>
          </p:cNvPr>
          <p:cNvCxnSpPr>
            <a:cxnSpLocks/>
            <a:stCxn id="32" idx="0"/>
          </p:cNvCxnSpPr>
          <p:nvPr/>
        </p:nvCxnSpPr>
        <p:spPr bwMode="gray">
          <a:xfrm flipV="1">
            <a:off x="9152819" y="3233738"/>
            <a:ext cx="757944" cy="124971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D77E0863-E151-32EC-C02A-3AEAACD17CC5}"/>
              </a:ext>
            </a:extLst>
          </p:cNvPr>
          <p:cNvCxnSpPr>
            <a:cxnSpLocks/>
            <a:stCxn id="32" idx="0"/>
          </p:cNvCxnSpPr>
          <p:nvPr/>
        </p:nvCxnSpPr>
        <p:spPr bwMode="gray">
          <a:xfrm flipV="1">
            <a:off x="9152819" y="3224213"/>
            <a:ext cx="0" cy="1259243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746C72DC-F78A-2E27-88D3-9F1E2C0DF1C9}"/>
              </a:ext>
            </a:extLst>
          </p:cNvPr>
          <p:cNvCxnSpPr>
            <a:cxnSpLocks/>
            <a:stCxn id="32" idx="0"/>
          </p:cNvCxnSpPr>
          <p:nvPr/>
        </p:nvCxnSpPr>
        <p:spPr bwMode="gray">
          <a:xfrm flipH="1" flipV="1">
            <a:off x="8401050" y="3233738"/>
            <a:ext cx="751769" cy="124971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39DF8562-A983-1DE3-6DB8-B2D61403BC78}"/>
              </a:ext>
            </a:extLst>
          </p:cNvPr>
          <p:cNvCxnSpPr>
            <a:cxnSpLocks/>
            <a:stCxn id="32" idx="0"/>
          </p:cNvCxnSpPr>
          <p:nvPr/>
        </p:nvCxnSpPr>
        <p:spPr bwMode="gray">
          <a:xfrm flipH="1" flipV="1">
            <a:off x="7643813" y="3248025"/>
            <a:ext cx="1509006" cy="1235431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774F76F8-60B6-F347-6637-517D37555F55}"/>
              </a:ext>
            </a:extLst>
          </p:cNvPr>
          <p:cNvCxnSpPr>
            <a:cxnSpLocks/>
            <a:stCxn id="42" idx="0"/>
          </p:cNvCxnSpPr>
          <p:nvPr/>
        </p:nvCxnSpPr>
        <p:spPr bwMode="gray">
          <a:xfrm flipV="1">
            <a:off x="7640922" y="1985963"/>
            <a:ext cx="1479266" cy="975045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9C739322-B1B9-FCAC-021B-67EE19685976}"/>
              </a:ext>
            </a:extLst>
          </p:cNvPr>
          <p:cNvCxnSpPr>
            <a:cxnSpLocks/>
            <a:stCxn id="41" idx="0"/>
          </p:cNvCxnSpPr>
          <p:nvPr/>
        </p:nvCxnSpPr>
        <p:spPr bwMode="gray">
          <a:xfrm flipV="1">
            <a:off x="8396826" y="2019300"/>
            <a:ext cx="723362" cy="94170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EB910B83-4E11-D4CF-2E65-9D7E579215E0}"/>
              </a:ext>
            </a:extLst>
          </p:cNvPr>
          <p:cNvCxnSpPr>
            <a:cxnSpLocks/>
            <a:stCxn id="39" idx="0"/>
          </p:cNvCxnSpPr>
          <p:nvPr/>
        </p:nvCxnSpPr>
        <p:spPr bwMode="gray">
          <a:xfrm flipV="1">
            <a:off x="9152730" y="1981200"/>
            <a:ext cx="0" cy="97980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DCEFC662-C429-DF64-A4C3-04CFF6634DF4}"/>
              </a:ext>
            </a:extLst>
          </p:cNvPr>
          <p:cNvCxnSpPr>
            <a:cxnSpLocks/>
            <a:stCxn id="40" idx="0"/>
          </p:cNvCxnSpPr>
          <p:nvPr/>
        </p:nvCxnSpPr>
        <p:spPr bwMode="gray">
          <a:xfrm flipH="1" flipV="1">
            <a:off x="9167813" y="1985963"/>
            <a:ext cx="740821" cy="975045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FD85D339-0926-38F7-14DB-10592F5E4F82}"/>
              </a:ext>
            </a:extLst>
          </p:cNvPr>
          <p:cNvCxnSpPr>
            <a:cxnSpLocks/>
            <a:stCxn id="43" idx="0"/>
          </p:cNvCxnSpPr>
          <p:nvPr/>
        </p:nvCxnSpPr>
        <p:spPr bwMode="gray">
          <a:xfrm flipH="1" flipV="1">
            <a:off x="9191625" y="1962150"/>
            <a:ext cx="1472913" cy="99885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DDEF0B49-9830-9D88-7666-28E7383C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Blockchain-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657A66-AFD9-3B35-72A3-31F24285030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5B1042-2E94-D71B-86EB-92D173F82F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245451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34547F-A1B5-34D1-2DAC-E89543B74F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17</a:t>
            </a:fld>
            <a:endParaRPr lang="de-DE" dirty="0"/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D59C55B9-A600-92C3-9AEE-C3ACB5382419}"/>
              </a:ext>
            </a:extLst>
          </p:cNvPr>
          <p:cNvGrpSpPr/>
          <p:nvPr/>
        </p:nvGrpSpPr>
        <p:grpSpPr>
          <a:xfrm>
            <a:off x="7447442" y="4482298"/>
            <a:ext cx="2277000" cy="746902"/>
            <a:chOff x="7842567" y="2883600"/>
            <a:chExt cx="2277000" cy="746902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CC89FE86-A211-AA65-4BA0-2E1EEAECC4EA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FEF805CE-71DE-78E3-3015-BFC39BB30644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D4102D84-E0E4-130F-1FB9-4918E1163707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2CF0CA3E-B828-73AC-8F7B-0F4039B1ACE9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D7A10227-B2CE-8364-574C-421CA3A687FB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3CD6F3F4-4622-D6A9-6E64-2A4537F30408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platzhalter 76">
            <a:extLst>
              <a:ext uri="{FF2B5EF4-FFF2-40B4-BE49-F238E27FC236}">
                <a16:creationId xmlns:a16="http://schemas.microsoft.com/office/drawing/2014/main" id="{F7092638-1CB5-EFFD-C6E2-BDCD5FFF3F30}"/>
              </a:ext>
            </a:extLst>
          </p:cNvPr>
          <p:cNvSpPr txBox="1">
            <a:spLocks/>
          </p:cNvSpPr>
          <p:nvPr/>
        </p:nvSpPr>
        <p:spPr bwMode="gray">
          <a:xfrm>
            <a:off x="8699958" y="1628800"/>
            <a:ext cx="907200" cy="68773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800" dirty="0">
                <a:solidFill>
                  <a:schemeClr val="bg1"/>
                </a:solidFill>
              </a:rPr>
              <a:t>New Node</a:t>
            </a:r>
          </a:p>
        </p:txBody>
      </p: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7CC80B5B-8D71-27E5-C47D-F236D7FC30AD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882730" y="296100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84E93FCF-40A1-34F4-A088-76FAFE88E66C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638634" y="296100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82377D2D-49E9-E2D9-BF5C-E39A5F486862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26826" y="296100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7B8FDD15-4FB1-CFAB-B827-FCCF4CA3061A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70922" y="296100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00C84E3D-7592-EC1E-8951-67076E2B105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394538" y="296100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118E7C45-FAC0-C65D-214A-31AA679683E1}"/>
              </a:ext>
            </a:extLst>
          </p:cNvPr>
          <p:cNvGrpSpPr/>
          <p:nvPr/>
        </p:nvGrpSpPr>
        <p:grpSpPr>
          <a:xfrm>
            <a:off x="9779549" y="3824288"/>
            <a:ext cx="179534" cy="194097"/>
            <a:chOff x="6203950" y="2825279"/>
            <a:chExt cx="432000" cy="432000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2B536248-6730-2F62-E4E1-41DB3A83E5CE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817F9870-7D55-8D30-32F7-1A36EF4CE5C8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4372C4EF-A33F-D8E6-5F9D-0A8A4E599587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A34FFE66-B737-255A-250F-F12C848F0B4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53B454B6-BF70-32AE-D2AB-66A4F0491A86}"/>
              </a:ext>
            </a:extLst>
          </p:cNvPr>
          <p:cNvGrpSpPr/>
          <p:nvPr/>
        </p:nvGrpSpPr>
        <p:grpSpPr>
          <a:xfrm>
            <a:off x="9401113" y="3824288"/>
            <a:ext cx="179534" cy="194097"/>
            <a:chOff x="6203950" y="2825279"/>
            <a:chExt cx="432000" cy="432000"/>
          </a:xfrm>
        </p:grpSpPr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6EF544BF-D3D3-009C-1E52-0D829726DC6C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20" name="Gruppieren 119">
              <a:extLst>
                <a:ext uri="{FF2B5EF4-FFF2-40B4-BE49-F238E27FC236}">
                  <a16:creationId xmlns:a16="http://schemas.microsoft.com/office/drawing/2014/main" id="{01D7214C-F8A6-4BE9-94FA-500AD47FA08C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21" name="Gerader Verbinder 120">
                <a:extLst>
                  <a:ext uri="{FF2B5EF4-FFF2-40B4-BE49-F238E27FC236}">
                    <a16:creationId xmlns:a16="http://schemas.microsoft.com/office/drawing/2014/main" id="{C7CEFFD8-E1A1-050B-E52B-A0CF9F635586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9FFE2734-A8CA-4468-8A1D-B478BD0BC8E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296E5F3B-DC4A-B617-4069-24F40CE8D1B2}"/>
              </a:ext>
            </a:extLst>
          </p:cNvPr>
          <p:cNvGrpSpPr/>
          <p:nvPr/>
        </p:nvGrpSpPr>
        <p:grpSpPr>
          <a:xfrm>
            <a:off x="9064677" y="3824288"/>
            <a:ext cx="179534" cy="194097"/>
            <a:chOff x="6203950" y="2825279"/>
            <a:chExt cx="432000" cy="432000"/>
          </a:xfrm>
        </p:grpSpPr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EBCAA9C9-8BE1-2062-786D-4A7B074D883A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25" name="Gruppieren 124">
              <a:extLst>
                <a:ext uri="{FF2B5EF4-FFF2-40B4-BE49-F238E27FC236}">
                  <a16:creationId xmlns:a16="http://schemas.microsoft.com/office/drawing/2014/main" id="{8823D006-520F-9676-42FA-64080C6E7030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FD8EAFF7-E276-EA36-1B59-FB7023F632BF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284B0F40-6FC7-5B5F-B3E8-911008A79551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8" name="Gruppieren 127">
            <a:extLst>
              <a:ext uri="{FF2B5EF4-FFF2-40B4-BE49-F238E27FC236}">
                <a16:creationId xmlns:a16="http://schemas.microsoft.com/office/drawing/2014/main" id="{F05B3E05-086B-F0EE-08FF-CD4792CB4B6C}"/>
              </a:ext>
            </a:extLst>
          </p:cNvPr>
          <p:cNvGrpSpPr/>
          <p:nvPr/>
        </p:nvGrpSpPr>
        <p:grpSpPr>
          <a:xfrm>
            <a:off x="8726153" y="3824288"/>
            <a:ext cx="179534" cy="194097"/>
            <a:chOff x="6203950" y="2825279"/>
            <a:chExt cx="432000" cy="432000"/>
          </a:xfrm>
        </p:grpSpPr>
        <p:sp>
          <p:nvSpPr>
            <p:cNvPr id="129" name="Ellipse 128">
              <a:extLst>
                <a:ext uri="{FF2B5EF4-FFF2-40B4-BE49-F238E27FC236}">
                  <a16:creationId xmlns:a16="http://schemas.microsoft.com/office/drawing/2014/main" id="{92508D85-CF0E-2891-B415-939384C2D7CF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30" name="Gruppieren 129">
              <a:extLst>
                <a:ext uri="{FF2B5EF4-FFF2-40B4-BE49-F238E27FC236}">
                  <a16:creationId xmlns:a16="http://schemas.microsoft.com/office/drawing/2014/main" id="{AE9E0DE6-DFD1-FC90-E71A-F3931778E5DD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8EDF7845-08A1-FE10-5C8F-2F527E570C52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Gerader Verbinder 131">
                <a:extLst>
                  <a:ext uri="{FF2B5EF4-FFF2-40B4-BE49-F238E27FC236}">
                    <a16:creationId xmlns:a16="http://schemas.microsoft.com/office/drawing/2014/main" id="{89514C6D-6D90-9656-0F45-3551516E9E09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5E107E33-09CF-C71F-18B0-26069E1C725E}"/>
              </a:ext>
            </a:extLst>
          </p:cNvPr>
          <p:cNvGrpSpPr/>
          <p:nvPr/>
        </p:nvGrpSpPr>
        <p:grpSpPr>
          <a:xfrm>
            <a:off x="8375453" y="3824288"/>
            <a:ext cx="179534" cy="194097"/>
            <a:chOff x="6203950" y="2825279"/>
            <a:chExt cx="432000" cy="432000"/>
          </a:xfrm>
        </p:grpSpPr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47DBA330-AAE2-3A21-6274-0A77448CB276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35" name="Gruppieren 134">
              <a:extLst>
                <a:ext uri="{FF2B5EF4-FFF2-40B4-BE49-F238E27FC236}">
                  <a16:creationId xmlns:a16="http://schemas.microsoft.com/office/drawing/2014/main" id="{F7D1B993-5222-7006-D72A-AD421315AA83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36" name="Gerader Verbinder 135">
                <a:extLst>
                  <a:ext uri="{FF2B5EF4-FFF2-40B4-BE49-F238E27FC236}">
                    <a16:creationId xmlns:a16="http://schemas.microsoft.com/office/drawing/2014/main" id="{B00913D4-3D49-9812-CD6B-F7F7E518A1DF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Gerader Verbinder 136">
                <a:extLst>
                  <a:ext uri="{FF2B5EF4-FFF2-40B4-BE49-F238E27FC236}">
                    <a16:creationId xmlns:a16="http://schemas.microsoft.com/office/drawing/2014/main" id="{BF67A0CF-851D-79DE-776F-E669CB652591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8" name="Textfeld 137">
            <a:extLst>
              <a:ext uri="{FF2B5EF4-FFF2-40B4-BE49-F238E27FC236}">
                <a16:creationId xmlns:a16="http://schemas.microsoft.com/office/drawing/2014/main" id="{3F8132E7-0443-A2D4-1979-529BD6276789}"/>
              </a:ext>
            </a:extLst>
          </p:cNvPr>
          <p:cNvSpPr txBox="1"/>
          <p:nvPr/>
        </p:nvSpPr>
        <p:spPr bwMode="gray">
          <a:xfrm>
            <a:off x="6241485" y="2950408"/>
            <a:ext cx="1078651" cy="539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Existing</a:t>
            </a:r>
            <a:r>
              <a:rPr lang="de-DE" b="1" dirty="0"/>
              <a:t> Nodes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1D6BBD9-3206-36AA-778C-7A4CEECF6CC6}"/>
              </a:ext>
            </a:extLst>
          </p:cNvPr>
          <p:cNvSpPr/>
          <p:nvPr/>
        </p:nvSpPr>
        <p:spPr bwMode="gray">
          <a:xfrm>
            <a:off x="8643918" y="4548204"/>
            <a:ext cx="1019175" cy="609600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pic>
        <p:nvPicPr>
          <p:cNvPr id="147" name="Grafik 14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EE9A7B24-511F-713C-2D25-336A3A771F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19783" y="4621145"/>
            <a:ext cx="471025" cy="471025"/>
          </a:xfrm>
          <a:prstGeom prst="rect">
            <a:avLst/>
          </a:prstGeom>
        </p:spPr>
      </p:pic>
      <p:sp>
        <p:nvSpPr>
          <p:cNvPr id="26" name="Textplatzhalter 76">
            <a:extLst>
              <a:ext uri="{FF2B5EF4-FFF2-40B4-BE49-F238E27FC236}">
                <a16:creationId xmlns:a16="http://schemas.microsoft.com/office/drawing/2014/main" id="{6B45A417-BA5F-0C4A-2374-F70B80D2DB42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974975" y="2558575"/>
            <a:ext cx="184845" cy="19573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050" dirty="0">
                <a:solidFill>
                  <a:schemeClr val="bg1"/>
                </a:solidFill>
              </a:rPr>
              <a:t>?</a:t>
            </a:r>
            <a:endParaRPr lang="de-DE" sz="600" dirty="0">
              <a:solidFill>
                <a:schemeClr val="bg1"/>
              </a:solidFill>
            </a:endParaRPr>
          </a:p>
        </p:txBody>
      </p:sp>
      <p:sp>
        <p:nvSpPr>
          <p:cNvPr id="34" name="Textplatzhalter 76">
            <a:extLst>
              <a:ext uri="{FF2B5EF4-FFF2-40B4-BE49-F238E27FC236}">
                <a16:creationId xmlns:a16="http://schemas.microsoft.com/office/drawing/2014/main" id="{D91C2105-114A-7A31-FF8A-94C7D8B62D9D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533499" y="2559369"/>
            <a:ext cx="184845" cy="19573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050" dirty="0">
                <a:solidFill>
                  <a:schemeClr val="bg1"/>
                </a:solidFill>
              </a:rPr>
              <a:t>?</a:t>
            </a:r>
            <a:endParaRPr lang="de-DE" sz="600" dirty="0">
              <a:solidFill>
                <a:schemeClr val="bg1"/>
              </a:solidFill>
            </a:endParaRPr>
          </a:p>
        </p:txBody>
      </p:sp>
      <p:sp>
        <p:nvSpPr>
          <p:cNvPr id="35" name="Textplatzhalter 76">
            <a:extLst>
              <a:ext uri="{FF2B5EF4-FFF2-40B4-BE49-F238E27FC236}">
                <a16:creationId xmlns:a16="http://schemas.microsoft.com/office/drawing/2014/main" id="{AE8F6B28-40D8-5DDF-AC8E-B0A2627A619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066486" y="2565749"/>
            <a:ext cx="184845" cy="19573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050" dirty="0">
                <a:solidFill>
                  <a:schemeClr val="bg1"/>
                </a:solidFill>
              </a:rPr>
              <a:t>?</a:t>
            </a:r>
            <a:endParaRPr lang="de-DE" sz="600" dirty="0">
              <a:solidFill>
                <a:schemeClr val="bg1"/>
              </a:solidFill>
            </a:endParaRPr>
          </a:p>
        </p:txBody>
      </p:sp>
      <p:sp>
        <p:nvSpPr>
          <p:cNvPr id="37" name="Textplatzhalter 76">
            <a:extLst>
              <a:ext uri="{FF2B5EF4-FFF2-40B4-BE49-F238E27FC236}">
                <a16:creationId xmlns:a16="http://schemas.microsoft.com/office/drawing/2014/main" id="{E282D4BF-8C42-4236-2005-96F37BC71063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594430" y="2565749"/>
            <a:ext cx="184845" cy="19573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050" dirty="0">
                <a:solidFill>
                  <a:schemeClr val="bg1"/>
                </a:solidFill>
              </a:rPr>
              <a:t>?</a:t>
            </a:r>
            <a:endParaRPr lang="de-DE" sz="600" dirty="0">
              <a:solidFill>
                <a:schemeClr val="bg1"/>
              </a:solidFill>
            </a:endParaRPr>
          </a:p>
        </p:txBody>
      </p:sp>
      <p:sp>
        <p:nvSpPr>
          <p:cNvPr id="45" name="Textplatzhalter 76">
            <a:extLst>
              <a:ext uri="{FF2B5EF4-FFF2-40B4-BE49-F238E27FC236}">
                <a16:creationId xmlns:a16="http://schemas.microsoft.com/office/drawing/2014/main" id="{0D96E6CD-4141-72A4-0341-3F4B79A7B39C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137785" y="2557704"/>
            <a:ext cx="184845" cy="19573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050" dirty="0">
                <a:solidFill>
                  <a:schemeClr val="bg1"/>
                </a:solidFill>
              </a:rPr>
              <a:t>?</a:t>
            </a:r>
            <a:endParaRPr lang="de-DE" sz="600" dirty="0">
              <a:solidFill>
                <a:schemeClr val="bg1"/>
              </a:solidFill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044CE67-9050-18AC-6736-7BE3005635D8}"/>
              </a:ext>
            </a:extLst>
          </p:cNvPr>
          <p:cNvGrpSpPr/>
          <p:nvPr/>
        </p:nvGrpSpPr>
        <p:grpSpPr>
          <a:xfrm>
            <a:off x="558642" y="2627664"/>
            <a:ext cx="323957" cy="319065"/>
            <a:chOff x="6203950" y="2825279"/>
            <a:chExt cx="432000" cy="432000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F28E3C1B-80B0-67BC-AB65-3E2425E2AA8F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85D0093D-71C2-2A7B-0293-BAF3350191C0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564A5481-26ED-D95F-8A70-7532AAB740A2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ECC62536-E551-FA2C-D356-C6CE9BB50BE1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6EF3CDB-A246-4394-A0EE-F31BD3E5CBDB}"/>
              </a:ext>
            </a:extLst>
          </p:cNvPr>
          <p:cNvGrpSpPr/>
          <p:nvPr/>
        </p:nvGrpSpPr>
        <p:grpSpPr>
          <a:xfrm>
            <a:off x="558642" y="2983264"/>
            <a:ext cx="323957" cy="319065"/>
            <a:chOff x="6203950" y="2825279"/>
            <a:chExt cx="432000" cy="432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52245E6C-E449-F166-8A1A-DE966C2F5A6A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457667BD-690E-5A37-1139-7AE3658AF8A7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11647B02-3B98-8AB6-EAD0-8661BF89F63C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0F71B030-AEE3-C03D-C623-52E10D08F930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8106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628F-7412-C9CE-E884-0C323329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0035141-143B-0F53-BE74-772CB42BE58C}"/>
              </a:ext>
            </a:extLst>
          </p:cNvPr>
          <p:cNvSpPr/>
          <p:nvPr/>
        </p:nvSpPr>
        <p:spPr bwMode="gray">
          <a:xfrm>
            <a:off x="7278914" y="2600325"/>
            <a:ext cx="4541611" cy="2193948"/>
          </a:xfrm>
          <a:prstGeom prst="rect">
            <a:avLst/>
          </a:prstGeom>
          <a:noFill/>
          <a:ln w="76200">
            <a:solidFill>
              <a:srgbClr val="009682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072610B4-7D43-7416-8A7E-EAE8F45D60E4}"/>
              </a:ext>
            </a:extLst>
          </p:cNvPr>
          <p:cNvCxnSpPr>
            <a:cxnSpLocks/>
          </p:cNvCxnSpPr>
          <p:nvPr/>
        </p:nvCxnSpPr>
        <p:spPr bwMode="gray">
          <a:xfrm flipV="1">
            <a:off x="10665755" y="3486149"/>
            <a:ext cx="0" cy="2881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platzhalter 2">
            <a:extLst>
              <a:ext uri="{FF2B5EF4-FFF2-40B4-BE49-F238E27FC236}">
                <a16:creationId xmlns:a16="http://schemas.microsoft.com/office/drawing/2014/main" id="{DFF9011E-497F-4634-1808-F8558D75228F}"/>
              </a:ext>
            </a:extLst>
          </p:cNvPr>
          <p:cNvSpPr txBox="1">
            <a:spLocks/>
          </p:cNvSpPr>
          <p:nvPr/>
        </p:nvSpPr>
        <p:spPr bwMode="gray">
          <a:xfrm>
            <a:off x="371475" y="4041775"/>
            <a:ext cx="5616575" cy="2232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/>
              <a:t>Every </a:t>
            </a:r>
            <a:r>
              <a:rPr lang="de-DE" sz="1800" dirty="0" err="1"/>
              <a:t>node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completely</a:t>
            </a:r>
            <a:r>
              <a:rPr lang="de-DE" sz="1800" dirty="0"/>
              <a:t> </a:t>
            </a:r>
            <a:r>
              <a:rPr lang="de-DE" sz="1800" dirty="0" err="1"/>
              <a:t>integrated</a:t>
            </a:r>
            <a:r>
              <a:rPr lang="de-DE" sz="1800" dirty="0"/>
              <a:t> </a:t>
            </a:r>
            <a:r>
              <a:rPr lang="de-DE" sz="1800" dirty="0" err="1"/>
              <a:t>into</a:t>
            </a:r>
            <a:r>
              <a:rPr lang="de-DE" sz="1800" dirty="0"/>
              <a:t> </a:t>
            </a:r>
            <a:r>
              <a:rPr lang="de-DE" sz="1800" dirty="0" err="1"/>
              <a:t>certificate</a:t>
            </a:r>
            <a:r>
              <a:rPr lang="de-DE" sz="1800" dirty="0"/>
              <a:t> </a:t>
            </a:r>
            <a:r>
              <a:rPr lang="de-DE" sz="1800" dirty="0" err="1"/>
              <a:t>operations</a:t>
            </a:r>
            <a:r>
              <a:rPr lang="de-DE" sz="1800" dirty="0"/>
              <a:t> </a:t>
            </a:r>
          </a:p>
          <a:p>
            <a:pPr marL="612900" lvl="1" indent="-342900">
              <a:buFont typeface="Arial" panose="020B0604020202020204" pitchFamily="34" charset="0"/>
              <a:buChar char="•"/>
            </a:pPr>
            <a:endParaRPr lang="de-DE" sz="1800" dirty="0"/>
          </a:p>
        </p:txBody>
      </p: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94D5D6C1-064E-8F38-4FC4-65DB11C0D4F5}"/>
              </a:ext>
            </a:extLst>
          </p:cNvPr>
          <p:cNvGrpSpPr>
            <a:grpSpLocks noChangeAspect="1"/>
          </p:cNvGrpSpPr>
          <p:nvPr/>
        </p:nvGrpSpPr>
        <p:grpSpPr>
          <a:xfrm>
            <a:off x="10393232" y="4016375"/>
            <a:ext cx="736862" cy="241706"/>
            <a:chOff x="8023724" y="4482298"/>
            <a:chExt cx="2277000" cy="746902"/>
          </a:xfrm>
        </p:grpSpPr>
        <p:grpSp>
          <p:nvGrpSpPr>
            <p:cNvPr id="110" name="Gruppieren 109">
              <a:extLst>
                <a:ext uri="{FF2B5EF4-FFF2-40B4-BE49-F238E27FC236}">
                  <a16:creationId xmlns:a16="http://schemas.microsoft.com/office/drawing/2014/main" id="{AFB0D832-7F8C-C4EB-EFD8-0DF1A988FD27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40" name="Gruppieren 139">
                <a:extLst>
                  <a:ext uri="{FF2B5EF4-FFF2-40B4-BE49-F238E27FC236}">
                    <a16:creationId xmlns:a16="http://schemas.microsoft.com/office/drawing/2014/main" id="{840BD508-4CD2-BFED-6961-03D9BEB95E6F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42" name="Rechteck: abgerundete Ecken 141">
                  <a:extLst>
                    <a:ext uri="{FF2B5EF4-FFF2-40B4-BE49-F238E27FC236}">
                      <a16:creationId xmlns:a16="http://schemas.microsoft.com/office/drawing/2014/main" id="{A8B35C05-1034-DD6C-288A-464226869AB9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3" name="Rechteck: abgerundete Ecken 142">
                  <a:extLst>
                    <a:ext uri="{FF2B5EF4-FFF2-40B4-BE49-F238E27FC236}">
                      <a16:creationId xmlns:a16="http://schemas.microsoft.com/office/drawing/2014/main" id="{8D24EA64-03E1-16A5-D0A2-C68BA3379E62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4" name="Rechteck: abgerundete Ecken 143">
                  <a:extLst>
                    <a:ext uri="{FF2B5EF4-FFF2-40B4-BE49-F238E27FC236}">
                      <a16:creationId xmlns:a16="http://schemas.microsoft.com/office/drawing/2014/main" id="{0DFC01EC-6C7A-28E7-5D80-792CEB19A795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" name="Rechteck: abgerundete Ecken 144">
                  <a:extLst>
                    <a:ext uri="{FF2B5EF4-FFF2-40B4-BE49-F238E27FC236}">
                      <a16:creationId xmlns:a16="http://schemas.microsoft.com/office/drawing/2014/main" id="{2C0BF9C6-1A40-4896-C85F-E9AB4FDE363B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6" name="Rechteck: abgerundete Ecken 145">
                  <a:extLst>
                    <a:ext uri="{FF2B5EF4-FFF2-40B4-BE49-F238E27FC236}">
                      <a16:creationId xmlns:a16="http://schemas.microsoft.com/office/drawing/2014/main" id="{92EB14DB-37A8-C69B-699C-BF84AE826D14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8" name="Rechteck: abgerundete Ecken 147">
                  <a:extLst>
                    <a:ext uri="{FF2B5EF4-FFF2-40B4-BE49-F238E27FC236}">
                      <a16:creationId xmlns:a16="http://schemas.microsoft.com/office/drawing/2014/main" id="{21B4F1A8-46BA-104B-B2AF-DEB7F6E740A9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74C39968-EA7B-14D1-A945-141BB32F73BC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39" name="Grafik 138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6AC0DC78-DBFA-B60A-3361-92C8644F3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9CD67D84-3013-17FB-ADDD-9238EC1D4250}"/>
              </a:ext>
            </a:extLst>
          </p:cNvPr>
          <p:cNvGrpSpPr>
            <a:grpSpLocks noChangeAspect="1"/>
          </p:cNvGrpSpPr>
          <p:nvPr/>
        </p:nvGrpSpPr>
        <p:grpSpPr>
          <a:xfrm>
            <a:off x="9208957" y="4016375"/>
            <a:ext cx="736862" cy="241706"/>
            <a:chOff x="8023724" y="4482298"/>
            <a:chExt cx="2277000" cy="746902"/>
          </a:xfrm>
        </p:grpSpPr>
        <p:grpSp>
          <p:nvGrpSpPr>
            <p:cNvPr id="99" name="Gruppieren 98">
              <a:extLst>
                <a:ext uri="{FF2B5EF4-FFF2-40B4-BE49-F238E27FC236}">
                  <a16:creationId xmlns:a16="http://schemas.microsoft.com/office/drawing/2014/main" id="{88DF75DF-4D9F-A6BC-4BAB-1A7B766EBE15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01" name="Gruppieren 100">
                <a:extLst>
                  <a:ext uri="{FF2B5EF4-FFF2-40B4-BE49-F238E27FC236}">
                    <a16:creationId xmlns:a16="http://schemas.microsoft.com/office/drawing/2014/main" id="{4682F729-B778-1DCB-1AF7-5B5652EF57E5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03" name="Rechteck: abgerundete Ecken 102">
                  <a:extLst>
                    <a:ext uri="{FF2B5EF4-FFF2-40B4-BE49-F238E27FC236}">
                      <a16:creationId xmlns:a16="http://schemas.microsoft.com/office/drawing/2014/main" id="{0AF6F9FE-9909-42B0-ABDF-40BB434084D7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4" name="Rechteck: abgerundete Ecken 103">
                  <a:extLst>
                    <a:ext uri="{FF2B5EF4-FFF2-40B4-BE49-F238E27FC236}">
                      <a16:creationId xmlns:a16="http://schemas.microsoft.com/office/drawing/2014/main" id="{3DC26DE7-9626-F327-28AF-D8C816AAC3D3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5" name="Rechteck: abgerundete Ecken 104">
                  <a:extLst>
                    <a:ext uri="{FF2B5EF4-FFF2-40B4-BE49-F238E27FC236}">
                      <a16:creationId xmlns:a16="http://schemas.microsoft.com/office/drawing/2014/main" id="{1403C825-5804-FFE8-C653-CB5A1341DDA8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6" name="Rechteck: abgerundete Ecken 105">
                  <a:extLst>
                    <a:ext uri="{FF2B5EF4-FFF2-40B4-BE49-F238E27FC236}">
                      <a16:creationId xmlns:a16="http://schemas.microsoft.com/office/drawing/2014/main" id="{410A15D3-A776-3116-70DE-2825FE9F7E2B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7" name="Rechteck: abgerundete Ecken 106">
                  <a:extLst>
                    <a:ext uri="{FF2B5EF4-FFF2-40B4-BE49-F238E27FC236}">
                      <a16:creationId xmlns:a16="http://schemas.microsoft.com/office/drawing/2014/main" id="{76A3B7E9-ADC1-ABF9-D65B-2BBD881868A7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8" name="Rechteck: abgerundete Ecken 107">
                  <a:extLst>
                    <a:ext uri="{FF2B5EF4-FFF2-40B4-BE49-F238E27FC236}">
                      <a16:creationId xmlns:a16="http://schemas.microsoft.com/office/drawing/2014/main" id="{AD1CCF3F-9892-B098-E524-E1F37B88DFB8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A1755278-4384-771B-0B90-DAC48D3810BF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00" name="Grafik 99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3E7910F8-D924-6934-BAF7-0CF3B6CA5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D3DD821C-2277-E465-B91B-03EEE0143ABE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070434" y="4114800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53833F3-6666-C000-D5E7-D3C0FD938946}"/>
              </a:ext>
            </a:extLst>
          </p:cNvPr>
          <p:cNvGrpSpPr>
            <a:grpSpLocks noChangeAspect="1"/>
          </p:cNvGrpSpPr>
          <p:nvPr/>
        </p:nvGrpSpPr>
        <p:grpSpPr>
          <a:xfrm>
            <a:off x="7691176" y="4016375"/>
            <a:ext cx="736862" cy="241706"/>
            <a:chOff x="8023724" y="4482298"/>
            <a:chExt cx="2277000" cy="746902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827480A6-D2A3-B313-E802-E96DED5E7887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DC6859CA-6A8A-6426-E00A-5AAE31D9FAD9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21" name="Rechteck: abgerundete Ecken 20">
                  <a:extLst>
                    <a:ext uri="{FF2B5EF4-FFF2-40B4-BE49-F238E27FC236}">
                      <a16:creationId xmlns:a16="http://schemas.microsoft.com/office/drawing/2014/main" id="{CE84A27F-4769-CBC5-3AF8-0397C4FE2465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Rechteck: abgerundete Ecken 21">
                  <a:extLst>
                    <a:ext uri="{FF2B5EF4-FFF2-40B4-BE49-F238E27FC236}">
                      <a16:creationId xmlns:a16="http://schemas.microsoft.com/office/drawing/2014/main" id="{35EA990B-A08F-3217-BD1D-90EFC75EA9A5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Rechteck: abgerundete Ecken 22">
                  <a:extLst>
                    <a:ext uri="{FF2B5EF4-FFF2-40B4-BE49-F238E27FC236}">
                      <a16:creationId xmlns:a16="http://schemas.microsoft.com/office/drawing/2014/main" id="{D3295A3B-7D5F-1C1D-B39D-4156464E2108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Rechteck: abgerundete Ecken 23">
                  <a:extLst>
                    <a:ext uri="{FF2B5EF4-FFF2-40B4-BE49-F238E27FC236}">
                      <a16:creationId xmlns:a16="http://schemas.microsoft.com/office/drawing/2014/main" id="{4A3B496C-8925-1D86-8682-9469EF8A358C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Rechteck: abgerundete Ecken 24">
                  <a:extLst>
                    <a:ext uri="{FF2B5EF4-FFF2-40B4-BE49-F238E27FC236}">
                      <a16:creationId xmlns:a16="http://schemas.microsoft.com/office/drawing/2014/main" id="{13E394E4-9547-5FC4-14E5-DF2C7A8EC7A6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8" name="Rechteck: abgerundete Ecken 37">
                  <a:extLst>
                    <a:ext uri="{FF2B5EF4-FFF2-40B4-BE49-F238E27FC236}">
                      <a16:creationId xmlns:a16="http://schemas.microsoft.com/office/drawing/2014/main" id="{4DA204B2-E9E3-0C51-F10E-FEB4B586A695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DA73F759-1C2B-FA70-68A1-39A441361868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1" name="Grafik 10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EBEB293F-75D9-191F-94FC-3C112EED6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A938A556-A446-1388-3A6E-04A62B1DCB2B}"/>
              </a:ext>
            </a:extLst>
          </p:cNvPr>
          <p:cNvGrpSpPr>
            <a:grpSpLocks noChangeAspect="1"/>
          </p:cNvGrpSpPr>
          <p:nvPr/>
        </p:nvGrpSpPr>
        <p:grpSpPr>
          <a:xfrm>
            <a:off x="10578838" y="2890800"/>
            <a:ext cx="736862" cy="241706"/>
            <a:chOff x="8023724" y="4482298"/>
            <a:chExt cx="2277000" cy="746902"/>
          </a:xfrm>
        </p:grpSpPr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EFD4E2D8-F740-B9F4-34DC-43AB868746A9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50" name="Gruppieren 49">
                <a:extLst>
                  <a:ext uri="{FF2B5EF4-FFF2-40B4-BE49-F238E27FC236}">
                    <a16:creationId xmlns:a16="http://schemas.microsoft.com/office/drawing/2014/main" id="{1118A1E3-54B3-95B6-D154-D447E59E0569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53" name="Rechteck: abgerundete Ecken 52">
                  <a:extLst>
                    <a:ext uri="{FF2B5EF4-FFF2-40B4-BE49-F238E27FC236}">
                      <a16:creationId xmlns:a16="http://schemas.microsoft.com/office/drawing/2014/main" id="{33A9D227-7E53-CBB0-7EDC-93C9B8B4E5BC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5" name="Rechteck: abgerundete Ecken 54">
                  <a:extLst>
                    <a:ext uri="{FF2B5EF4-FFF2-40B4-BE49-F238E27FC236}">
                      <a16:creationId xmlns:a16="http://schemas.microsoft.com/office/drawing/2014/main" id="{0FCBCA0D-D1DA-6E7F-F9D5-3CA16510091C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6" name="Rechteck: abgerundete Ecken 55">
                  <a:extLst>
                    <a:ext uri="{FF2B5EF4-FFF2-40B4-BE49-F238E27FC236}">
                      <a16:creationId xmlns:a16="http://schemas.microsoft.com/office/drawing/2014/main" id="{581945A2-3DD9-7C64-A242-8E8020CA4686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9" name="Rechteck: abgerundete Ecken 58">
                  <a:extLst>
                    <a:ext uri="{FF2B5EF4-FFF2-40B4-BE49-F238E27FC236}">
                      <a16:creationId xmlns:a16="http://schemas.microsoft.com/office/drawing/2014/main" id="{C44BEB1D-8BA3-F5F7-08B0-DFC582B47D2D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" name="Rechteck: abgerundete Ecken 59">
                  <a:extLst>
                    <a:ext uri="{FF2B5EF4-FFF2-40B4-BE49-F238E27FC236}">
                      <a16:creationId xmlns:a16="http://schemas.microsoft.com/office/drawing/2014/main" id="{617F762E-A48B-264A-A5E5-34250B6D20B0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" name="Rechteck: abgerundete Ecken 60">
                  <a:extLst>
                    <a:ext uri="{FF2B5EF4-FFF2-40B4-BE49-F238E27FC236}">
                      <a16:creationId xmlns:a16="http://schemas.microsoft.com/office/drawing/2014/main" id="{B77359F9-CB82-4209-1C7D-E946D2EE60BE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FFA46CFC-6CBD-6583-8DF8-3EC333579E39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49" name="Grafik 48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535F5AAB-67E9-3BC3-4A72-2D7F8B6D3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571730B0-0355-0609-4F1D-974584879776}"/>
              </a:ext>
            </a:extLst>
          </p:cNvPr>
          <p:cNvGrpSpPr>
            <a:grpSpLocks noChangeAspect="1"/>
          </p:cNvGrpSpPr>
          <p:nvPr/>
        </p:nvGrpSpPr>
        <p:grpSpPr>
          <a:xfrm>
            <a:off x="8297601" y="2891243"/>
            <a:ext cx="736862" cy="241706"/>
            <a:chOff x="8023724" y="4482298"/>
            <a:chExt cx="2277000" cy="746902"/>
          </a:xfrm>
        </p:grpSpPr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CA8B3E3E-49F9-0D23-E07E-879ECE346450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71" name="Gruppieren 70">
                <a:extLst>
                  <a:ext uri="{FF2B5EF4-FFF2-40B4-BE49-F238E27FC236}">
                    <a16:creationId xmlns:a16="http://schemas.microsoft.com/office/drawing/2014/main" id="{4D6CE2C4-A4BA-662B-4098-E95DA144015D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73" name="Rechteck: abgerundete Ecken 72">
                  <a:extLst>
                    <a:ext uri="{FF2B5EF4-FFF2-40B4-BE49-F238E27FC236}">
                      <a16:creationId xmlns:a16="http://schemas.microsoft.com/office/drawing/2014/main" id="{7676F865-3220-2F3D-09A3-FFEE437DE2F4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4" name="Rechteck: abgerundete Ecken 73">
                  <a:extLst>
                    <a:ext uri="{FF2B5EF4-FFF2-40B4-BE49-F238E27FC236}">
                      <a16:creationId xmlns:a16="http://schemas.microsoft.com/office/drawing/2014/main" id="{3E611908-6DDD-FCB2-3329-11072F9804CD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6" name="Rechteck: abgerundete Ecken 75">
                  <a:extLst>
                    <a:ext uri="{FF2B5EF4-FFF2-40B4-BE49-F238E27FC236}">
                      <a16:creationId xmlns:a16="http://schemas.microsoft.com/office/drawing/2014/main" id="{5546B6E7-9F53-35D7-9CFD-3E383B7E1E90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7" name="Rechteck: abgerundete Ecken 76">
                  <a:extLst>
                    <a:ext uri="{FF2B5EF4-FFF2-40B4-BE49-F238E27FC236}">
                      <a16:creationId xmlns:a16="http://schemas.microsoft.com/office/drawing/2014/main" id="{66F345C8-3068-4917-0970-DC35A7FCFCD0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9" name="Rechteck: abgerundete Ecken 78">
                  <a:extLst>
                    <a:ext uri="{FF2B5EF4-FFF2-40B4-BE49-F238E27FC236}">
                      <a16:creationId xmlns:a16="http://schemas.microsoft.com/office/drawing/2014/main" id="{9E5132F7-377A-91FB-95FD-9D3FFDBEC7BA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Rechteck: abgerundete Ecken 79">
                  <a:extLst>
                    <a:ext uri="{FF2B5EF4-FFF2-40B4-BE49-F238E27FC236}">
                      <a16:creationId xmlns:a16="http://schemas.microsoft.com/office/drawing/2014/main" id="{530A7D12-E729-1F75-6D8A-3D7518AE6996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4F037B6E-4588-1DA1-D74E-A5D92C7FD4E4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70" name="Grafik 69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9A67D867-E573-2C92-423C-BB45CABB6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7207112-07C3-7E78-6DAB-F6416F12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 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FC1D94-3AFD-D0E4-A081-8312775200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CDBC1B-2D4E-074B-EBE2-6B9C982E0FC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48493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31BF82-FFC8-0309-6615-F2394C4BD9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253D2DB1-F915-C326-A780-91AA5B017A90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882730" y="4114800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86938917-E4A4-64B1-ECDE-91EA53D6620E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26826" y="296100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8AF22582-6427-411B-AED5-BF0C28CC99D1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70922" y="4114800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EC556322-6716-8AE2-9804-7D4F161D3D89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394538" y="296100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81" name="Grafik 80" descr="Glühbirne und Zahnrad Silhouette">
            <a:extLst>
              <a:ext uri="{FF2B5EF4-FFF2-40B4-BE49-F238E27FC236}">
                <a16:creationId xmlns:a16="http://schemas.microsoft.com/office/drawing/2014/main" id="{A9F3F08C-2F2D-13A4-BE97-5441E32AAA0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4343" y="4162463"/>
            <a:ext cx="438150" cy="438150"/>
          </a:xfrm>
          <a:prstGeom prst="rect">
            <a:avLst/>
          </a:prstGeom>
        </p:spPr>
      </p:pic>
      <p:pic>
        <p:nvPicPr>
          <p:cNvPr id="82" name="Grafik 81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8C61E410-F277-CE44-A6D3-6DE14C266E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8180162" y="3087574"/>
            <a:ext cx="438560" cy="274752"/>
          </a:xfrm>
          <a:prstGeom prst="rect">
            <a:avLst/>
          </a:prstGeom>
        </p:spPr>
      </p:pic>
      <p:pic>
        <p:nvPicPr>
          <p:cNvPr id="83" name="Grafik 82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BA904791-2A35-4E2C-1D1A-0F69C13990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15860" y="2986360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rafik 83" descr="Glühbirne und Zahnrad Silhouette">
            <a:extLst>
              <a:ext uri="{FF2B5EF4-FFF2-40B4-BE49-F238E27FC236}">
                <a16:creationId xmlns:a16="http://schemas.microsoft.com/office/drawing/2014/main" id="{49FA42C1-4BCB-D696-9C81-772C94CAB1F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5645" y="4163256"/>
            <a:ext cx="438150" cy="438150"/>
          </a:xfrm>
          <a:prstGeom prst="rect">
            <a:avLst/>
          </a:prstGeom>
        </p:spPr>
      </p:pic>
      <p:pic>
        <p:nvPicPr>
          <p:cNvPr id="85" name="Grafik 84" descr="Glühbirne und Zahnrad Silhouette">
            <a:extLst>
              <a:ext uri="{FF2B5EF4-FFF2-40B4-BE49-F238E27FC236}">
                <a16:creationId xmlns:a16="http://schemas.microsoft.com/office/drawing/2014/main" id="{01199C2C-4256-2D76-BC03-15BD6F5FED8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4682" y="4163256"/>
            <a:ext cx="438150" cy="438150"/>
          </a:xfrm>
          <a:prstGeom prst="rect">
            <a:avLst/>
          </a:prstGeom>
        </p:spPr>
      </p:pic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3FB8E072-21C0-A9A4-239A-3F3AD9C96F06}"/>
              </a:ext>
            </a:extLst>
          </p:cNvPr>
          <p:cNvCxnSpPr>
            <a:cxnSpLocks/>
          </p:cNvCxnSpPr>
          <p:nvPr/>
        </p:nvCxnSpPr>
        <p:spPr bwMode="gray">
          <a:xfrm flipV="1">
            <a:off x="10340434" y="3762375"/>
            <a:ext cx="0" cy="35119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DDE3B7A7-5713-8BE5-38F8-9A6A0BFC8BB3}"/>
              </a:ext>
            </a:extLst>
          </p:cNvPr>
          <p:cNvCxnSpPr>
            <a:cxnSpLocks/>
          </p:cNvCxnSpPr>
          <p:nvPr/>
        </p:nvCxnSpPr>
        <p:spPr bwMode="gray">
          <a:xfrm flipV="1">
            <a:off x="7640922" y="3743325"/>
            <a:ext cx="0" cy="37024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C6E32C0B-4EF9-A6D6-13D1-35E56DE405FC}"/>
              </a:ext>
            </a:extLst>
          </p:cNvPr>
          <p:cNvCxnSpPr>
            <a:cxnSpLocks/>
          </p:cNvCxnSpPr>
          <p:nvPr/>
        </p:nvCxnSpPr>
        <p:spPr bwMode="gray">
          <a:xfrm flipV="1">
            <a:off x="9152730" y="3767138"/>
            <a:ext cx="0" cy="3464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769E458E-F7B7-B660-DA33-09EE204229E9}"/>
              </a:ext>
            </a:extLst>
          </p:cNvPr>
          <p:cNvCxnSpPr>
            <a:cxnSpLocks/>
          </p:cNvCxnSpPr>
          <p:nvPr/>
        </p:nvCxnSpPr>
        <p:spPr bwMode="gray">
          <a:xfrm flipV="1">
            <a:off x="8396826" y="3501008"/>
            <a:ext cx="0" cy="27089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D01B41D6-1532-965D-4BCE-74340B51CEF5}"/>
              </a:ext>
            </a:extLst>
          </p:cNvPr>
          <p:cNvCxnSpPr>
            <a:cxnSpLocks/>
          </p:cNvCxnSpPr>
          <p:nvPr/>
        </p:nvCxnSpPr>
        <p:spPr bwMode="gray">
          <a:xfrm>
            <a:off x="7634288" y="3757613"/>
            <a:ext cx="3043237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1381AF81-DF30-AC2D-4709-AC5F2955BF3A}"/>
              </a:ext>
            </a:extLst>
          </p:cNvPr>
          <p:cNvSpPr txBox="1"/>
          <p:nvPr/>
        </p:nvSpPr>
        <p:spPr bwMode="gray">
          <a:xfrm>
            <a:off x="10711885" y="4220409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Sensors</a:t>
            </a:r>
            <a:endParaRPr lang="de-DE" sz="2000" b="1" dirty="0"/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4F8F7280-4E81-62B0-01D1-38E9DA8DDD3A}"/>
              </a:ext>
            </a:extLst>
          </p:cNvPr>
          <p:cNvSpPr txBox="1"/>
          <p:nvPr/>
        </p:nvSpPr>
        <p:spPr bwMode="gray">
          <a:xfrm>
            <a:off x="7397750" y="3064709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7F879FA3-71F9-3951-E7FB-3932D75DEB8C}"/>
              </a:ext>
            </a:extLst>
          </p:cNvPr>
          <p:cNvSpPr txBox="1"/>
          <p:nvPr/>
        </p:nvSpPr>
        <p:spPr bwMode="gray">
          <a:xfrm>
            <a:off x="9677400" y="3063600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  <a:endParaRPr lang="de-DE" sz="2000" b="1" dirty="0"/>
          </a:p>
        </p:txBody>
      </p:sp>
      <p:grpSp>
        <p:nvGrpSpPr>
          <p:cNvPr id="150" name="Gruppieren 149">
            <a:extLst>
              <a:ext uri="{FF2B5EF4-FFF2-40B4-BE49-F238E27FC236}">
                <a16:creationId xmlns:a16="http://schemas.microsoft.com/office/drawing/2014/main" id="{35C39212-89A6-835E-13D1-5A66EB9523D9}"/>
              </a:ext>
            </a:extLst>
          </p:cNvPr>
          <p:cNvGrpSpPr/>
          <p:nvPr/>
        </p:nvGrpSpPr>
        <p:grpSpPr>
          <a:xfrm>
            <a:off x="550800" y="4033719"/>
            <a:ext cx="342000" cy="342000"/>
            <a:chOff x="7320136" y="4043360"/>
            <a:chExt cx="432000" cy="432000"/>
          </a:xfrm>
        </p:grpSpPr>
        <p:sp>
          <p:nvSpPr>
            <p:cNvPr id="151" name="Textplatzhalter 76">
              <a:extLst>
                <a:ext uri="{FF2B5EF4-FFF2-40B4-BE49-F238E27FC236}">
                  <a16:creationId xmlns:a16="http://schemas.microsoft.com/office/drawing/2014/main" id="{A56FEFDB-E366-8314-CF74-1A6250E96D91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52" name="Gerader Verbinder 151">
              <a:extLst>
                <a:ext uri="{FF2B5EF4-FFF2-40B4-BE49-F238E27FC236}">
                  <a16:creationId xmlns:a16="http://schemas.microsoft.com/office/drawing/2014/main" id="{C413543E-B760-83A4-5F76-BD75EB9657E4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A5E9277B-34EF-FBAD-8B2D-DE0E4A2ACF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616575" cy="4684711"/>
          </a:xfrm>
        </p:spPr>
        <p:txBody>
          <a:bodyPr/>
          <a:lstStyle/>
          <a:p>
            <a:r>
              <a:rPr lang="de-DE" sz="1800" b="1" dirty="0" err="1"/>
              <a:t>Full</a:t>
            </a:r>
            <a:r>
              <a:rPr lang="de-DE" sz="1800" b="1" dirty="0"/>
              <a:t> </a:t>
            </a:r>
            <a:r>
              <a:rPr lang="de-DE" sz="1800" b="1" dirty="0" err="1"/>
              <a:t>decentralization</a:t>
            </a:r>
            <a:r>
              <a:rPr lang="de-DE" sz="1800" b="1" dirty="0"/>
              <a:t>:</a:t>
            </a:r>
          </a:p>
          <a:p>
            <a:r>
              <a:rPr lang="de-DE" sz="1800" b="1" dirty="0"/>
              <a:t>The </a:t>
            </a:r>
            <a:r>
              <a:rPr lang="de-DE" sz="1800" b="1" dirty="0" err="1"/>
              <a:t>whole</a:t>
            </a:r>
            <a:r>
              <a:rPr lang="de-DE" sz="1800" b="1" dirty="0"/>
              <a:t> network </a:t>
            </a:r>
            <a:r>
              <a:rPr lang="de-DE" sz="1800" b="1" dirty="0" err="1"/>
              <a:t>needs</a:t>
            </a:r>
            <a:r>
              <a:rPr lang="de-DE" sz="1800" b="1" dirty="0"/>
              <a:t> </a:t>
            </a:r>
            <a:r>
              <a:rPr lang="de-DE" sz="1800" b="1" dirty="0" err="1"/>
              <a:t>to</a:t>
            </a:r>
            <a:r>
              <a:rPr lang="de-DE" sz="1800" b="1" dirty="0"/>
              <a:t> </a:t>
            </a:r>
            <a:r>
              <a:rPr lang="de-DE" sz="1800" b="1" dirty="0" err="1"/>
              <a:t>approve</a:t>
            </a:r>
            <a:r>
              <a:rPr lang="de-DE" sz="1800" b="1" dirty="0"/>
              <a:t> </a:t>
            </a:r>
            <a:r>
              <a:rPr lang="de-DE" sz="1800" b="1" dirty="0" err="1"/>
              <a:t>nodes</a:t>
            </a:r>
            <a:endParaRPr lang="de-DE" sz="1800" b="1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Compatible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PKI </a:t>
            </a:r>
            <a:r>
              <a:rPr lang="de-DE" sz="1800" dirty="0" err="1"/>
              <a:t>standards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/>
              <a:t>Self-</a:t>
            </a:r>
            <a:r>
              <a:rPr lang="de-DE" sz="1800" dirty="0" err="1"/>
              <a:t>sufficient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No</a:t>
            </a:r>
            <a:r>
              <a:rPr lang="de-DE" sz="1800" dirty="0"/>
              <a:t> </a:t>
            </a:r>
            <a:r>
              <a:rPr lang="de-DE" sz="1800" dirty="0" err="1"/>
              <a:t>centralized</a:t>
            </a:r>
            <a:r>
              <a:rPr lang="de-DE" sz="1800" dirty="0"/>
              <a:t> root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trust</a:t>
            </a:r>
            <a:endParaRPr lang="de-DE" sz="1800" dirty="0"/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BBA4B8B8-D1ED-B715-94B7-3AA51530E735}"/>
              </a:ext>
            </a:extLst>
          </p:cNvPr>
          <p:cNvGrpSpPr/>
          <p:nvPr/>
        </p:nvGrpSpPr>
        <p:grpSpPr>
          <a:xfrm>
            <a:off x="558642" y="2627664"/>
            <a:ext cx="323957" cy="319065"/>
            <a:chOff x="6203950" y="2825279"/>
            <a:chExt cx="432000" cy="432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9D7A4030-D954-935C-B13E-BECAEA8D0073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23AD7305-AAA2-8275-703B-70A07B40C2FB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F9B745E2-CEDD-B0C7-955F-CF79C749831D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B6A82DC9-7D43-240E-1FD4-F4C526B1538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8A0F204F-8B6D-E0D6-9099-5A1B47172799}"/>
              </a:ext>
            </a:extLst>
          </p:cNvPr>
          <p:cNvGrpSpPr/>
          <p:nvPr/>
        </p:nvGrpSpPr>
        <p:grpSpPr>
          <a:xfrm>
            <a:off x="558642" y="2983264"/>
            <a:ext cx="323957" cy="319065"/>
            <a:chOff x="6203950" y="2825279"/>
            <a:chExt cx="432000" cy="432000"/>
          </a:xfrm>
        </p:grpSpPr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42BBA319-04BE-198F-44AC-D026A4B11781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A5BF72FC-83FC-A6BE-FA5C-38799DBD86CC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96" name="Gerader Verbinder 95">
                <a:extLst>
                  <a:ext uri="{FF2B5EF4-FFF2-40B4-BE49-F238E27FC236}">
                    <a16:creationId xmlns:a16="http://schemas.microsoft.com/office/drawing/2014/main" id="{C28D6481-865A-8BD5-CFA4-E547CA9FD3D1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Gerader Verbinder 96">
                <a:extLst>
                  <a:ext uri="{FF2B5EF4-FFF2-40B4-BE49-F238E27FC236}">
                    <a16:creationId xmlns:a16="http://schemas.microsoft.com/office/drawing/2014/main" id="{1AE1EB13-2483-6F9C-CADB-572FDB8FA33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platzhalter 76">
            <a:extLst>
              <a:ext uri="{FF2B5EF4-FFF2-40B4-BE49-F238E27FC236}">
                <a16:creationId xmlns:a16="http://schemas.microsoft.com/office/drawing/2014/main" id="{163CBD63-1FA5-E794-4E37-3C4EEB0771AD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59593" y="2286000"/>
            <a:ext cx="325317" cy="311944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8BB9C4C-8D3A-541A-82C5-1D6C6B89171C}"/>
              </a:ext>
            </a:extLst>
          </p:cNvPr>
          <p:cNvCxnSpPr>
            <a:cxnSpLocks/>
          </p:cNvCxnSpPr>
          <p:nvPr/>
        </p:nvCxnSpPr>
        <p:spPr bwMode="gray">
          <a:xfrm flipV="1">
            <a:off x="9152616" y="2776538"/>
            <a:ext cx="0" cy="995946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24B1B708-5F4E-FFEB-D1E0-4711F7C11AFB}"/>
              </a:ext>
            </a:extLst>
          </p:cNvPr>
          <p:cNvSpPr/>
          <p:nvPr/>
        </p:nvSpPr>
        <p:spPr bwMode="gray">
          <a:xfrm>
            <a:off x="8073555" y="2419940"/>
            <a:ext cx="2952328" cy="360000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rgbClr val="002D4C"/>
                </a:solidFill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984668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B316-2388-6BE2-4DC2-CB08E74BB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F9808E-E86B-69F6-A7A0-76861ABA8C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1800" b="1" dirty="0" err="1"/>
              <a:t>Hierarchical</a:t>
            </a:r>
            <a:r>
              <a:rPr lang="de-DE" sz="1800" b="1" dirty="0"/>
              <a:t> </a:t>
            </a:r>
            <a:r>
              <a:rPr lang="de-DE" sz="1800" b="1" dirty="0" err="1"/>
              <a:t>separation</a:t>
            </a:r>
            <a:r>
              <a:rPr lang="de-DE" sz="1800" b="1" dirty="0"/>
              <a:t> :</a:t>
            </a:r>
          </a:p>
          <a:p>
            <a:r>
              <a:rPr lang="de-DE" sz="1800" b="1" dirty="0" err="1"/>
              <a:t>Only</a:t>
            </a:r>
            <a:r>
              <a:rPr lang="de-DE" sz="1800" b="1" dirty="0"/>
              <a:t> </a:t>
            </a:r>
            <a:r>
              <a:rPr lang="de-DE" sz="1800" b="1" dirty="0" err="1"/>
              <a:t>privileged</a:t>
            </a:r>
            <a:r>
              <a:rPr lang="de-DE" sz="1800" b="1" dirty="0"/>
              <a:t> </a:t>
            </a:r>
            <a:r>
              <a:rPr lang="de-DE" sz="1800" b="1" dirty="0" err="1"/>
              <a:t>nodes</a:t>
            </a:r>
            <a:r>
              <a:rPr lang="de-DE" sz="1800" b="1" dirty="0"/>
              <a:t> </a:t>
            </a:r>
            <a:r>
              <a:rPr lang="de-DE" sz="1800" b="1" dirty="0" err="1"/>
              <a:t>need</a:t>
            </a:r>
            <a:r>
              <a:rPr lang="de-DE" sz="1800" b="1" dirty="0"/>
              <a:t> </a:t>
            </a:r>
            <a:r>
              <a:rPr lang="de-DE" sz="1800" b="1" dirty="0" err="1"/>
              <a:t>to</a:t>
            </a:r>
            <a:r>
              <a:rPr lang="de-DE" sz="1800" b="1" dirty="0"/>
              <a:t> </a:t>
            </a:r>
            <a:r>
              <a:rPr lang="de-DE" sz="1800" b="1" dirty="0" err="1"/>
              <a:t>approve</a:t>
            </a:r>
            <a:endParaRPr lang="de-DE" sz="1800" b="1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Compatible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PKI </a:t>
            </a:r>
            <a:r>
              <a:rPr lang="de-DE" sz="1800" dirty="0" err="1"/>
              <a:t>standards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/>
              <a:t>Self-</a:t>
            </a:r>
            <a:r>
              <a:rPr lang="de-DE" sz="1800" dirty="0" err="1"/>
              <a:t>sufficient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No</a:t>
            </a:r>
            <a:r>
              <a:rPr lang="de-DE" sz="1800" dirty="0"/>
              <a:t> </a:t>
            </a:r>
            <a:r>
              <a:rPr lang="de-DE" sz="1800" dirty="0" err="1"/>
              <a:t>centralized</a:t>
            </a:r>
            <a:r>
              <a:rPr lang="de-DE" sz="1800" dirty="0"/>
              <a:t> root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trust</a:t>
            </a:r>
            <a:endParaRPr lang="de-DE" sz="1800" dirty="0"/>
          </a:p>
        </p:txBody>
      </p:sp>
      <p:sp>
        <p:nvSpPr>
          <p:cNvPr id="13" name="Textplatzhalter 76">
            <a:extLst>
              <a:ext uri="{FF2B5EF4-FFF2-40B4-BE49-F238E27FC236}">
                <a16:creationId xmlns:a16="http://schemas.microsoft.com/office/drawing/2014/main" id="{8A58EB0C-F724-1DF7-FC84-D95525534AA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59593" y="2286000"/>
            <a:ext cx="325317" cy="311944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1C1C896-CA1B-840A-8559-9569B26EDD1D}"/>
              </a:ext>
            </a:extLst>
          </p:cNvPr>
          <p:cNvCxnSpPr>
            <a:cxnSpLocks/>
            <a:stCxn id="41" idx="6"/>
            <a:endCxn id="39" idx="2"/>
          </p:cNvCxnSpPr>
          <p:nvPr/>
        </p:nvCxnSpPr>
        <p:spPr bwMode="gray">
          <a:xfrm>
            <a:off x="8666826" y="3231008"/>
            <a:ext cx="215904" cy="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338F6AFA-D039-2B83-FE10-46DD98F03EF0}"/>
              </a:ext>
            </a:extLst>
          </p:cNvPr>
          <p:cNvCxnSpPr>
            <a:cxnSpLocks/>
            <a:stCxn id="43" idx="2"/>
            <a:endCxn id="40" idx="6"/>
          </p:cNvCxnSpPr>
          <p:nvPr/>
        </p:nvCxnSpPr>
        <p:spPr bwMode="gray">
          <a:xfrm flipH="1">
            <a:off x="10178634" y="3231008"/>
            <a:ext cx="215904" cy="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3AACCD7-B939-C277-42AD-D1D1F3133669}"/>
              </a:ext>
            </a:extLst>
          </p:cNvPr>
          <p:cNvCxnSpPr>
            <a:cxnSpLocks/>
            <a:stCxn id="23" idx="0"/>
          </p:cNvCxnSpPr>
          <p:nvPr/>
        </p:nvCxnSpPr>
        <p:spPr bwMode="gray">
          <a:xfrm flipH="1" flipV="1">
            <a:off x="7620000" y="3238500"/>
            <a:ext cx="1532819" cy="1244956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A075607-8CF0-058B-8CF0-940C894A36DE}"/>
              </a:ext>
            </a:extLst>
          </p:cNvPr>
          <p:cNvCxnSpPr>
            <a:cxnSpLocks/>
            <a:stCxn id="41" idx="0"/>
          </p:cNvCxnSpPr>
          <p:nvPr/>
        </p:nvCxnSpPr>
        <p:spPr bwMode="gray">
          <a:xfrm flipV="1">
            <a:off x="8396826" y="2000250"/>
            <a:ext cx="761462" cy="96075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A08A4DF-41E8-A2D6-4C4C-F5DDAC6FC5F3}"/>
              </a:ext>
            </a:extLst>
          </p:cNvPr>
          <p:cNvCxnSpPr>
            <a:cxnSpLocks/>
            <a:stCxn id="43" idx="0"/>
          </p:cNvCxnSpPr>
          <p:nvPr/>
        </p:nvCxnSpPr>
        <p:spPr bwMode="gray">
          <a:xfrm flipH="1" flipV="1">
            <a:off x="9186863" y="1995488"/>
            <a:ext cx="1477675" cy="96552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BC399470-C8E4-59CF-D287-28B67F90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Blockchain-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CF48A4-E1B1-7C56-56DA-7F136DE872A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EEB2EA-8962-BB77-6184-28C546959B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542994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1B3FF2-70C7-017F-1BAE-CACE69BC9CD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18" name="Textplatzhalter 76">
            <a:extLst>
              <a:ext uri="{FF2B5EF4-FFF2-40B4-BE49-F238E27FC236}">
                <a16:creationId xmlns:a16="http://schemas.microsoft.com/office/drawing/2014/main" id="{DDE59C21-28BD-80AE-0B45-9B2BECD191EF}"/>
              </a:ext>
            </a:extLst>
          </p:cNvPr>
          <p:cNvSpPr txBox="1">
            <a:spLocks/>
          </p:cNvSpPr>
          <p:nvPr/>
        </p:nvSpPr>
        <p:spPr bwMode="gray">
          <a:xfrm>
            <a:off x="8701200" y="1628800"/>
            <a:ext cx="907200" cy="68773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800" dirty="0">
                <a:solidFill>
                  <a:schemeClr val="bg1"/>
                </a:solidFill>
              </a:rPr>
              <a:t>New Node</a:t>
            </a: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87DB03A-D429-6069-DB01-AACC8C24DA1E}"/>
              </a:ext>
            </a:extLst>
          </p:cNvPr>
          <p:cNvCxnSpPr>
            <a:cxnSpLocks/>
            <a:stCxn id="23" idx="0"/>
          </p:cNvCxnSpPr>
          <p:nvPr/>
        </p:nvCxnSpPr>
        <p:spPr bwMode="gray">
          <a:xfrm flipV="1">
            <a:off x="9152819" y="3238500"/>
            <a:ext cx="1529469" cy="1244956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9EF14743-A3EE-6740-92C6-205D730093B1}"/>
              </a:ext>
            </a:extLst>
          </p:cNvPr>
          <p:cNvCxnSpPr>
            <a:cxnSpLocks/>
            <a:stCxn id="23" idx="0"/>
          </p:cNvCxnSpPr>
          <p:nvPr/>
        </p:nvCxnSpPr>
        <p:spPr bwMode="gray">
          <a:xfrm flipH="1" flipV="1">
            <a:off x="8386763" y="3233738"/>
            <a:ext cx="766056" cy="124971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9F7C4CC9-2356-15FA-B4C9-9CAA51427F71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882730" y="2961008"/>
            <a:ext cx="540000" cy="540000"/>
          </a:xfrm>
          <a:prstGeom prst="ellipse">
            <a:avLst/>
          </a:prstGeom>
          <a:solidFill>
            <a:srgbClr val="009682"/>
          </a:solidFill>
          <a:ln>
            <a:solidFill>
              <a:srgbClr val="002D4C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4774730D-DBC8-ECA0-BC46-B16B453611CA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638634" y="2961008"/>
            <a:ext cx="540000" cy="540000"/>
          </a:xfrm>
          <a:prstGeom prst="ellipse">
            <a:avLst/>
          </a:prstGeom>
          <a:solidFill>
            <a:srgbClr val="009682"/>
          </a:solidFill>
          <a:ln>
            <a:solidFill>
              <a:srgbClr val="002D4C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7A796BC4-0DA2-0B3D-47CB-BDAB03C3A8A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26826" y="2961008"/>
            <a:ext cx="540000" cy="5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83BEF95C-CA00-000F-CE68-F39C167B9B53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70922" y="2961008"/>
            <a:ext cx="540000" cy="540000"/>
          </a:xfrm>
          <a:prstGeom prst="ellipse">
            <a:avLst/>
          </a:prstGeom>
          <a:solidFill>
            <a:srgbClr val="009682"/>
          </a:solidFill>
          <a:ln>
            <a:solidFill>
              <a:srgbClr val="002D4C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1AC90AF8-C88C-449B-B50C-702C0D08779E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394538" y="2961008"/>
            <a:ext cx="540000" cy="54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B732C092-9466-5BD0-99D3-6AFA7D9E4702}"/>
              </a:ext>
            </a:extLst>
          </p:cNvPr>
          <p:cNvSpPr txBox="1"/>
          <p:nvPr/>
        </p:nvSpPr>
        <p:spPr bwMode="gray">
          <a:xfrm>
            <a:off x="10489957" y="2475929"/>
            <a:ext cx="1516306" cy="2640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Transmits</a:t>
            </a:r>
            <a:r>
              <a:rPr lang="de-DE" sz="1400" dirty="0"/>
              <a:t> </a:t>
            </a:r>
            <a:r>
              <a:rPr lang="de-DE" sz="1400" dirty="0" err="1"/>
              <a:t>join</a:t>
            </a:r>
            <a:r>
              <a:rPr lang="de-DE" sz="1400" dirty="0"/>
              <a:t> </a:t>
            </a:r>
            <a:r>
              <a:rPr lang="de-DE" sz="1400" dirty="0" err="1"/>
              <a:t>request</a:t>
            </a:r>
            <a:endParaRPr lang="de-DE" sz="1400" dirty="0"/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C29D4E37-FCA4-FB3E-1A8D-5FFAB9E7264E}"/>
              </a:ext>
            </a:extLst>
          </p:cNvPr>
          <p:cNvSpPr txBox="1"/>
          <p:nvPr/>
        </p:nvSpPr>
        <p:spPr bwMode="gray">
          <a:xfrm>
            <a:off x="10130778" y="3810000"/>
            <a:ext cx="1689747" cy="4635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Approves</a:t>
            </a:r>
            <a:r>
              <a:rPr lang="de-DE" sz="1400" dirty="0"/>
              <a:t> and </a:t>
            </a:r>
            <a:r>
              <a:rPr lang="de-DE" sz="1400" dirty="0" err="1"/>
              <a:t>provides</a:t>
            </a:r>
            <a:r>
              <a:rPr lang="de-DE" sz="1400" dirty="0"/>
              <a:t> </a:t>
            </a:r>
            <a:r>
              <a:rPr lang="de-DE" sz="1400" dirty="0" err="1"/>
              <a:t>certificate</a:t>
            </a:r>
            <a:endParaRPr lang="de-DE" sz="1400" dirty="0"/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19432EEC-9693-617B-8AC4-25345664D6CD}"/>
              </a:ext>
            </a:extLst>
          </p:cNvPr>
          <p:cNvGrpSpPr/>
          <p:nvPr/>
        </p:nvGrpSpPr>
        <p:grpSpPr>
          <a:xfrm>
            <a:off x="9774786" y="3824288"/>
            <a:ext cx="179534" cy="194097"/>
            <a:chOff x="6203950" y="2825279"/>
            <a:chExt cx="432000" cy="432000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C3EC20CF-9A70-0E7E-EEEE-59B6DE437DC9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E2C50D3A-E695-AABC-0D65-27EE6264A6DA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0F35A7F8-600C-79C0-CE91-3305AA70F01D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ED2278F6-CFB8-B36A-1A8F-2EC78E9B0A9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8" name="Gruppieren 127">
            <a:extLst>
              <a:ext uri="{FF2B5EF4-FFF2-40B4-BE49-F238E27FC236}">
                <a16:creationId xmlns:a16="http://schemas.microsoft.com/office/drawing/2014/main" id="{7B31B68B-5C43-BD90-6A38-05CDEA86AD42}"/>
              </a:ext>
            </a:extLst>
          </p:cNvPr>
          <p:cNvGrpSpPr/>
          <p:nvPr/>
        </p:nvGrpSpPr>
        <p:grpSpPr>
          <a:xfrm>
            <a:off x="8735677" y="3824288"/>
            <a:ext cx="179534" cy="194097"/>
            <a:chOff x="6203950" y="2825279"/>
            <a:chExt cx="432000" cy="432000"/>
          </a:xfrm>
        </p:grpSpPr>
        <p:sp>
          <p:nvSpPr>
            <p:cNvPr id="129" name="Ellipse 128">
              <a:extLst>
                <a:ext uri="{FF2B5EF4-FFF2-40B4-BE49-F238E27FC236}">
                  <a16:creationId xmlns:a16="http://schemas.microsoft.com/office/drawing/2014/main" id="{BB23C2ED-3A19-6936-11D3-532F3C15F222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30" name="Gruppieren 129">
              <a:extLst>
                <a:ext uri="{FF2B5EF4-FFF2-40B4-BE49-F238E27FC236}">
                  <a16:creationId xmlns:a16="http://schemas.microsoft.com/office/drawing/2014/main" id="{48E62468-FA65-8071-C70E-CE5BC803A9CF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FF19BCCF-533F-6C06-6C65-BF8D9893F8C6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Gerader Verbinder 131">
                <a:extLst>
                  <a:ext uri="{FF2B5EF4-FFF2-40B4-BE49-F238E27FC236}">
                    <a16:creationId xmlns:a16="http://schemas.microsoft.com/office/drawing/2014/main" id="{08F8571B-3875-B886-AC5A-C98E598A269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8" name="Textfeld 137">
            <a:extLst>
              <a:ext uri="{FF2B5EF4-FFF2-40B4-BE49-F238E27FC236}">
                <a16:creationId xmlns:a16="http://schemas.microsoft.com/office/drawing/2014/main" id="{932EF02E-87F0-015E-0B5F-D5C10483F17B}"/>
              </a:ext>
            </a:extLst>
          </p:cNvPr>
          <p:cNvSpPr txBox="1"/>
          <p:nvPr/>
        </p:nvSpPr>
        <p:spPr bwMode="gray">
          <a:xfrm>
            <a:off x="6241485" y="2950408"/>
            <a:ext cx="1078651" cy="539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Existing</a:t>
            </a:r>
            <a:r>
              <a:rPr lang="de-DE" b="1" dirty="0"/>
              <a:t> Nodes</a:t>
            </a:r>
          </a:p>
        </p:txBody>
      </p:sp>
      <p:sp>
        <p:nvSpPr>
          <p:cNvPr id="34" name="Textplatzhalter 76">
            <a:extLst>
              <a:ext uri="{FF2B5EF4-FFF2-40B4-BE49-F238E27FC236}">
                <a16:creationId xmlns:a16="http://schemas.microsoft.com/office/drawing/2014/main" id="{2F261D53-5BDC-274B-7C81-7B23CF697C65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531120" y="2559369"/>
            <a:ext cx="184845" cy="19573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050" dirty="0">
                <a:solidFill>
                  <a:schemeClr val="bg1"/>
                </a:solidFill>
              </a:rPr>
              <a:t>?</a:t>
            </a:r>
            <a:endParaRPr lang="de-DE" sz="600" dirty="0">
              <a:solidFill>
                <a:schemeClr val="bg1"/>
              </a:solidFill>
            </a:endParaRPr>
          </a:p>
        </p:txBody>
      </p:sp>
      <p:sp>
        <p:nvSpPr>
          <p:cNvPr id="45" name="Textplatzhalter 76">
            <a:extLst>
              <a:ext uri="{FF2B5EF4-FFF2-40B4-BE49-F238E27FC236}">
                <a16:creationId xmlns:a16="http://schemas.microsoft.com/office/drawing/2014/main" id="{F30177AF-A069-01B3-1B0A-034BBE4BB5E6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118733" y="2560086"/>
            <a:ext cx="184845" cy="19573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050" dirty="0">
                <a:solidFill>
                  <a:schemeClr val="bg1"/>
                </a:solidFill>
              </a:rPr>
              <a:t>?</a:t>
            </a:r>
            <a:endParaRPr lang="de-DE" sz="600" dirty="0">
              <a:solidFill>
                <a:schemeClr val="bg1"/>
              </a:solidFill>
            </a:endParaRPr>
          </a:p>
        </p:txBody>
      </p:sp>
      <p:sp>
        <p:nvSpPr>
          <p:cNvPr id="25" name="Textplatzhalter 76">
            <a:extLst>
              <a:ext uri="{FF2B5EF4-FFF2-40B4-BE49-F238E27FC236}">
                <a16:creationId xmlns:a16="http://schemas.microsoft.com/office/drawing/2014/main" id="{AC7E941A-D6E2-3752-0969-587953913CA0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332004" y="3805237"/>
            <a:ext cx="184845" cy="19573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050" dirty="0">
                <a:solidFill>
                  <a:schemeClr val="bg1"/>
                </a:solidFill>
              </a:rPr>
              <a:t>?</a:t>
            </a:r>
            <a:endParaRPr lang="de-DE" sz="600" dirty="0">
              <a:solidFill>
                <a:schemeClr val="bg1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FF61458-6758-A6C8-5F9C-A4D72A6AC8CD}"/>
              </a:ext>
            </a:extLst>
          </p:cNvPr>
          <p:cNvSpPr txBox="1"/>
          <p:nvPr/>
        </p:nvSpPr>
        <p:spPr bwMode="gray">
          <a:xfrm>
            <a:off x="6538913" y="3790031"/>
            <a:ext cx="1531935" cy="5034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Can </a:t>
            </a:r>
            <a:r>
              <a:rPr lang="de-DE" sz="1400" dirty="0" err="1"/>
              <a:t>only</a:t>
            </a:r>
            <a:r>
              <a:rPr lang="de-DE" sz="1400" dirty="0"/>
              <a:t> </a:t>
            </a:r>
            <a:r>
              <a:rPr lang="de-DE" sz="1400" dirty="0" err="1"/>
              <a:t>query</a:t>
            </a:r>
            <a:r>
              <a:rPr lang="de-DE" sz="1400" dirty="0"/>
              <a:t> </a:t>
            </a:r>
            <a:r>
              <a:rPr lang="de-DE" sz="1400" dirty="0" err="1"/>
              <a:t>ledger</a:t>
            </a:r>
            <a:endParaRPr lang="de-DE" sz="140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DB3EFB2-ACB8-40C9-231B-BE9B5013FD1B}"/>
              </a:ext>
            </a:extLst>
          </p:cNvPr>
          <p:cNvGrpSpPr/>
          <p:nvPr/>
        </p:nvGrpSpPr>
        <p:grpSpPr>
          <a:xfrm>
            <a:off x="7447442" y="4482298"/>
            <a:ext cx="2277000" cy="746902"/>
            <a:chOff x="7842567" y="2883600"/>
            <a:chExt cx="2277000" cy="746902"/>
          </a:xfrm>
        </p:grpSpPr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CE310DE2-1C33-ECD8-C477-96A8F33FD327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ACE5D854-80D1-140A-6915-806B1A08BADA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3840D5D9-2050-59BC-E14E-70B03EED9347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5F74481A-8605-945C-E636-9410C640F9B7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F08B38E8-5176-587F-50E4-F66072738C6E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Rechteck: abgerundete Ecken 22">
              <a:extLst>
                <a:ext uri="{FF2B5EF4-FFF2-40B4-BE49-F238E27FC236}">
                  <a16:creationId xmlns:a16="http://schemas.microsoft.com/office/drawing/2014/main" id="{3C663A15-80BC-1BB3-CCD2-CDBE84669649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F802A82B-93CA-3353-F18D-9DF7AD6D2DE3}"/>
              </a:ext>
            </a:extLst>
          </p:cNvPr>
          <p:cNvSpPr/>
          <p:nvPr/>
        </p:nvSpPr>
        <p:spPr bwMode="gray">
          <a:xfrm>
            <a:off x="8643918" y="4548204"/>
            <a:ext cx="1019175" cy="609600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pic>
        <p:nvPicPr>
          <p:cNvPr id="35" name="Grafik 3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E3044B86-712A-9991-BBA8-68318D995B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19783" y="4621145"/>
            <a:ext cx="471025" cy="471025"/>
          </a:xfrm>
          <a:prstGeom prst="rect">
            <a:avLst/>
          </a:prstGeom>
        </p:spPr>
      </p:pic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AF199983-8B35-91F5-37E3-7D67085C3BEA}"/>
              </a:ext>
            </a:extLst>
          </p:cNvPr>
          <p:cNvGrpSpPr/>
          <p:nvPr/>
        </p:nvGrpSpPr>
        <p:grpSpPr>
          <a:xfrm>
            <a:off x="558642" y="2627664"/>
            <a:ext cx="323957" cy="319065"/>
            <a:chOff x="6203950" y="2825279"/>
            <a:chExt cx="432000" cy="432000"/>
          </a:xfrm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0A6F05E-985C-D012-1367-E04B6B4467A6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59A8F008-E3CD-F7AE-1BB0-E215697C9C0C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E73DFB19-C00C-E9AF-C2B1-2073BBE4D61B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r Verbinder 50">
                <a:extLst>
                  <a:ext uri="{FF2B5EF4-FFF2-40B4-BE49-F238E27FC236}">
                    <a16:creationId xmlns:a16="http://schemas.microsoft.com/office/drawing/2014/main" id="{27280610-1AAE-44CB-6142-F4AE8FB437E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63EDE392-51B4-1D82-D248-0115E3603098}"/>
              </a:ext>
            </a:extLst>
          </p:cNvPr>
          <p:cNvGrpSpPr/>
          <p:nvPr/>
        </p:nvGrpSpPr>
        <p:grpSpPr>
          <a:xfrm>
            <a:off x="558642" y="2983264"/>
            <a:ext cx="323957" cy="319065"/>
            <a:chOff x="6203950" y="2825279"/>
            <a:chExt cx="432000" cy="432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4E50624-D1BC-4DB1-DC8D-AF5A5C5B66C8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8AE8192D-D830-DE2F-29C9-D98021B6B15C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55" name="Gerader Verbinder 54">
                <a:extLst>
                  <a:ext uri="{FF2B5EF4-FFF2-40B4-BE49-F238E27FC236}">
                    <a16:creationId xmlns:a16="http://schemas.microsoft.com/office/drawing/2014/main" id="{8AD580DA-6A20-B2A3-4188-F974CEB424E4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D434140B-8043-CBD9-B653-0171FCB1DE5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29416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132CC-3D94-CD13-B7A6-73E44076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86C4BBCE-C7EA-F234-3327-BC9B9EDEB3FB}"/>
              </a:ext>
            </a:extLst>
          </p:cNvPr>
          <p:cNvSpPr/>
          <p:nvPr/>
        </p:nvSpPr>
        <p:spPr bwMode="gray">
          <a:xfrm>
            <a:off x="7278914" y="2600325"/>
            <a:ext cx="4541611" cy="2193948"/>
          </a:xfrm>
          <a:prstGeom prst="rect">
            <a:avLst/>
          </a:prstGeom>
          <a:noFill/>
          <a:ln w="76200">
            <a:solidFill>
              <a:srgbClr val="009682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3C06B9A-F0AA-D669-9700-5A50800C5D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616575" cy="4684711"/>
          </a:xfrm>
        </p:spPr>
        <p:txBody>
          <a:bodyPr/>
          <a:lstStyle/>
          <a:p>
            <a:r>
              <a:rPr lang="de-DE" sz="1800" b="1" dirty="0" err="1"/>
              <a:t>Hierarchical</a:t>
            </a:r>
            <a:r>
              <a:rPr lang="de-DE" sz="1800" b="1" dirty="0"/>
              <a:t> </a:t>
            </a:r>
            <a:r>
              <a:rPr lang="de-DE" sz="1800" b="1" dirty="0" err="1"/>
              <a:t>separation</a:t>
            </a:r>
            <a:r>
              <a:rPr lang="de-DE" sz="1800" b="1" dirty="0"/>
              <a:t> :</a:t>
            </a:r>
          </a:p>
          <a:p>
            <a:r>
              <a:rPr lang="de-DE" sz="1800" b="1" dirty="0" err="1"/>
              <a:t>Only</a:t>
            </a:r>
            <a:r>
              <a:rPr lang="de-DE" sz="1800" b="1" dirty="0"/>
              <a:t> </a:t>
            </a:r>
            <a:r>
              <a:rPr lang="de-DE" sz="1800" b="1" dirty="0" err="1"/>
              <a:t>privileged</a:t>
            </a:r>
            <a:r>
              <a:rPr lang="de-DE" sz="1800" b="1" dirty="0"/>
              <a:t> </a:t>
            </a:r>
            <a:r>
              <a:rPr lang="de-DE" sz="1800" b="1" dirty="0" err="1"/>
              <a:t>nodes</a:t>
            </a:r>
            <a:r>
              <a:rPr lang="de-DE" sz="1800" b="1" dirty="0"/>
              <a:t> </a:t>
            </a:r>
            <a:r>
              <a:rPr lang="de-DE" sz="1800" b="1" dirty="0" err="1"/>
              <a:t>need</a:t>
            </a:r>
            <a:r>
              <a:rPr lang="de-DE" sz="1800" b="1" dirty="0"/>
              <a:t> </a:t>
            </a:r>
            <a:r>
              <a:rPr lang="de-DE" sz="1800" b="1" dirty="0" err="1"/>
              <a:t>to</a:t>
            </a:r>
            <a:r>
              <a:rPr lang="de-DE" sz="1800" b="1" dirty="0"/>
              <a:t> </a:t>
            </a:r>
            <a:r>
              <a:rPr lang="de-DE" sz="1800" b="1" dirty="0" err="1"/>
              <a:t>approve</a:t>
            </a:r>
            <a:endParaRPr lang="de-DE" sz="1800" b="1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Compatible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PKI </a:t>
            </a:r>
            <a:r>
              <a:rPr lang="de-DE" sz="1800" dirty="0" err="1"/>
              <a:t>standards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/>
              <a:t>Self-</a:t>
            </a:r>
            <a:r>
              <a:rPr lang="de-DE" sz="1800" dirty="0" err="1"/>
              <a:t>sufficient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No</a:t>
            </a:r>
            <a:r>
              <a:rPr lang="de-DE" sz="1800" dirty="0"/>
              <a:t> </a:t>
            </a:r>
            <a:r>
              <a:rPr lang="de-DE" sz="1800" dirty="0" err="1"/>
              <a:t>centralized</a:t>
            </a:r>
            <a:r>
              <a:rPr lang="de-DE" sz="1800" dirty="0"/>
              <a:t> root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trust</a:t>
            </a:r>
            <a:endParaRPr lang="de-DE" sz="1800" dirty="0"/>
          </a:p>
        </p:txBody>
      </p:sp>
      <p:sp>
        <p:nvSpPr>
          <p:cNvPr id="3" name="Textplatzhalter 76">
            <a:extLst>
              <a:ext uri="{FF2B5EF4-FFF2-40B4-BE49-F238E27FC236}">
                <a16:creationId xmlns:a16="http://schemas.microsoft.com/office/drawing/2014/main" id="{0130DF1C-13A0-9FC8-5E11-337CDB1A469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59593" y="2286000"/>
            <a:ext cx="325317" cy="311944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grpSp>
        <p:nvGrpSpPr>
          <p:cNvPr id="151" name="Gruppieren 150">
            <a:extLst>
              <a:ext uri="{FF2B5EF4-FFF2-40B4-BE49-F238E27FC236}">
                <a16:creationId xmlns:a16="http://schemas.microsoft.com/office/drawing/2014/main" id="{1B06C488-4CFD-695B-5CBB-294F6383E908}"/>
              </a:ext>
            </a:extLst>
          </p:cNvPr>
          <p:cNvGrpSpPr>
            <a:grpSpLocks noChangeAspect="1"/>
          </p:cNvGrpSpPr>
          <p:nvPr/>
        </p:nvGrpSpPr>
        <p:grpSpPr>
          <a:xfrm>
            <a:off x="8297601" y="2891243"/>
            <a:ext cx="736862" cy="241706"/>
            <a:chOff x="8023724" y="4482298"/>
            <a:chExt cx="2277000" cy="746902"/>
          </a:xfrm>
        </p:grpSpPr>
        <p:grpSp>
          <p:nvGrpSpPr>
            <p:cNvPr id="152" name="Gruppieren 151">
              <a:extLst>
                <a:ext uri="{FF2B5EF4-FFF2-40B4-BE49-F238E27FC236}">
                  <a16:creationId xmlns:a16="http://schemas.microsoft.com/office/drawing/2014/main" id="{6A0FC35A-938A-83C7-6AD6-E9FD8098FA8B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54" name="Gruppieren 153">
                <a:extLst>
                  <a:ext uri="{FF2B5EF4-FFF2-40B4-BE49-F238E27FC236}">
                    <a16:creationId xmlns:a16="http://schemas.microsoft.com/office/drawing/2014/main" id="{E9B4A1BB-A9D4-FCB1-C2E4-CFD8A4FE3184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56" name="Rechteck: abgerundete Ecken 155">
                  <a:extLst>
                    <a:ext uri="{FF2B5EF4-FFF2-40B4-BE49-F238E27FC236}">
                      <a16:creationId xmlns:a16="http://schemas.microsoft.com/office/drawing/2014/main" id="{3FFA0BE7-4923-D829-C7DB-96AA09B030D8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7" name="Rechteck: abgerundete Ecken 156">
                  <a:extLst>
                    <a:ext uri="{FF2B5EF4-FFF2-40B4-BE49-F238E27FC236}">
                      <a16:creationId xmlns:a16="http://schemas.microsoft.com/office/drawing/2014/main" id="{7E8F0539-C4A1-1D5C-8D6E-94935BFC8B65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8" name="Rechteck: abgerundete Ecken 157">
                  <a:extLst>
                    <a:ext uri="{FF2B5EF4-FFF2-40B4-BE49-F238E27FC236}">
                      <a16:creationId xmlns:a16="http://schemas.microsoft.com/office/drawing/2014/main" id="{2077E362-514A-39BC-0E06-1BAB41727FCF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9" name="Rechteck: abgerundete Ecken 158">
                  <a:extLst>
                    <a:ext uri="{FF2B5EF4-FFF2-40B4-BE49-F238E27FC236}">
                      <a16:creationId xmlns:a16="http://schemas.microsoft.com/office/drawing/2014/main" id="{A64DCDB9-19A1-B786-7576-BB9624DED149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0" name="Rechteck: abgerundete Ecken 159">
                  <a:extLst>
                    <a:ext uri="{FF2B5EF4-FFF2-40B4-BE49-F238E27FC236}">
                      <a16:creationId xmlns:a16="http://schemas.microsoft.com/office/drawing/2014/main" id="{79B73B9F-5F0F-580A-BF78-6A3A88B71AB8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1" name="Rechteck: abgerundete Ecken 160">
                  <a:extLst>
                    <a:ext uri="{FF2B5EF4-FFF2-40B4-BE49-F238E27FC236}">
                      <a16:creationId xmlns:a16="http://schemas.microsoft.com/office/drawing/2014/main" id="{CF3F246D-FAC9-5FCA-B197-2F3B80D1082B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6AA0520C-B9DA-8B65-B420-4838E06F559D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53" name="Grafik 152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B9F42B7D-2BAE-1EDE-5796-582D90F31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sp>
        <p:nvSpPr>
          <p:cNvPr id="144" name="Textplatzhalter 2">
            <a:extLst>
              <a:ext uri="{FF2B5EF4-FFF2-40B4-BE49-F238E27FC236}">
                <a16:creationId xmlns:a16="http://schemas.microsoft.com/office/drawing/2014/main" id="{8E7A5346-41B2-7760-85D5-4E3FD381703B}"/>
              </a:ext>
            </a:extLst>
          </p:cNvPr>
          <p:cNvSpPr txBox="1">
            <a:spLocks/>
          </p:cNvSpPr>
          <p:nvPr/>
        </p:nvSpPr>
        <p:spPr bwMode="gray">
          <a:xfrm>
            <a:off x="371475" y="4041775"/>
            <a:ext cx="5616575" cy="2232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Allows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hierarchical</a:t>
            </a:r>
            <a:r>
              <a:rPr lang="de-DE" sz="1800" dirty="0"/>
              <a:t> </a:t>
            </a:r>
            <a:r>
              <a:rPr lang="de-DE" sz="1800" dirty="0" err="1"/>
              <a:t>separation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nodes</a:t>
            </a:r>
            <a:r>
              <a:rPr lang="de-DE" sz="1800" dirty="0"/>
              <a:t> in an </a:t>
            </a:r>
            <a:r>
              <a:rPr lang="de-DE" sz="1800" dirty="0" err="1"/>
              <a:t>automation</a:t>
            </a:r>
            <a:r>
              <a:rPr lang="de-DE" sz="1800" dirty="0"/>
              <a:t> </a:t>
            </a:r>
            <a:r>
              <a:rPr lang="de-DE" sz="1800" dirty="0" err="1"/>
              <a:t>context</a:t>
            </a:r>
            <a:endParaRPr lang="de-DE" sz="18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1800" dirty="0" err="1"/>
              <a:t>Greater</a:t>
            </a:r>
            <a:r>
              <a:rPr lang="de-DE" sz="1800" dirty="0"/>
              <a:t> </a:t>
            </a:r>
            <a:r>
              <a:rPr lang="de-DE" sz="1800" dirty="0" err="1"/>
              <a:t>flexibility</a:t>
            </a:r>
            <a:r>
              <a:rPr lang="de-DE" sz="1800" dirty="0"/>
              <a:t> in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devices</a:t>
            </a:r>
            <a:r>
              <a:rPr lang="de-DE" sz="1800" dirty="0"/>
              <a:t> </a:t>
            </a:r>
            <a:r>
              <a:rPr lang="de-DE" sz="1800" dirty="0" err="1"/>
              <a:t>can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integrated</a:t>
            </a:r>
            <a:endParaRPr lang="de-DE" sz="1800" dirty="0"/>
          </a:p>
          <a:p>
            <a:pPr marL="612900" lvl="1" indent="-342900">
              <a:buFont typeface="Arial" panose="020B0604020202020204" pitchFamily="34" charset="0"/>
              <a:buChar char="•"/>
            </a:pPr>
            <a:endParaRPr lang="de-DE" sz="1800" dirty="0"/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ECB0342B-CC80-197B-AC8E-D550A04C98D1}"/>
              </a:ext>
            </a:extLst>
          </p:cNvPr>
          <p:cNvGrpSpPr>
            <a:grpSpLocks noChangeAspect="1"/>
          </p:cNvGrpSpPr>
          <p:nvPr/>
        </p:nvGrpSpPr>
        <p:grpSpPr>
          <a:xfrm>
            <a:off x="7691176" y="4016375"/>
            <a:ext cx="736862" cy="241706"/>
            <a:chOff x="8023724" y="4482298"/>
            <a:chExt cx="2277000" cy="746902"/>
          </a:xfrm>
        </p:grpSpPr>
        <p:grpSp>
          <p:nvGrpSpPr>
            <p:cNvPr id="122" name="Gruppieren 121">
              <a:extLst>
                <a:ext uri="{FF2B5EF4-FFF2-40B4-BE49-F238E27FC236}">
                  <a16:creationId xmlns:a16="http://schemas.microsoft.com/office/drawing/2014/main" id="{B689657D-CEE6-FC20-8795-942D66A9606C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24" name="Gruppieren 123">
                <a:extLst>
                  <a:ext uri="{FF2B5EF4-FFF2-40B4-BE49-F238E27FC236}">
                    <a16:creationId xmlns:a16="http://schemas.microsoft.com/office/drawing/2014/main" id="{D40E89C9-5C59-B25F-68FA-1087403336B0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26" name="Rechteck: abgerundete Ecken 125">
                  <a:extLst>
                    <a:ext uri="{FF2B5EF4-FFF2-40B4-BE49-F238E27FC236}">
                      <a16:creationId xmlns:a16="http://schemas.microsoft.com/office/drawing/2014/main" id="{800F1F91-91CC-7204-1503-C88FCD2BC944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7" name="Rechteck: abgerundete Ecken 126">
                  <a:extLst>
                    <a:ext uri="{FF2B5EF4-FFF2-40B4-BE49-F238E27FC236}">
                      <a16:creationId xmlns:a16="http://schemas.microsoft.com/office/drawing/2014/main" id="{AC4F350E-271E-94A5-8BFC-810094243B79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3" name="Rechteck: abgerundete Ecken 132">
                  <a:extLst>
                    <a:ext uri="{FF2B5EF4-FFF2-40B4-BE49-F238E27FC236}">
                      <a16:creationId xmlns:a16="http://schemas.microsoft.com/office/drawing/2014/main" id="{AE62ADA9-76A1-5C96-69A6-414EE49E3BBB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4" name="Rechteck: abgerundete Ecken 133">
                  <a:extLst>
                    <a:ext uri="{FF2B5EF4-FFF2-40B4-BE49-F238E27FC236}">
                      <a16:creationId xmlns:a16="http://schemas.microsoft.com/office/drawing/2014/main" id="{08611B52-0614-1AC0-D094-5792D440ED7E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5" name="Rechteck: abgerundete Ecken 134">
                  <a:extLst>
                    <a:ext uri="{FF2B5EF4-FFF2-40B4-BE49-F238E27FC236}">
                      <a16:creationId xmlns:a16="http://schemas.microsoft.com/office/drawing/2014/main" id="{5FA08ADB-DBBE-5DCE-7183-EC70E1DA0B5B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6" name="Rechteck: abgerundete Ecken 135">
                  <a:extLst>
                    <a:ext uri="{FF2B5EF4-FFF2-40B4-BE49-F238E27FC236}">
                      <a16:creationId xmlns:a16="http://schemas.microsoft.com/office/drawing/2014/main" id="{8F5A7FB9-DDE9-B9DB-4376-8FBDCC624E7B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49669323-E7FF-8CB1-54D0-05CA0F65FDC9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23" name="Grafik 122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D9C5E44F-862C-61D3-F555-F9B3E8F45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8B92C205-4A42-4D07-895F-2790B686FB7D}"/>
              </a:ext>
            </a:extLst>
          </p:cNvPr>
          <p:cNvCxnSpPr>
            <a:cxnSpLocks/>
            <a:stCxn id="40" idx="0"/>
          </p:cNvCxnSpPr>
          <p:nvPr/>
        </p:nvCxnSpPr>
        <p:spPr bwMode="gray">
          <a:xfrm flipV="1">
            <a:off x="10339200" y="3762375"/>
            <a:ext cx="0" cy="35119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9754B41E-6711-9D11-B6C3-07659929F30F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069200" y="4113570"/>
            <a:ext cx="540000" cy="540000"/>
          </a:xfrm>
          <a:prstGeom prst="ellipse">
            <a:avLst/>
          </a:prstGeom>
          <a:solidFill>
            <a:srgbClr val="009682"/>
          </a:solidFill>
          <a:ln>
            <a:solidFill>
              <a:srgbClr val="002D4C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58BE3BD2-F80E-BE8F-6F05-CD8FE9CEDDCB}"/>
              </a:ext>
            </a:extLst>
          </p:cNvPr>
          <p:cNvCxnSpPr>
            <a:cxnSpLocks/>
            <a:stCxn id="42" idx="0"/>
          </p:cNvCxnSpPr>
          <p:nvPr/>
        </p:nvCxnSpPr>
        <p:spPr bwMode="gray">
          <a:xfrm flipV="1">
            <a:off x="7640922" y="3743325"/>
            <a:ext cx="0" cy="37024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513941AD-2EED-6218-4A54-7871969DBD3E}"/>
              </a:ext>
            </a:extLst>
          </p:cNvPr>
          <p:cNvCxnSpPr>
            <a:cxnSpLocks/>
            <a:stCxn id="39" idx="0"/>
          </p:cNvCxnSpPr>
          <p:nvPr/>
        </p:nvCxnSpPr>
        <p:spPr bwMode="gray">
          <a:xfrm flipV="1">
            <a:off x="9152730" y="3767138"/>
            <a:ext cx="0" cy="3464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1D091BFA-0476-E180-356F-3CD4037CDD94}"/>
              </a:ext>
            </a:extLst>
          </p:cNvPr>
          <p:cNvCxnSpPr>
            <a:cxnSpLocks/>
            <a:endCxn id="37" idx="2"/>
          </p:cNvCxnSpPr>
          <p:nvPr/>
        </p:nvCxnSpPr>
        <p:spPr bwMode="gray">
          <a:xfrm flipV="1">
            <a:off x="10665755" y="3486149"/>
            <a:ext cx="0" cy="2881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7DA47ED6-B86A-B2A5-FAA7-51768791656C}"/>
              </a:ext>
            </a:extLst>
          </p:cNvPr>
          <p:cNvCxnSpPr>
            <a:cxnSpLocks/>
            <a:endCxn id="41" idx="4"/>
          </p:cNvCxnSpPr>
          <p:nvPr/>
        </p:nvCxnSpPr>
        <p:spPr bwMode="gray">
          <a:xfrm flipV="1">
            <a:off x="8396826" y="3501008"/>
            <a:ext cx="0" cy="27089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6EAECD7B-B7CD-6E74-17F3-26584C3A0F2C}"/>
              </a:ext>
            </a:extLst>
          </p:cNvPr>
          <p:cNvGrpSpPr>
            <a:grpSpLocks noChangeAspect="1"/>
          </p:cNvGrpSpPr>
          <p:nvPr/>
        </p:nvGrpSpPr>
        <p:grpSpPr>
          <a:xfrm>
            <a:off x="10578838" y="2890800"/>
            <a:ext cx="736862" cy="241706"/>
            <a:chOff x="8023724" y="4482298"/>
            <a:chExt cx="2277000" cy="746902"/>
          </a:xfrm>
        </p:grpSpPr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12B26090-E92A-50A9-0DFA-677728D12C32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54" name="Gruppieren 53">
                <a:extLst>
                  <a:ext uri="{FF2B5EF4-FFF2-40B4-BE49-F238E27FC236}">
                    <a16:creationId xmlns:a16="http://schemas.microsoft.com/office/drawing/2014/main" id="{50924742-F838-69B5-8584-77337C3441F7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56" name="Rechteck: abgerundete Ecken 55">
                  <a:extLst>
                    <a:ext uri="{FF2B5EF4-FFF2-40B4-BE49-F238E27FC236}">
                      <a16:creationId xmlns:a16="http://schemas.microsoft.com/office/drawing/2014/main" id="{8ED98266-25CF-E296-4A09-6873FBDB2BDA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8" name="Rechteck: abgerundete Ecken 57">
                  <a:extLst>
                    <a:ext uri="{FF2B5EF4-FFF2-40B4-BE49-F238E27FC236}">
                      <a16:creationId xmlns:a16="http://schemas.microsoft.com/office/drawing/2014/main" id="{2E506486-4810-9509-7BAD-A6D1E36E516A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9" name="Rechteck: abgerundete Ecken 58">
                  <a:extLst>
                    <a:ext uri="{FF2B5EF4-FFF2-40B4-BE49-F238E27FC236}">
                      <a16:creationId xmlns:a16="http://schemas.microsoft.com/office/drawing/2014/main" id="{D6EAAC4D-FF88-FE75-30C8-8D8817BC1F42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" name="Rechteck: abgerundete Ecken 59">
                  <a:extLst>
                    <a:ext uri="{FF2B5EF4-FFF2-40B4-BE49-F238E27FC236}">
                      <a16:creationId xmlns:a16="http://schemas.microsoft.com/office/drawing/2014/main" id="{C809C616-A5FB-DC02-4B29-756D256500BC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" name="Rechteck: abgerundete Ecken 60">
                  <a:extLst>
                    <a:ext uri="{FF2B5EF4-FFF2-40B4-BE49-F238E27FC236}">
                      <a16:creationId xmlns:a16="http://schemas.microsoft.com/office/drawing/2014/main" id="{5843BB33-C61B-6A63-4DB0-8A5C6DA6B000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Rechteck: abgerundete Ecken 61">
                  <a:extLst>
                    <a:ext uri="{FF2B5EF4-FFF2-40B4-BE49-F238E27FC236}">
                      <a16:creationId xmlns:a16="http://schemas.microsoft.com/office/drawing/2014/main" id="{8D1907FA-6642-B4D2-4CB1-DA801A34B449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155C2A48-3477-929A-9BDA-5EC7FC8684D2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53" name="Grafik 52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9698C246-0B42-4E9A-7C21-D07ABB634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3E455F7-3C2A-1EA3-02D3-B912C8FFA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Blockchain-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ED404E-EA62-CDD2-D282-7C8CB3D38A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FB0D2D-9CF0-5320-6AE5-37FF0D7F0F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339794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F9A299-5A01-3082-F911-A0DC004730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F0FEBB3B-F450-299A-3B1F-071661C709E1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882730" y="4113570"/>
            <a:ext cx="540000" cy="540000"/>
          </a:xfrm>
          <a:prstGeom prst="ellipse">
            <a:avLst/>
          </a:prstGeom>
          <a:solidFill>
            <a:srgbClr val="009682"/>
          </a:solidFill>
          <a:ln>
            <a:solidFill>
              <a:srgbClr val="002D4C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6FCA4DDC-F45B-6861-1034-3556F75569B0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26826" y="296100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52697075-FD0C-8416-B790-CAD33C3F66E8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70922" y="4113570"/>
            <a:ext cx="540000" cy="540000"/>
          </a:xfrm>
          <a:prstGeom prst="ellipse">
            <a:avLst/>
          </a:prstGeom>
          <a:solidFill>
            <a:srgbClr val="009682"/>
          </a:solidFill>
          <a:ln>
            <a:solidFill>
              <a:srgbClr val="002D4C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34B3EC4C-0E2A-BE57-EDB0-09737AAA600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394538" y="296100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pic>
        <p:nvPicPr>
          <p:cNvPr id="22" name="Grafik 21" descr="Glühbirne und Zahnrad Silhouette">
            <a:extLst>
              <a:ext uri="{FF2B5EF4-FFF2-40B4-BE49-F238E27FC236}">
                <a16:creationId xmlns:a16="http://schemas.microsoft.com/office/drawing/2014/main" id="{080AFA38-603F-3A30-6F19-1E0D39F2281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4343" y="4162463"/>
            <a:ext cx="438150" cy="438150"/>
          </a:xfrm>
          <a:prstGeom prst="rect">
            <a:avLst/>
          </a:prstGeom>
        </p:spPr>
      </p:pic>
      <p:pic>
        <p:nvPicPr>
          <p:cNvPr id="26" name="Grafik 25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E8148AA4-55C7-B13B-FDB7-A72D18B3AC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8180162" y="3087574"/>
            <a:ext cx="438560" cy="274752"/>
          </a:xfrm>
          <a:prstGeom prst="rect">
            <a:avLst/>
          </a:prstGeom>
        </p:spPr>
      </p:pic>
      <p:pic>
        <p:nvPicPr>
          <p:cNvPr id="37" name="Grafik 36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6B459DAC-6E8B-635B-78EA-DE5E446EAC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15860" y="2986360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rafik 43" descr="Glühbirne und Zahnrad Silhouette">
            <a:extLst>
              <a:ext uri="{FF2B5EF4-FFF2-40B4-BE49-F238E27FC236}">
                <a16:creationId xmlns:a16="http://schemas.microsoft.com/office/drawing/2014/main" id="{F9DF245B-35E5-5727-73B2-72E85BCEC0A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5645" y="4163256"/>
            <a:ext cx="438150" cy="438150"/>
          </a:xfrm>
          <a:prstGeom prst="rect">
            <a:avLst/>
          </a:prstGeom>
        </p:spPr>
      </p:pic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2D7C3EB4-0739-1D4C-5740-256F6D445B44}"/>
              </a:ext>
            </a:extLst>
          </p:cNvPr>
          <p:cNvCxnSpPr>
            <a:cxnSpLocks/>
          </p:cNvCxnSpPr>
          <p:nvPr/>
        </p:nvCxnSpPr>
        <p:spPr bwMode="gray">
          <a:xfrm>
            <a:off x="7634288" y="3757613"/>
            <a:ext cx="3043237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FE2C4967-1ED2-AFBF-3DE4-25F00A27C2DA}"/>
              </a:ext>
            </a:extLst>
          </p:cNvPr>
          <p:cNvSpPr txBox="1"/>
          <p:nvPr/>
        </p:nvSpPr>
        <p:spPr bwMode="gray">
          <a:xfrm>
            <a:off x="7397750" y="3064709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3CB503AC-36FE-34B9-4C4B-20F5ACC89631}"/>
              </a:ext>
            </a:extLst>
          </p:cNvPr>
          <p:cNvSpPr txBox="1"/>
          <p:nvPr/>
        </p:nvSpPr>
        <p:spPr bwMode="gray">
          <a:xfrm>
            <a:off x="9677400" y="3063600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</a:p>
        </p:txBody>
      </p: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A922774A-4716-333B-84C8-5E72B2C07FC7}"/>
              </a:ext>
            </a:extLst>
          </p:cNvPr>
          <p:cNvGrpSpPr/>
          <p:nvPr/>
        </p:nvGrpSpPr>
        <p:grpSpPr>
          <a:xfrm>
            <a:off x="565087" y="4005144"/>
            <a:ext cx="342000" cy="342000"/>
            <a:chOff x="7320136" y="4043360"/>
            <a:chExt cx="432000" cy="432000"/>
          </a:xfrm>
        </p:grpSpPr>
        <p:sp>
          <p:nvSpPr>
            <p:cNvPr id="139" name="Textplatzhalter 76">
              <a:extLst>
                <a:ext uri="{FF2B5EF4-FFF2-40B4-BE49-F238E27FC236}">
                  <a16:creationId xmlns:a16="http://schemas.microsoft.com/office/drawing/2014/main" id="{1CA96F6D-CA63-7C05-7FDE-AA3047AF394A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40" name="Gerader Verbinder 139">
              <a:extLst>
                <a:ext uri="{FF2B5EF4-FFF2-40B4-BE49-F238E27FC236}">
                  <a16:creationId xmlns:a16="http://schemas.microsoft.com/office/drawing/2014/main" id="{2B28025A-9001-94A0-ABB8-220DCDEEA456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4DD7E6CE-9BAE-1E38-F8F4-FC8C9B9014F0}"/>
              </a:ext>
            </a:extLst>
          </p:cNvPr>
          <p:cNvGrpSpPr/>
          <p:nvPr/>
        </p:nvGrpSpPr>
        <p:grpSpPr>
          <a:xfrm>
            <a:off x="561913" y="4636513"/>
            <a:ext cx="342000" cy="342000"/>
            <a:chOff x="7320136" y="4043360"/>
            <a:chExt cx="432000" cy="432000"/>
          </a:xfrm>
        </p:grpSpPr>
        <p:sp>
          <p:nvSpPr>
            <p:cNvPr id="146" name="Textplatzhalter 76">
              <a:extLst>
                <a:ext uri="{FF2B5EF4-FFF2-40B4-BE49-F238E27FC236}">
                  <a16:creationId xmlns:a16="http://schemas.microsoft.com/office/drawing/2014/main" id="{CBD01036-B488-8891-66AA-82624C40897B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48" name="Gerader Verbinder 147">
              <a:extLst>
                <a:ext uri="{FF2B5EF4-FFF2-40B4-BE49-F238E27FC236}">
                  <a16:creationId xmlns:a16="http://schemas.microsoft.com/office/drawing/2014/main" id="{CBC00774-BFC8-B06D-50DB-9B9766EFC317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9" name="Grafik 148" descr="Glühbirne und Zahnrad Silhouette">
            <a:extLst>
              <a:ext uri="{FF2B5EF4-FFF2-40B4-BE49-F238E27FC236}">
                <a16:creationId xmlns:a16="http://schemas.microsoft.com/office/drawing/2014/main" id="{4F431FE0-15AB-81D2-3929-D49CAB394FB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4682" y="4163256"/>
            <a:ext cx="438150" cy="438150"/>
          </a:xfrm>
          <a:prstGeom prst="rect">
            <a:avLst/>
          </a:prstGeom>
        </p:spPr>
      </p:pic>
      <p:sp>
        <p:nvSpPr>
          <p:cNvPr id="150" name="Textfeld 149">
            <a:extLst>
              <a:ext uri="{FF2B5EF4-FFF2-40B4-BE49-F238E27FC236}">
                <a16:creationId xmlns:a16="http://schemas.microsoft.com/office/drawing/2014/main" id="{1FB5CC44-D9E1-0E4F-DA10-A017F946DC9F}"/>
              </a:ext>
            </a:extLst>
          </p:cNvPr>
          <p:cNvSpPr txBox="1"/>
          <p:nvPr/>
        </p:nvSpPr>
        <p:spPr bwMode="gray">
          <a:xfrm>
            <a:off x="10711885" y="4220409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Sensors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9AC9852-571F-2F96-CB20-A7B53CBD0FE6}"/>
              </a:ext>
            </a:extLst>
          </p:cNvPr>
          <p:cNvGrpSpPr/>
          <p:nvPr/>
        </p:nvGrpSpPr>
        <p:grpSpPr>
          <a:xfrm>
            <a:off x="558642" y="2627664"/>
            <a:ext cx="323957" cy="319065"/>
            <a:chOff x="6203950" y="2825279"/>
            <a:chExt cx="432000" cy="432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4CF8440F-F541-A14F-D0FF-9E34C40A6426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ED29A571-8CD5-9375-E707-C244979810DC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C6A9617E-60A5-6D97-9F58-FEAC18A51A48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B39CDE82-A920-9B38-FC80-2F9E48C8C1D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6FF70168-659F-3853-3558-4D9CD069B0AD}"/>
              </a:ext>
            </a:extLst>
          </p:cNvPr>
          <p:cNvGrpSpPr/>
          <p:nvPr/>
        </p:nvGrpSpPr>
        <p:grpSpPr>
          <a:xfrm>
            <a:off x="558642" y="2983264"/>
            <a:ext cx="323957" cy="319065"/>
            <a:chOff x="6203950" y="2825279"/>
            <a:chExt cx="432000" cy="432000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C679ED95-1A96-0879-EE68-C7E9320AAFF5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83119145-6C68-F6FE-B9BE-C4031139E396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FF152594-91D9-26A9-DA89-68A461C58BAA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F042B09C-EA85-8233-60DE-65781C9E858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E201741-0104-3DD4-97BF-9829E9DC7BB0}"/>
              </a:ext>
            </a:extLst>
          </p:cNvPr>
          <p:cNvCxnSpPr>
            <a:cxnSpLocks/>
          </p:cNvCxnSpPr>
          <p:nvPr/>
        </p:nvCxnSpPr>
        <p:spPr bwMode="gray">
          <a:xfrm flipV="1">
            <a:off x="9152616" y="2776538"/>
            <a:ext cx="0" cy="995946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E864F028-A76E-C8BE-CD3C-30BDD2AAFF54}"/>
              </a:ext>
            </a:extLst>
          </p:cNvPr>
          <p:cNvSpPr/>
          <p:nvPr/>
        </p:nvSpPr>
        <p:spPr bwMode="gray">
          <a:xfrm>
            <a:off x="8073555" y="2419940"/>
            <a:ext cx="2952328" cy="360000"/>
          </a:xfrm>
          <a:prstGeom prst="rect">
            <a:avLst/>
          </a:prstGeom>
          <a:solidFill>
            <a:schemeClr val="bg1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rgbClr val="002D4C"/>
                </a:solidFill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2132541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DC928-F5D7-F634-FDA5-BF943E15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A75434-812F-F56B-8077-0AC30D46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Concept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986E1-7AB6-0512-1552-31CCD92E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D308B-9145-EF09-96FD-4E85B489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93F4A-963F-F816-F537-E5043ECD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de-DE" smtClean="0"/>
              <a:pPr/>
              <a:t>21</a:t>
            </a:fld>
            <a:endParaRPr lang="de-DE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E8530F6-9B10-7848-942F-DA922DD194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14179" b="-215"/>
          <a:stretch/>
        </p:blipFill>
        <p:spPr>
          <a:xfrm>
            <a:off x="0" y="1"/>
            <a:ext cx="12191999" cy="382428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9E1CF9-7623-9796-BBCF-20AFB6DB6D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Chapter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F1D3444-D505-80A6-E57C-33F24C1621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657693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FBB70BC6-418F-C991-2C14-8BF63535F130}"/>
              </a:ext>
            </a:extLst>
          </p:cNvPr>
          <p:cNvGrpSpPr/>
          <p:nvPr/>
        </p:nvGrpSpPr>
        <p:grpSpPr>
          <a:xfrm>
            <a:off x="8745407" y="2434819"/>
            <a:ext cx="736862" cy="241706"/>
            <a:chOff x="7842567" y="2883600"/>
            <a:chExt cx="2277000" cy="746902"/>
          </a:xfrm>
        </p:grpSpPr>
        <p:sp>
          <p:nvSpPr>
            <p:cNvPr id="138" name="Rechteck: abgerundete Ecken 137">
              <a:extLst>
                <a:ext uri="{FF2B5EF4-FFF2-40B4-BE49-F238E27FC236}">
                  <a16:creationId xmlns:a16="http://schemas.microsoft.com/office/drawing/2014/main" id="{6F81321F-B115-EC49-C814-9E31A48A61ED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39" name="Rechteck: abgerundete Ecken 138">
              <a:extLst>
                <a:ext uri="{FF2B5EF4-FFF2-40B4-BE49-F238E27FC236}">
                  <a16:creationId xmlns:a16="http://schemas.microsoft.com/office/drawing/2014/main" id="{1F3C03DF-5184-AD3D-1FCD-247D03D791FE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40" name="Rechteck: abgerundete Ecken 139">
              <a:extLst>
                <a:ext uri="{FF2B5EF4-FFF2-40B4-BE49-F238E27FC236}">
                  <a16:creationId xmlns:a16="http://schemas.microsoft.com/office/drawing/2014/main" id="{9C7348F3-4526-7F95-2029-A40820505C84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41" name="Rechteck: abgerundete Ecken 140">
              <a:extLst>
                <a:ext uri="{FF2B5EF4-FFF2-40B4-BE49-F238E27FC236}">
                  <a16:creationId xmlns:a16="http://schemas.microsoft.com/office/drawing/2014/main" id="{85706DF5-197D-DF49-631F-05EA4A163372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42" name="Rechteck: abgerundete Ecken 141">
              <a:extLst>
                <a:ext uri="{FF2B5EF4-FFF2-40B4-BE49-F238E27FC236}">
                  <a16:creationId xmlns:a16="http://schemas.microsoft.com/office/drawing/2014/main" id="{C04A134F-2036-B61C-E703-FBD718B219F2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43" name="Rechteck: abgerundete Ecken 142">
              <a:extLst>
                <a:ext uri="{FF2B5EF4-FFF2-40B4-BE49-F238E27FC236}">
                  <a16:creationId xmlns:a16="http://schemas.microsoft.com/office/drawing/2014/main" id="{2C5D5DD0-F8D5-31EB-3139-F92C5F2F67D7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5A1ED586-86CF-B72F-8A8B-CC2108532779}"/>
              </a:ext>
            </a:extLst>
          </p:cNvPr>
          <p:cNvGrpSpPr/>
          <p:nvPr/>
        </p:nvGrpSpPr>
        <p:grpSpPr>
          <a:xfrm>
            <a:off x="6094151" y="2434819"/>
            <a:ext cx="736862" cy="241706"/>
            <a:chOff x="7842567" y="2883600"/>
            <a:chExt cx="2277000" cy="746902"/>
          </a:xfrm>
        </p:grpSpPr>
        <p:sp>
          <p:nvSpPr>
            <p:cNvPr id="127" name="Rechteck: abgerundete Ecken 126">
              <a:extLst>
                <a:ext uri="{FF2B5EF4-FFF2-40B4-BE49-F238E27FC236}">
                  <a16:creationId xmlns:a16="http://schemas.microsoft.com/office/drawing/2014/main" id="{FD5B63E9-BEB2-26D6-CDB8-64861154A348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28" name="Rechteck: abgerundete Ecken 127">
              <a:extLst>
                <a:ext uri="{FF2B5EF4-FFF2-40B4-BE49-F238E27FC236}">
                  <a16:creationId xmlns:a16="http://schemas.microsoft.com/office/drawing/2014/main" id="{CF01E3CE-E999-9411-E8F8-5996AB5547AA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29" name="Rechteck: abgerundete Ecken 128">
              <a:extLst>
                <a:ext uri="{FF2B5EF4-FFF2-40B4-BE49-F238E27FC236}">
                  <a16:creationId xmlns:a16="http://schemas.microsoft.com/office/drawing/2014/main" id="{F7AB5E0F-D456-8BD4-07AE-7CF21B74F675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30" name="Rechteck: abgerundete Ecken 129">
              <a:extLst>
                <a:ext uri="{FF2B5EF4-FFF2-40B4-BE49-F238E27FC236}">
                  <a16:creationId xmlns:a16="http://schemas.microsoft.com/office/drawing/2014/main" id="{9A2558C8-B5CC-5C88-4C83-8EB8DA4583ED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31" name="Rechteck: abgerundete Ecken 130">
              <a:extLst>
                <a:ext uri="{FF2B5EF4-FFF2-40B4-BE49-F238E27FC236}">
                  <a16:creationId xmlns:a16="http://schemas.microsoft.com/office/drawing/2014/main" id="{13F88AFE-0F86-A765-7271-8689CE0F7B74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32" name="Rechteck: abgerundete Ecken 131">
              <a:extLst>
                <a:ext uri="{FF2B5EF4-FFF2-40B4-BE49-F238E27FC236}">
                  <a16:creationId xmlns:a16="http://schemas.microsoft.com/office/drawing/2014/main" id="{0EC09FC1-3933-894E-0693-A1D04EFE0C8D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4" name="Gruppieren 113">
            <a:extLst>
              <a:ext uri="{FF2B5EF4-FFF2-40B4-BE49-F238E27FC236}">
                <a16:creationId xmlns:a16="http://schemas.microsoft.com/office/drawing/2014/main" id="{8FD5BAE7-D93C-E8BF-78FE-381658DC65AA}"/>
              </a:ext>
            </a:extLst>
          </p:cNvPr>
          <p:cNvGrpSpPr/>
          <p:nvPr/>
        </p:nvGrpSpPr>
        <p:grpSpPr>
          <a:xfrm>
            <a:off x="3427151" y="2434819"/>
            <a:ext cx="736862" cy="241706"/>
            <a:chOff x="7842567" y="2883600"/>
            <a:chExt cx="2277000" cy="746902"/>
          </a:xfrm>
        </p:grpSpPr>
        <p:sp>
          <p:nvSpPr>
            <p:cNvPr id="116" name="Rechteck: abgerundete Ecken 115">
              <a:extLst>
                <a:ext uri="{FF2B5EF4-FFF2-40B4-BE49-F238E27FC236}">
                  <a16:creationId xmlns:a16="http://schemas.microsoft.com/office/drawing/2014/main" id="{BA788590-0F37-34DF-CB8E-1D8F04CF19F4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17" name="Rechteck: abgerundete Ecken 116">
              <a:extLst>
                <a:ext uri="{FF2B5EF4-FFF2-40B4-BE49-F238E27FC236}">
                  <a16:creationId xmlns:a16="http://schemas.microsoft.com/office/drawing/2014/main" id="{D97870A3-1A76-4159-0ECA-FD60890FAB20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18" name="Rechteck: abgerundete Ecken 117">
              <a:extLst>
                <a:ext uri="{FF2B5EF4-FFF2-40B4-BE49-F238E27FC236}">
                  <a16:creationId xmlns:a16="http://schemas.microsoft.com/office/drawing/2014/main" id="{433243B0-894B-394E-D5BB-1FC488DCF210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19" name="Rechteck: abgerundete Ecken 118">
              <a:extLst>
                <a:ext uri="{FF2B5EF4-FFF2-40B4-BE49-F238E27FC236}">
                  <a16:creationId xmlns:a16="http://schemas.microsoft.com/office/drawing/2014/main" id="{9D2D8443-A272-B434-A7F5-4DD9C955A87E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20" name="Rechteck: abgerundete Ecken 119">
              <a:extLst>
                <a:ext uri="{FF2B5EF4-FFF2-40B4-BE49-F238E27FC236}">
                  <a16:creationId xmlns:a16="http://schemas.microsoft.com/office/drawing/2014/main" id="{DC9EACC7-B60A-CD5B-A4A3-DBF740ABCD20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121" name="Rechteck: abgerundete Ecken 120">
              <a:extLst>
                <a:ext uri="{FF2B5EF4-FFF2-40B4-BE49-F238E27FC236}">
                  <a16:creationId xmlns:a16="http://schemas.microsoft.com/office/drawing/2014/main" id="{6A9B4BC5-A343-8CC1-391A-C78FFBC50890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AB69E7A-2604-2C62-08B6-AB391588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Concept </a:t>
            </a:r>
            <a:br>
              <a:rPr lang="de-DE" dirty="0"/>
            </a:br>
            <a:r>
              <a:rPr lang="de-DE" sz="3600" dirty="0" err="1">
                <a:solidFill>
                  <a:schemeClr val="bg2"/>
                </a:solidFill>
              </a:rPr>
              <a:t>Synthesized</a:t>
            </a:r>
            <a:r>
              <a:rPr lang="de-DE" sz="3600" dirty="0">
                <a:solidFill>
                  <a:schemeClr val="bg2"/>
                </a:solidFill>
              </a:rPr>
              <a:t> </a:t>
            </a:r>
            <a:r>
              <a:rPr lang="de-DE" sz="3600" dirty="0" err="1">
                <a:solidFill>
                  <a:schemeClr val="bg2"/>
                </a:solidFill>
              </a:rPr>
              <a:t>Adopted</a:t>
            </a:r>
            <a:r>
              <a:rPr lang="de-DE" sz="3600" dirty="0">
                <a:solidFill>
                  <a:schemeClr val="bg2"/>
                </a:solidFill>
              </a:rPr>
              <a:t> System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41397D-DE7D-40D6-B3D1-8C23D55D0CA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6C30E4-3C98-FD96-9A70-E1F4D43C8A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513966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48A09A-F0E7-FBB4-69D7-47EBD34E38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8" name="Textplatzhalter 76">
            <a:extLst>
              <a:ext uri="{FF2B5EF4-FFF2-40B4-BE49-F238E27FC236}">
                <a16:creationId xmlns:a16="http://schemas.microsoft.com/office/drawing/2014/main" id="{823DA3D8-95C2-0BE4-6311-F9E38C25F4E2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83845" y="3536365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n</a:t>
            </a:r>
            <a:endParaRPr lang="de-DE" sz="1000" dirty="0">
              <a:solidFill>
                <a:schemeClr val="bg1"/>
              </a:solidFill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039EA9F-85D2-CC58-86B8-42CC81293E45}"/>
              </a:ext>
            </a:extLst>
          </p:cNvPr>
          <p:cNvCxnSpPr>
            <a:cxnSpLocks/>
            <a:stCxn id="8" idx="2"/>
          </p:cNvCxnSpPr>
          <p:nvPr/>
        </p:nvCxnSpPr>
        <p:spPr bwMode="gray">
          <a:xfrm flipH="1">
            <a:off x="371474" y="3806365"/>
            <a:ext cx="612371" cy="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4A8660AD-3C35-55AB-B145-8E98F9BE6243}"/>
              </a:ext>
            </a:extLst>
          </p:cNvPr>
          <p:cNvSpPr txBox="1"/>
          <p:nvPr/>
        </p:nvSpPr>
        <p:spPr bwMode="gray">
          <a:xfrm>
            <a:off x="318353" y="3518333"/>
            <a:ext cx="718611" cy="2640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Enters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3598F65-FDDE-724B-A290-579AEF8AB5E2}"/>
              </a:ext>
            </a:extLst>
          </p:cNvPr>
          <p:cNvSpPr txBox="1"/>
          <p:nvPr/>
        </p:nvSpPr>
        <p:spPr bwMode="gray">
          <a:xfrm>
            <a:off x="7232163" y="5427203"/>
            <a:ext cx="3344249" cy="692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800" b="1" dirty="0"/>
              <a:t>Ledger</a:t>
            </a:r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Holds operational </a:t>
            </a:r>
            <a:r>
              <a:rPr lang="de-DE" sz="1400" dirty="0" err="1"/>
              <a:t>certificates</a:t>
            </a:r>
            <a:endParaRPr lang="de-DE" sz="1400" dirty="0"/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7C84DFF8-0CCD-C0F9-E22E-AF6FBB58EDD4}"/>
              </a:ext>
            </a:extLst>
          </p:cNvPr>
          <p:cNvGrpSpPr/>
          <p:nvPr/>
        </p:nvGrpSpPr>
        <p:grpSpPr>
          <a:xfrm>
            <a:off x="4957501" y="5422862"/>
            <a:ext cx="2277000" cy="746902"/>
            <a:chOff x="7842567" y="2883600"/>
            <a:chExt cx="2277000" cy="746902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8351D8C8-C54E-FDDE-DD80-1166607CAB8C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Rechteck: abgerundete Ecken 37">
              <a:extLst>
                <a:ext uri="{FF2B5EF4-FFF2-40B4-BE49-F238E27FC236}">
                  <a16:creationId xmlns:a16="http://schemas.microsoft.com/office/drawing/2014/main" id="{0796C126-8DBF-CF82-6617-727BE901C545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Rechteck: abgerundete Ecken 38">
              <a:extLst>
                <a:ext uri="{FF2B5EF4-FFF2-40B4-BE49-F238E27FC236}">
                  <a16:creationId xmlns:a16="http://schemas.microsoft.com/office/drawing/2014/main" id="{3AA9B97A-B057-7B4E-3DAC-BFFB61E0441C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4CA00FA2-2404-2F3C-2DF0-1653FE79F86A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0126E4F8-FB40-90E4-9EDF-840F5C6A4924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093861F6-8DB3-EC23-4ADB-9C6A33BFAD9B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A41C6B54-D961-36DA-39FA-83977122BD01}"/>
              </a:ext>
            </a:extLst>
          </p:cNvPr>
          <p:cNvCxnSpPr>
            <a:cxnSpLocks/>
          </p:cNvCxnSpPr>
          <p:nvPr/>
        </p:nvCxnSpPr>
        <p:spPr bwMode="gray">
          <a:xfrm flipH="1">
            <a:off x="1523845" y="3050221"/>
            <a:ext cx="1925916" cy="756144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9E63687-2BC1-6EE3-F67A-8E5848D4F0F0}"/>
              </a:ext>
            </a:extLst>
          </p:cNvPr>
          <p:cNvCxnSpPr>
            <a:cxnSpLocks/>
            <a:stCxn id="94" idx="4"/>
          </p:cNvCxnSpPr>
          <p:nvPr/>
        </p:nvCxnSpPr>
        <p:spPr bwMode="gray">
          <a:xfrm flipH="1">
            <a:off x="1546069" y="3045258"/>
            <a:ext cx="4550565" cy="761107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BDC52473-C01D-8C67-8893-95B2E276DEFA}"/>
              </a:ext>
            </a:extLst>
          </p:cNvPr>
          <p:cNvCxnSpPr>
            <a:cxnSpLocks/>
            <a:stCxn id="93" idx="4"/>
          </p:cNvCxnSpPr>
          <p:nvPr/>
        </p:nvCxnSpPr>
        <p:spPr bwMode="gray">
          <a:xfrm flipH="1">
            <a:off x="1523845" y="3051425"/>
            <a:ext cx="7220105" cy="754940"/>
          </a:xfrm>
          <a:prstGeom prst="line">
            <a:avLst/>
          </a:prstGeom>
          <a:ln w="31750">
            <a:solidFill>
              <a:schemeClr val="bg2"/>
            </a:solidFill>
            <a:prstDash val="dash"/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platzhalter 76">
            <a:extLst>
              <a:ext uri="{FF2B5EF4-FFF2-40B4-BE49-F238E27FC236}">
                <a16:creationId xmlns:a16="http://schemas.microsoft.com/office/drawing/2014/main" id="{D09B08A3-9217-5B19-0C31-418A1E87E17D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2618651" y="3157823"/>
            <a:ext cx="255428" cy="27047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9" name="Textplatzhalter 76">
            <a:extLst>
              <a:ext uri="{FF2B5EF4-FFF2-40B4-BE49-F238E27FC236}">
                <a16:creationId xmlns:a16="http://schemas.microsoft.com/office/drawing/2014/main" id="{03EB1690-69AE-8F8A-C6B8-AE49D3FB538C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4398497" y="3159351"/>
            <a:ext cx="255428" cy="27047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50" name="Textplatzhalter 76">
            <a:extLst>
              <a:ext uri="{FF2B5EF4-FFF2-40B4-BE49-F238E27FC236}">
                <a16:creationId xmlns:a16="http://schemas.microsoft.com/office/drawing/2014/main" id="{C8D5BF4D-E4D6-C5F6-B45F-266D817DD2ED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6523038" y="3157823"/>
            <a:ext cx="255428" cy="270470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B427BD64-2673-E49E-70E0-E1AFE8C77635}"/>
              </a:ext>
            </a:extLst>
          </p:cNvPr>
          <p:cNvSpPr txBox="1"/>
          <p:nvPr/>
        </p:nvSpPr>
        <p:spPr bwMode="gray">
          <a:xfrm>
            <a:off x="2846846" y="3717977"/>
            <a:ext cx="1196517" cy="3314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Join</a:t>
            </a:r>
            <a:r>
              <a:rPr lang="de-DE" sz="1400" dirty="0"/>
              <a:t> </a:t>
            </a:r>
            <a:r>
              <a:rPr lang="de-DE" sz="1400" dirty="0" err="1"/>
              <a:t>request</a:t>
            </a:r>
            <a:endParaRPr lang="de-DE" sz="1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D72B975-63C5-0B05-1E25-C86D5E19E007}"/>
              </a:ext>
            </a:extLst>
          </p:cNvPr>
          <p:cNvSpPr txBox="1"/>
          <p:nvPr/>
        </p:nvSpPr>
        <p:spPr bwMode="gray">
          <a:xfrm>
            <a:off x="444046" y="4149140"/>
            <a:ext cx="1601053" cy="539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New Device</a:t>
            </a:r>
          </a:p>
        </p:txBody>
      </p:sp>
      <p:pic>
        <p:nvPicPr>
          <p:cNvPr id="53" name="Grafik 52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F695D70A-DE7C-A045-B7AA-F3EEC3515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47" y="3125548"/>
            <a:ext cx="366497" cy="36649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B02F84C-D4C4-0743-9426-CDEC78B5FE1D}"/>
              </a:ext>
            </a:extLst>
          </p:cNvPr>
          <p:cNvSpPr txBox="1"/>
          <p:nvPr/>
        </p:nvSpPr>
        <p:spPr bwMode="gray">
          <a:xfrm>
            <a:off x="681211" y="2555846"/>
            <a:ext cx="1194081" cy="6377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Enrollment</a:t>
            </a:r>
            <a:r>
              <a:rPr lang="de-DE" sz="1400" dirty="0"/>
              <a:t> </a:t>
            </a:r>
            <a:r>
              <a:rPr lang="de-DE" sz="1400" dirty="0" err="1"/>
              <a:t>certificate</a:t>
            </a:r>
            <a:endParaRPr lang="de-DE" sz="14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DC6EA86-9C9A-EDF9-DE2D-0BCAD00EBEE1}"/>
              </a:ext>
            </a:extLst>
          </p:cNvPr>
          <p:cNvSpPr txBox="1"/>
          <p:nvPr/>
        </p:nvSpPr>
        <p:spPr bwMode="gray">
          <a:xfrm>
            <a:off x="371475" y="1592263"/>
            <a:ext cx="5342164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Combination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aspects</a:t>
            </a:r>
            <a:r>
              <a:rPr lang="de-DE" b="1" dirty="0"/>
              <a:t> </a:t>
            </a:r>
            <a:r>
              <a:rPr lang="de-DE" b="1" dirty="0" err="1"/>
              <a:t>from</a:t>
            </a:r>
            <a:r>
              <a:rPr lang="de-DE" b="1" dirty="0"/>
              <a:t> multiple </a:t>
            </a:r>
            <a:r>
              <a:rPr lang="de-DE" b="1" dirty="0" err="1"/>
              <a:t>proposals</a:t>
            </a:r>
            <a:r>
              <a:rPr lang="de-DE" b="1" dirty="0"/>
              <a:t>: </a:t>
            </a:r>
          </a:p>
        </p:txBody>
      </p:sp>
      <p:sp>
        <p:nvSpPr>
          <p:cNvPr id="92" name="Textplatzhalter 76">
            <a:extLst>
              <a:ext uri="{FF2B5EF4-FFF2-40B4-BE49-F238E27FC236}">
                <a16:creationId xmlns:a16="http://schemas.microsoft.com/office/drawing/2014/main" id="{A458D988-DF4A-1A94-3E3C-4B43CED2FED9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3176330" y="2512890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94" name="Textplatzhalter 76">
            <a:extLst>
              <a:ext uri="{FF2B5EF4-FFF2-40B4-BE49-F238E27FC236}">
                <a16:creationId xmlns:a16="http://schemas.microsoft.com/office/drawing/2014/main" id="{3610B5B0-99AB-CBB5-254E-110D61253A29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826634" y="250525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EA46D0A2-3EE3-C712-34E8-CEFDACBC94B3}"/>
              </a:ext>
            </a:extLst>
          </p:cNvPr>
          <p:cNvGrpSpPr/>
          <p:nvPr/>
        </p:nvGrpSpPr>
        <p:grpSpPr>
          <a:xfrm>
            <a:off x="8473950" y="2511425"/>
            <a:ext cx="540000" cy="540000"/>
            <a:chOff x="6636830" y="3206750"/>
            <a:chExt cx="540000" cy="540000"/>
          </a:xfrm>
        </p:grpSpPr>
        <p:sp>
          <p:nvSpPr>
            <p:cNvPr id="93" name="Textplatzhalter 76">
              <a:extLst>
                <a:ext uri="{FF2B5EF4-FFF2-40B4-BE49-F238E27FC236}">
                  <a16:creationId xmlns:a16="http://schemas.microsoft.com/office/drawing/2014/main" id="{FAA5395D-77E4-AD90-D939-F121058A5D6C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6636830" y="3206750"/>
              <a:ext cx="540000" cy="540000"/>
            </a:xfrm>
            <a:prstGeom prst="ellipse">
              <a:avLst/>
            </a:prstGeom>
            <a:solidFill>
              <a:srgbClr val="002D4C"/>
            </a:solidFill>
            <a:ln>
              <a:noFill/>
            </a:ln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dirty="0">
                <a:solidFill>
                  <a:schemeClr val="bg1"/>
                </a:solidFill>
              </a:endParaRPr>
            </a:p>
          </p:txBody>
        </p:sp>
        <p:pic>
          <p:nvPicPr>
            <p:cNvPr id="95" name="Grafik 94" descr="Glühbirne und Zahnrad Silhouette">
              <a:extLst>
                <a:ext uri="{FF2B5EF4-FFF2-40B4-BE49-F238E27FC236}">
                  <a16:creationId xmlns:a16="http://schemas.microsoft.com/office/drawing/2014/main" id="{3E3304E2-3338-7A16-E8CF-C42850E75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10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90251" y="3254413"/>
              <a:ext cx="438150" cy="438150"/>
            </a:xfrm>
            <a:prstGeom prst="rect">
              <a:avLst/>
            </a:prstGeom>
          </p:spPr>
        </p:pic>
      </p:grpSp>
      <p:pic>
        <p:nvPicPr>
          <p:cNvPr id="96" name="Grafik 95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93B3AE69-1F5D-04AF-20EC-B7D7FAF4D6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3229666" y="2639456"/>
            <a:ext cx="438560" cy="274752"/>
          </a:xfrm>
          <a:prstGeom prst="rect">
            <a:avLst/>
          </a:prstGeom>
        </p:spPr>
      </p:pic>
      <p:pic>
        <p:nvPicPr>
          <p:cNvPr id="97" name="Grafik 96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3AB2F988-BF2A-8F67-353B-94396D37C1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7956" y="2530610"/>
            <a:ext cx="499789" cy="49978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feld 104">
            <a:extLst>
              <a:ext uri="{FF2B5EF4-FFF2-40B4-BE49-F238E27FC236}">
                <a16:creationId xmlns:a16="http://schemas.microsoft.com/office/drawing/2014/main" id="{EB6CA97F-0AA7-53DB-298D-A0AC1FD38C23}"/>
              </a:ext>
            </a:extLst>
          </p:cNvPr>
          <p:cNvSpPr txBox="1"/>
          <p:nvPr/>
        </p:nvSpPr>
        <p:spPr bwMode="gray">
          <a:xfrm>
            <a:off x="8206140" y="2155072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</a:t>
            </a:r>
            <a:endParaRPr lang="de-DE" sz="2000" b="1" dirty="0"/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EDEB8D48-3798-9C56-44DA-EB4B8541786C}"/>
              </a:ext>
            </a:extLst>
          </p:cNvPr>
          <p:cNvSpPr txBox="1"/>
          <p:nvPr/>
        </p:nvSpPr>
        <p:spPr bwMode="gray">
          <a:xfrm>
            <a:off x="3118557" y="2155072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98321489-E1F4-FE73-8E09-BB345241A9E7}"/>
              </a:ext>
            </a:extLst>
          </p:cNvPr>
          <p:cNvSpPr txBox="1"/>
          <p:nvPr/>
        </p:nvSpPr>
        <p:spPr bwMode="gray">
          <a:xfrm>
            <a:off x="5749258" y="2155072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  <a:endParaRPr lang="de-DE" sz="2000" b="1" dirty="0"/>
          </a:p>
        </p:txBody>
      </p:sp>
    </p:spTree>
    <p:extLst>
      <p:ext uri="{BB962C8B-B14F-4D97-AF65-F5344CB8AC3E}">
        <p14:creationId xmlns:p14="http://schemas.microsoft.com/office/powerpoint/2010/main" val="18838267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8" grpId="0" animBg="1"/>
      <p:bldP spid="49" grpId="0" animBg="1"/>
      <p:bldP spid="50" grpId="0" animBg="1"/>
      <p:bldP spid="51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3720-E1DE-9408-73A2-2586094D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88E5B8F3-ECD0-E6AC-B565-35F6708337DD}"/>
              </a:ext>
            </a:extLst>
          </p:cNvPr>
          <p:cNvGrpSpPr/>
          <p:nvPr/>
        </p:nvGrpSpPr>
        <p:grpSpPr>
          <a:xfrm>
            <a:off x="8745407" y="2434819"/>
            <a:ext cx="736862" cy="241706"/>
            <a:chOff x="7842567" y="2883600"/>
            <a:chExt cx="2277000" cy="746902"/>
          </a:xfrm>
        </p:grpSpPr>
        <p:sp>
          <p:nvSpPr>
            <p:cNvPr id="65" name="Rechteck: abgerundete Ecken 64">
              <a:extLst>
                <a:ext uri="{FF2B5EF4-FFF2-40B4-BE49-F238E27FC236}">
                  <a16:creationId xmlns:a16="http://schemas.microsoft.com/office/drawing/2014/main" id="{675ABC8C-54A9-321D-5C00-F2CC36C526B2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66" name="Rechteck: abgerundete Ecken 65">
              <a:extLst>
                <a:ext uri="{FF2B5EF4-FFF2-40B4-BE49-F238E27FC236}">
                  <a16:creationId xmlns:a16="http://schemas.microsoft.com/office/drawing/2014/main" id="{272E19C5-5F6A-C0D9-1E6B-F90EEADD72F9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67" name="Rechteck: abgerundete Ecken 66">
              <a:extLst>
                <a:ext uri="{FF2B5EF4-FFF2-40B4-BE49-F238E27FC236}">
                  <a16:creationId xmlns:a16="http://schemas.microsoft.com/office/drawing/2014/main" id="{E7293FA0-A1B1-FA80-7612-FDA0B05ACEDC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69" name="Rechteck: abgerundete Ecken 68">
              <a:extLst>
                <a:ext uri="{FF2B5EF4-FFF2-40B4-BE49-F238E27FC236}">
                  <a16:creationId xmlns:a16="http://schemas.microsoft.com/office/drawing/2014/main" id="{7A17561F-0549-EA0D-4ACD-AB584A69F729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70" name="Rechteck: abgerundete Ecken 69">
              <a:extLst>
                <a:ext uri="{FF2B5EF4-FFF2-40B4-BE49-F238E27FC236}">
                  <a16:creationId xmlns:a16="http://schemas.microsoft.com/office/drawing/2014/main" id="{EF4CFABA-92A3-8A47-9139-57A36D5DB833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Rechteck: abgerundete Ecken 70">
              <a:extLst>
                <a:ext uri="{FF2B5EF4-FFF2-40B4-BE49-F238E27FC236}">
                  <a16:creationId xmlns:a16="http://schemas.microsoft.com/office/drawing/2014/main" id="{0BADCDE3-07AB-2BF3-D326-428E910ACAF0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4" name="Rechteck 63">
            <a:extLst>
              <a:ext uri="{FF2B5EF4-FFF2-40B4-BE49-F238E27FC236}">
                <a16:creationId xmlns:a16="http://schemas.microsoft.com/office/drawing/2014/main" id="{6DF25AC5-E9DA-302B-40A9-55977E4D5FA6}"/>
              </a:ext>
            </a:extLst>
          </p:cNvPr>
          <p:cNvSpPr/>
          <p:nvPr/>
        </p:nvSpPr>
        <p:spPr bwMode="gray">
          <a:xfrm>
            <a:off x="9132600" y="2456147"/>
            <a:ext cx="329816" cy="197274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b="1" dirty="0">
              <a:solidFill>
                <a:srgbClr val="000000"/>
              </a:solidFill>
            </a:endParaRPr>
          </a:p>
        </p:txBody>
      </p:sp>
      <p:pic>
        <p:nvPicPr>
          <p:cNvPr id="62" name="Grafik 6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17F68948-E391-CBE8-80DB-1C3727811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23414" y="2479751"/>
            <a:ext cx="152429" cy="152429"/>
          </a:xfrm>
          <a:prstGeom prst="rect">
            <a:avLst/>
          </a:prstGeom>
        </p:spPr>
      </p:pic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4CE53813-7B29-D4C5-EF23-9414E319F229}"/>
              </a:ext>
            </a:extLst>
          </p:cNvPr>
          <p:cNvGrpSpPr/>
          <p:nvPr/>
        </p:nvGrpSpPr>
        <p:grpSpPr>
          <a:xfrm>
            <a:off x="6094151" y="2434819"/>
            <a:ext cx="736862" cy="241706"/>
            <a:chOff x="7842567" y="2883600"/>
            <a:chExt cx="2277000" cy="746902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86C9E577-32BC-777B-C00C-4DCE118CFF70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Rechteck: abgerundete Ecken 77">
              <a:extLst>
                <a:ext uri="{FF2B5EF4-FFF2-40B4-BE49-F238E27FC236}">
                  <a16:creationId xmlns:a16="http://schemas.microsoft.com/office/drawing/2014/main" id="{EDD47F12-C447-CDB0-45B1-F8F4630554ED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Rechteck: abgerundete Ecken 78">
              <a:extLst>
                <a:ext uri="{FF2B5EF4-FFF2-40B4-BE49-F238E27FC236}">
                  <a16:creationId xmlns:a16="http://schemas.microsoft.com/office/drawing/2014/main" id="{4B739A61-5688-2049-9D38-F45E5D066A9B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Rechteck: abgerundete Ecken 79">
              <a:extLst>
                <a:ext uri="{FF2B5EF4-FFF2-40B4-BE49-F238E27FC236}">
                  <a16:creationId xmlns:a16="http://schemas.microsoft.com/office/drawing/2014/main" id="{F68A051D-62A1-8A60-165F-8DA0D1B4F9E6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81" name="Rechteck: abgerundete Ecken 80">
              <a:extLst>
                <a:ext uri="{FF2B5EF4-FFF2-40B4-BE49-F238E27FC236}">
                  <a16:creationId xmlns:a16="http://schemas.microsoft.com/office/drawing/2014/main" id="{AA0AB8CE-2ED7-7FF9-6F24-97F1954F4963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82" name="Rechteck: abgerundete Ecken 81">
              <a:extLst>
                <a:ext uri="{FF2B5EF4-FFF2-40B4-BE49-F238E27FC236}">
                  <a16:creationId xmlns:a16="http://schemas.microsoft.com/office/drawing/2014/main" id="{8C290E18-D200-2440-FC35-E71BABA2AA94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6" name="Rechteck 75">
            <a:extLst>
              <a:ext uri="{FF2B5EF4-FFF2-40B4-BE49-F238E27FC236}">
                <a16:creationId xmlns:a16="http://schemas.microsoft.com/office/drawing/2014/main" id="{30CAF9B9-7131-A386-50CF-0A7AC020E4CB}"/>
              </a:ext>
            </a:extLst>
          </p:cNvPr>
          <p:cNvSpPr/>
          <p:nvPr/>
        </p:nvSpPr>
        <p:spPr bwMode="gray">
          <a:xfrm>
            <a:off x="6481344" y="2456147"/>
            <a:ext cx="329816" cy="197274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b="1" dirty="0">
              <a:solidFill>
                <a:srgbClr val="000000"/>
              </a:solidFill>
            </a:endParaRPr>
          </a:p>
        </p:txBody>
      </p:sp>
      <p:pic>
        <p:nvPicPr>
          <p:cNvPr id="74" name="Grafik 73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78C08CE8-EE53-6032-4607-C3B4F1FC3F5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72158" y="2479751"/>
            <a:ext cx="152429" cy="152429"/>
          </a:xfrm>
          <a:prstGeom prst="rect">
            <a:avLst/>
          </a:prstGeom>
        </p:spPr>
      </p:pic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DE031ECB-7C52-6951-5008-63B54538B1D2}"/>
              </a:ext>
            </a:extLst>
          </p:cNvPr>
          <p:cNvGrpSpPr/>
          <p:nvPr/>
        </p:nvGrpSpPr>
        <p:grpSpPr>
          <a:xfrm>
            <a:off x="3427151" y="2434819"/>
            <a:ext cx="736862" cy="241706"/>
            <a:chOff x="7842567" y="2883600"/>
            <a:chExt cx="2277000" cy="746902"/>
          </a:xfrm>
        </p:grpSpPr>
        <p:sp>
          <p:nvSpPr>
            <p:cNvPr id="88" name="Rechteck: abgerundete Ecken 87">
              <a:extLst>
                <a:ext uri="{FF2B5EF4-FFF2-40B4-BE49-F238E27FC236}">
                  <a16:creationId xmlns:a16="http://schemas.microsoft.com/office/drawing/2014/main" id="{6650C597-D743-DD9A-FF98-479A299E1521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89" name="Rechteck: abgerundete Ecken 88">
              <a:extLst>
                <a:ext uri="{FF2B5EF4-FFF2-40B4-BE49-F238E27FC236}">
                  <a16:creationId xmlns:a16="http://schemas.microsoft.com/office/drawing/2014/main" id="{A158D7BC-BDFD-7A8D-0D6F-E2E9957D2A23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90" name="Rechteck: abgerundete Ecken 89">
              <a:extLst>
                <a:ext uri="{FF2B5EF4-FFF2-40B4-BE49-F238E27FC236}">
                  <a16:creationId xmlns:a16="http://schemas.microsoft.com/office/drawing/2014/main" id="{4A43EAAD-266F-62D3-70C9-233A636681CD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91" name="Rechteck: abgerundete Ecken 90">
              <a:extLst>
                <a:ext uri="{FF2B5EF4-FFF2-40B4-BE49-F238E27FC236}">
                  <a16:creationId xmlns:a16="http://schemas.microsoft.com/office/drawing/2014/main" id="{562E4A15-AB50-7EBF-8989-2E8A6D9736F9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92" name="Rechteck: abgerundete Ecken 91">
              <a:extLst>
                <a:ext uri="{FF2B5EF4-FFF2-40B4-BE49-F238E27FC236}">
                  <a16:creationId xmlns:a16="http://schemas.microsoft.com/office/drawing/2014/main" id="{5ED05CC8-20EF-394E-3DC4-F0BA5B27855F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  <p:sp>
          <p:nvSpPr>
            <p:cNvPr id="93" name="Rechteck: abgerundete Ecken 92">
              <a:extLst>
                <a:ext uri="{FF2B5EF4-FFF2-40B4-BE49-F238E27FC236}">
                  <a16:creationId xmlns:a16="http://schemas.microsoft.com/office/drawing/2014/main" id="{E03DB63B-9C87-A791-0F0A-3902D78A4252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7" name="Rechteck 86">
            <a:extLst>
              <a:ext uri="{FF2B5EF4-FFF2-40B4-BE49-F238E27FC236}">
                <a16:creationId xmlns:a16="http://schemas.microsoft.com/office/drawing/2014/main" id="{865B782D-D7B3-E35D-AD2E-ECB1CD424BEB}"/>
              </a:ext>
            </a:extLst>
          </p:cNvPr>
          <p:cNvSpPr/>
          <p:nvPr/>
        </p:nvSpPr>
        <p:spPr bwMode="gray">
          <a:xfrm>
            <a:off x="3814344" y="2456147"/>
            <a:ext cx="329816" cy="197274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b="1" dirty="0">
              <a:solidFill>
                <a:srgbClr val="000000"/>
              </a:solidFill>
            </a:endParaRPr>
          </a:p>
        </p:txBody>
      </p:sp>
      <p:pic>
        <p:nvPicPr>
          <p:cNvPr id="85" name="Grafik 8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BDCACB18-21CC-81A4-8F71-417045C34A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05158" y="2479751"/>
            <a:ext cx="152429" cy="15242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30E90C2-D129-3365-1B09-9367C66B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Concept </a:t>
            </a:r>
            <a:br>
              <a:rPr lang="de-DE" dirty="0"/>
            </a:br>
            <a:r>
              <a:rPr lang="de-DE" sz="3600" dirty="0" err="1">
                <a:solidFill>
                  <a:schemeClr val="bg2"/>
                </a:solidFill>
              </a:rPr>
              <a:t>Synthesized</a:t>
            </a:r>
            <a:r>
              <a:rPr lang="de-DE" sz="3600" dirty="0">
                <a:solidFill>
                  <a:schemeClr val="bg2"/>
                </a:solidFill>
              </a:rPr>
              <a:t> </a:t>
            </a:r>
            <a:r>
              <a:rPr lang="de-DE" sz="3600" dirty="0" err="1">
                <a:solidFill>
                  <a:schemeClr val="bg2"/>
                </a:solidFill>
              </a:rPr>
              <a:t>Adopted</a:t>
            </a:r>
            <a:r>
              <a:rPr lang="de-DE" sz="3600" dirty="0">
                <a:solidFill>
                  <a:schemeClr val="bg2"/>
                </a:solidFill>
              </a:rPr>
              <a:t> System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8C76EC-832A-C450-5B65-7B84A109283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09D257-FE95-BAEF-C9E5-5A07F299875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33253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865208-267C-AEF0-25B6-EAFF54CD76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23</a:t>
            </a:fld>
            <a:endParaRPr lang="de-DE" dirty="0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A8315E3-949A-FF6A-D304-BEEEF28FAF4A}"/>
              </a:ext>
            </a:extLst>
          </p:cNvPr>
          <p:cNvCxnSpPr>
            <a:cxnSpLocks/>
            <a:endCxn id="58" idx="3"/>
          </p:cNvCxnSpPr>
          <p:nvPr/>
        </p:nvCxnSpPr>
        <p:spPr bwMode="gray">
          <a:xfrm flipH="1">
            <a:off x="2691938" y="2830060"/>
            <a:ext cx="756112" cy="97485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F56CFF27-56A7-2701-B505-AD6720198443}"/>
              </a:ext>
            </a:extLst>
          </p:cNvPr>
          <p:cNvCxnSpPr>
            <a:cxnSpLocks/>
            <a:endCxn id="58" idx="3"/>
          </p:cNvCxnSpPr>
          <p:nvPr/>
        </p:nvCxnSpPr>
        <p:spPr bwMode="gray">
          <a:xfrm flipH="1">
            <a:off x="2691938" y="2844348"/>
            <a:ext cx="3380250" cy="96056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739126D7-3464-0843-03F8-4454A11CB316}"/>
              </a:ext>
            </a:extLst>
          </p:cNvPr>
          <p:cNvCxnSpPr>
            <a:cxnSpLocks/>
            <a:endCxn id="58" idx="3"/>
          </p:cNvCxnSpPr>
          <p:nvPr/>
        </p:nvCxnSpPr>
        <p:spPr bwMode="gray">
          <a:xfrm flipH="1">
            <a:off x="2691938" y="2844348"/>
            <a:ext cx="6037725" cy="960562"/>
          </a:xfrm>
          <a:prstGeom prst="line">
            <a:avLst/>
          </a:prstGeom>
          <a:ln w="31750">
            <a:solidFill>
              <a:schemeClr val="bg2"/>
            </a:solidFill>
            <a:prstDash val="dash"/>
            <a:headEnd type="none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E23F6967-F712-224E-58E3-00C516F7FF82}"/>
              </a:ext>
            </a:extLst>
          </p:cNvPr>
          <p:cNvGrpSpPr/>
          <p:nvPr/>
        </p:nvGrpSpPr>
        <p:grpSpPr>
          <a:xfrm>
            <a:off x="4957501" y="5422864"/>
            <a:ext cx="2277000" cy="746902"/>
            <a:chOff x="7842567" y="2883600"/>
            <a:chExt cx="2277000" cy="746902"/>
          </a:xfrm>
        </p:grpSpPr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70CF5B7D-08F6-AC0F-0F1C-72761B31DBE8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2792F11C-DA27-DD09-E839-5197762A7CC8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D0881281-F367-BF10-7515-FBFD42BBF132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C77E970C-3BF5-D3A1-B408-C8617AC3A010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Rechteck: abgerundete Ecken 43">
              <a:extLst>
                <a:ext uri="{FF2B5EF4-FFF2-40B4-BE49-F238E27FC236}">
                  <a16:creationId xmlns:a16="http://schemas.microsoft.com/office/drawing/2014/main" id="{FAA32967-7360-0F9D-97B0-1E5CCA5068AB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10B8FD6A-97C9-806C-62E3-17AC5B0533EE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Rechteck 2">
            <a:extLst>
              <a:ext uri="{FF2B5EF4-FFF2-40B4-BE49-F238E27FC236}">
                <a16:creationId xmlns:a16="http://schemas.microsoft.com/office/drawing/2014/main" id="{636C5DEE-2748-87F1-9D28-7151AAD456BC}"/>
              </a:ext>
            </a:extLst>
          </p:cNvPr>
          <p:cNvSpPr/>
          <p:nvPr/>
        </p:nvSpPr>
        <p:spPr bwMode="gray">
          <a:xfrm>
            <a:off x="6153150" y="5497071"/>
            <a:ext cx="1019175" cy="609600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pic>
        <p:nvPicPr>
          <p:cNvPr id="46" name="Grafik 4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7FFD59F3-1AA4-3BB9-8518-63F00BF146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34796" y="5560223"/>
            <a:ext cx="471025" cy="471025"/>
          </a:xfrm>
          <a:prstGeom prst="rect">
            <a:avLst/>
          </a:prstGeom>
        </p:spPr>
      </p:pic>
      <p:sp>
        <p:nvSpPr>
          <p:cNvPr id="54" name="Textfeld 53">
            <a:extLst>
              <a:ext uri="{FF2B5EF4-FFF2-40B4-BE49-F238E27FC236}">
                <a16:creationId xmlns:a16="http://schemas.microsoft.com/office/drawing/2014/main" id="{B6414825-ED60-2207-0C7A-AEF23ADC71F2}"/>
              </a:ext>
            </a:extLst>
          </p:cNvPr>
          <p:cNvSpPr txBox="1"/>
          <p:nvPr/>
        </p:nvSpPr>
        <p:spPr bwMode="gray">
          <a:xfrm>
            <a:off x="112187" y="3019843"/>
            <a:ext cx="2183067" cy="54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Submits</a:t>
            </a:r>
            <a:r>
              <a:rPr lang="de-DE" sz="1400" dirty="0"/>
              <a:t> </a:t>
            </a:r>
            <a:r>
              <a:rPr lang="de-DE" sz="1400" dirty="0" err="1"/>
              <a:t>certificate</a:t>
            </a:r>
            <a:r>
              <a:rPr lang="de-DE" sz="1400" dirty="0"/>
              <a:t> and </a:t>
            </a:r>
            <a:r>
              <a:rPr lang="de-DE" sz="1400" dirty="0" err="1"/>
              <a:t>endorsements</a:t>
            </a:r>
            <a:endParaRPr lang="de-DE" sz="1400" dirty="0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3BF01860-FEAC-7889-18CE-1653EF3097A1}"/>
              </a:ext>
            </a:extLst>
          </p:cNvPr>
          <p:cNvSpPr txBox="1"/>
          <p:nvPr/>
        </p:nvSpPr>
        <p:spPr bwMode="gray">
          <a:xfrm>
            <a:off x="3703300" y="4682654"/>
            <a:ext cx="1581603" cy="3691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 err="1"/>
              <a:t>Orderer</a:t>
            </a:r>
            <a:endParaRPr lang="de-DE" sz="2000" b="1" dirty="0"/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3585890-8700-9D12-4503-F6C86A024EB2}"/>
              </a:ext>
            </a:extLst>
          </p:cNvPr>
          <p:cNvCxnSpPr>
            <a:cxnSpLocks/>
            <a:stCxn id="45" idx="1"/>
          </p:cNvCxnSpPr>
          <p:nvPr/>
        </p:nvCxnSpPr>
        <p:spPr bwMode="gray">
          <a:xfrm flipH="1" flipV="1">
            <a:off x="1427749" y="3997286"/>
            <a:ext cx="4663505" cy="179960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Grafik 57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84F5555F-E1F2-E214-54CD-6E1D0B9209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20913" y="3569397"/>
            <a:ext cx="471025" cy="471025"/>
          </a:xfrm>
          <a:prstGeom prst="rect">
            <a:avLst/>
          </a:prstGeom>
        </p:spPr>
      </p:pic>
      <p:sp>
        <p:nvSpPr>
          <p:cNvPr id="8" name="Textplatzhalter 76">
            <a:extLst>
              <a:ext uri="{FF2B5EF4-FFF2-40B4-BE49-F238E27FC236}">
                <a16:creationId xmlns:a16="http://schemas.microsoft.com/office/drawing/2014/main" id="{1F699C84-01FC-1D52-2CBC-2A704279C486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82800" y="3536367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55" name="Textplatzhalter 76">
            <a:extLst>
              <a:ext uri="{FF2B5EF4-FFF2-40B4-BE49-F238E27FC236}">
                <a16:creationId xmlns:a16="http://schemas.microsoft.com/office/drawing/2014/main" id="{62B20A4C-50D2-EEAD-4E65-AD5E1894E262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3392600" y="4595874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F530F99-ED24-B307-224C-B4392E0CAB47}"/>
              </a:ext>
            </a:extLst>
          </p:cNvPr>
          <p:cNvSpPr txBox="1"/>
          <p:nvPr/>
        </p:nvSpPr>
        <p:spPr bwMode="gray">
          <a:xfrm>
            <a:off x="444046" y="4149142"/>
            <a:ext cx="1601053" cy="539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New Device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96CF96AD-2871-6044-0106-EFAD338B9FF6}"/>
              </a:ext>
            </a:extLst>
          </p:cNvPr>
          <p:cNvGrpSpPr/>
          <p:nvPr/>
        </p:nvGrpSpPr>
        <p:grpSpPr>
          <a:xfrm>
            <a:off x="5617412" y="3550092"/>
            <a:ext cx="342000" cy="342000"/>
            <a:chOff x="7320136" y="4043360"/>
            <a:chExt cx="432000" cy="432000"/>
          </a:xfrm>
        </p:grpSpPr>
        <p:sp>
          <p:nvSpPr>
            <p:cNvPr id="30" name="Textplatzhalter 76">
              <a:extLst>
                <a:ext uri="{FF2B5EF4-FFF2-40B4-BE49-F238E27FC236}">
                  <a16:creationId xmlns:a16="http://schemas.microsoft.com/office/drawing/2014/main" id="{B491A15D-6695-DB73-2E15-7A1ED6F5D588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A5054850-E309-34F2-991A-9C779051DC9C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feld 31">
            <a:extLst>
              <a:ext uri="{FF2B5EF4-FFF2-40B4-BE49-F238E27FC236}">
                <a16:creationId xmlns:a16="http://schemas.microsoft.com/office/drawing/2014/main" id="{1C7CFFE3-B3F2-37CA-3624-EDCDA4962794}"/>
              </a:ext>
            </a:extLst>
          </p:cNvPr>
          <p:cNvSpPr txBox="1"/>
          <p:nvPr/>
        </p:nvSpPr>
        <p:spPr bwMode="gray">
          <a:xfrm>
            <a:off x="5988050" y="3512308"/>
            <a:ext cx="2264611" cy="48455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Certificates</a:t>
            </a:r>
            <a:r>
              <a:rPr lang="de-DE" sz="1400" dirty="0"/>
              <a:t> </a:t>
            </a:r>
            <a:r>
              <a:rPr lang="de-DE" sz="1400" dirty="0" err="1"/>
              <a:t>are</a:t>
            </a:r>
            <a:r>
              <a:rPr lang="de-DE" sz="1400" dirty="0"/>
              <a:t> </a:t>
            </a:r>
            <a:r>
              <a:rPr lang="de-DE" sz="1400" dirty="0" err="1"/>
              <a:t>generated</a:t>
            </a:r>
            <a:r>
              <a:rPr lang="de-DE" sz="1400" dirty="0"/>
              <a:t> </a:t>
            </a:r>
            <a:r>
              <a:rPr lang="de-DE" sz="1400" dirty="0" err="1"/>
              <a:t>using</a:t>
            </a:r>
            <a:r>
              <a:rPr lang="de-DE" sz="1400" dirty="0"/>
              <a:t> </a:t>
            </a:r>
            <a:r>
              <a:rPr lang="de-DE" sz="1400" dirty="0" err="1"/>
              <a:t>threshold</a:t>
            </a:r>
            <a:r>
              <a:rPr lang="de-DE" sz="1400" dirty="0"/>
              <a:t> </a:t>
            </a:r>
            <a:r>
              <a:rPr lang="de-DE" sz="1400" dirty="0" err="1"/>
              <a:t>signatures</a:t>
            </a:r>
            <a:endParaRPr lang="de-DE" sz="1400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EE8AD105-55C7-25E6-6FFA-295B89323DAF}"/>
              </a:ext>
            </a:extLst>
          </p:cNvPr>
          <p:cNvSpPr txBox="1"/>
          <p:nvPr/>
        </p:nvSpPr>
        <p:spPr bwMode="gray">
          <a:xfrm>
            <a:off x="7232163" y="5427205"/>
            <a:ext cx="3344249" cy="692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800" b="1" dirty="0"/>
              <a:t>Ledger</a:t>
            </a:r>
          </a:p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Holds operational </a:t>
            </a:r>
            <a:r>
              <a:rPr lang="de-DE" sz="1400" dirty="0" err="1"/>
              <a:t>certificates</a:t>
            </a:r>
            <a:endParaRPr lang="de-DE" sz="1400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7FAD440-1C84-9D22-903C-4480F066151B}"/>
              </a:ext>
            </a:extLst>
          </p:cNvPr>
          <p:cNvGrpSpPr/>
          <p:nvPr/>
        </p:nvGrpSpPr>
        <p:grpSpPr>
          <a:xfrm>
            <a:off x="4196509" y="3134012"/>
            <a:ext cx="255428" cy="270470"/>
            <a:chOff x="6203950" y="2825279"/>
            <a:chExt cx="432000" cy="432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E206B838-E08A-ADF0-7596-795FE1E5FB02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35684593-3D39-4D43-D119-EE0D444F5B11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53748200-324E-BB33-4B69-AA7B23962301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D7C8CAC0-F4E1-A159-40BA-E7B239898399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18C15AE-9ADB-157B-9C6E-DCFAC1C6AB88}"/>
              </a:ext>
            </a:extLst>
          </p:cNvPr>
          <p:cNvGrpSpPr/>
          <p:nvPr/>
        </p:nvGrpSpPr>
        <p:grpSpPr>
          <a:xfrm>
            <a:off x="2944099" y="3122154"/>
            <a:ext cx="255428" cy="270470"/>
            <a:chOff x="6203950" y="2825279"/>
            <a:chExt cx="432000" cy="432000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6E737EA-9BB5-D7ED-8E71-7E1316FEC480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FD22E00A-F6C2-1F71-06CE-0B23FB13762C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2261E247-E5CB-B8AA-6966-517B90A3B833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0264401C-2939-06C6-2D29-307B82AB13AC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8CFBBF6-8B44-EF47-CA28-06B5B4E8E7BF}"/>
              </a:ext>
            </a:extLst>
          </p:cNvPr>
          <p:cNvGrpSpPr/>
          <p:nvPr/>
        </p:nvGrpSpPr>
        <p:grpSpPr>
          <a:xfrm>
            <a:off x="6037263" y="3100675"/>
            <a:ext cx="255428" cy="270470"/>
            <a:chOff x="6203950" y="2825279"/>
            <a:chExt cx="432000" cy="432000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631B5F08-7D0A-2804-6754-91B0233A62DA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2FA8524D-F4E0-FA0D-A013-96B35F11572A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A4F4C0E7-666D-D1BE-B410-A9DF4988F7B2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63C417D8-F2BF-03CA-C62E-DCEA2D3B167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DB5FE939-81FF-1B80-793B-01F6CA7C38A2}"/>
              </a:ext>
            </a:extLst>
          </p:cNvPr>
          <p:cNvCxnSpPr>
            <a:cxnSpLocks/>
            <a:stCxn id="58" idx="1"/>
            <a:endCxn id="8" idx="6"/>
          </p:cNvCxnSpPr>
          <p:nvPr/>
        </p:nvCxnSpPr>
        <p:spPr bwMode="gray">
          <a:xfrm flipH="1">
            <a:off x="1522800" y="3804910"/>
            <a:ext cx="698113" cy="1457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6E5EB6F0-5A6C-ED84-A3C0-C7ABBE150390}"/>
              </a:ext>
            </a:extLst>
          </p:cNvPr>
          <p:cNvSpPr txBox="1"/>
          <p:nvPr/>
        </p:nvSpPr>
        <p:spPr bwMode="gray">
          <a:xfrm>
            <a:off x="371475" y="1592263"/>
            <a:ext cx="5499554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Combination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aspects</a:t>
            </a:r>
            <a:r>
              <a:rPr lang="de-DE" b="1" dirty="0"/>
              <a:t> </a:t>
            </a:r>
            <a:r>
              <a:rPr lang="de-DE" b="1" dirty="0" err="1"/>
              <a:t>from</a:t>
            </a:r>
            <a:r>
              <a:rPr lang="de-DE" b="1" dirty="0"/>
              <a:t> multiple </a:t>
            </a:r>
            <a:r>
              <a:rPr lang="de-DE" b="1" dirty="0" err="1"/>
              <a:t>proposals</a:t>
            </a:r>
            <a:r>
              <a:rPr lang="de-DE" b="1" dirty="0"/>
              <a:t>: </a:t>
            </a:r>
          </a:p>
        </p:txBody>
      </p:sp>
      <p:sp>
        <p:nvSpPr>
          <p:cNvPr id="19" name="Textplatzhalter 76">
            <a:extLst>
              <a:ext uri="{FF2B5EF4-FFF2-40B4-BE49-F238E27FC236}">
                <a16:creationId xmlns:a16="http://schemas.microsoft.com/office/drawing/2014/main" id="{0D413708-F229-326E-76CF-AA3FF11BA1E8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3176330" y="2512890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7" name="Textplatzhalter 76">
            <a:extLst>
              <a:ext uri="{FF2B5EF4-FFF2-40B4-BE49-F238E27FC236}">
                <a16:creationId xmlns:a16="http://schemas.microsoft.com/office/drawing/2014/main" id="{2A013E05-761A-BA99-E64A-5CD086FC4FC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826634" y="2505258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9BEFED5A-BBA9-A8F7-0001-3CDF68DBDE7A}"/>
              </a:ext>
            </a:extLst>
          </p:cNvPr>
          <p:cNvGrpSpPr/>
          <p:nvPr/>
        </p:nvGrpSpPr>
        <p:grpSpPr>
          <a:xfrm>
            <a:off x="8473950" y="2511425"/>
            <a:ext cx="540000" cy="540000"/>
            <a:chOff x="6636830" y="3206750"/>
            <a:chExt cx="540000" cy="540000"/>
          </a:xfrm>
        </p:grpSpPr>
        <p:sp>
          <p:nvSpPr>
            <p:cNvPr id="47" name="Textplatzhalter 76">
              <a:extLst>
                <a:ext uri="{FF2B5EF4-FFF2-40B4-BE49-F238E27FC236}">
                  <a16:creationId xmlns:a16="http://schemas.microsoft.com/office/drawing/2014/main" id="{D52DB88C-881D-0EB0-5505-EAD294B89C0A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6636830" y="3206750"/>
              <a:ext cx="540000" cy="540000"/>
            </a:xfrm>
            <a:prstGeom prst="ellipse">
              <a:avLst/>
            </a:prstGeom>
            <a:solidFill>
              <a:srgbClr val="002D4C"/>
            </a:solidFill>
            <a:ln>
              <a:noFill/>
            </a:ln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dirty="0">
                <a:solidFill>
                  <a:schemeClr val="bg1"/>
                </a:solidFill>
              </a:endParaRPr>
            </a:p>
          </p:txBody>
        </p:sp>
        <p:pic>
          <p:nvPicPr>
            <p:cNvPr id="48" name="Grafik 47" descr="Glühbirne und Zahnrad Silhouette">
              <a:extLst>
                <a:ext uri="{FF2B5EF4-FFF2-40B4-BE49-F238E27FC236}">
                  <a16:creationId xmlns:a16="http://schemas.microsoft.com/office/drawing/2014/main" id="{FDB0F440-6BB9-5E22-0333-093ED344B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10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90251" y="3254413"/>
              <a:ext cx="438150" cy="438150"/>
            </a:xfrm>
            <a:prstGeom prst="rect">
              <a:avLst/>
            </a:prstGeom>
          </p:spPr>
        </p:pic>
      </p:grpSp>
      <p:pic>
        <p:nvPicPr>
          <p:cNvPr id="49" name="Grafik 48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4E7501BB-75FF-83A7-55A9-039DB6358D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3229666" y="2639456"/>
            <a:ext cx="438560" cy="274752"/>
          </a:xfrm>
          <a:prstGeom prst="rect">
            <a:avLst/>
          </a:prstGeom>
        </p:spPr>
      </p:pic>
      <p:pic>
        <p:nvPicPr>
          <p:cNvPr id="50" name="Grafik 49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019DE218-9341-6A50-1C0C-8868792C4E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7956" y="2530610"/>
            <a:ext cx="499789" cy="49978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2F96585A-1895-1788-084B-B471FB428F74}"/>
              </a:ext>
            </a:extLst>
          </p:cNvPr>
          <p:cNvSpPr txBox="1"/>
          <p:nvPr/>
        </p:nvSpPr>
        <p:spPr bwMode="gray">
          <a:xfrm>
            <a:off x="8206140" y="2155072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</a:t>
            </a:r>
            <a:endParaRPr lang="de-DE" sz="2000" b="1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61176177-1C51-CC00-A94C-E6B0A757E9C5}"/>
              </a:ext>
            </a:extLst>
          </p:cNvPr>
          <p:cNvSpPr txBox="1"/>
          <p:nvPr/>
        </p:nvSpPr>
        <p:spPr bwMode="gray">
          <a:xfrm>
            <a:off x="3118557" y="2155072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31FD4935-A966-04EE-43C7-E33EB46FEF8D}"/>
              </a:ext>
            </a:extLst>
          </p:cNvPr>
          <p:cNvSpPr txBox="1"/>
          <p:nvPr/>
        </p:nvSpPr>
        <p:spPr bwMode="gray">
          <a:xfrm>
            <a:off x="5749258" y="2155072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  <a:endParaRPr lang="de-DE" sz="2000" b="1" dirty="0"/>
          </a:p>
        </p:txBody>
      </p:sp>
    </p:spTree>
    <p:extLst>
      <p:ext uri="{BB962C8B-B14F-4D97-AF65-F5344CB8AC3E}">
        <p14:creationId xmlns:p14="http://schemas.microsoft.com/office/powerpoint/2010/main" val="35905124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6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1" dur="indefinite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76" grpId="0" animBg="1"/>
      <p:bldP spid="87" grpId="0" animBg="1"/>
      <p:bldP spid="3" grpId="0" animBg="1"/>
      <p:bldP spid="54" grpId="0"/>
      <p:bldP spid="56" grpId="0"/>
      <p:bldP spid="55" grpId="0" animBg="1"/>
      <p:bldP spid="32" grpId="0"/>
      <p:bldP spid="3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A6EF867-2DC0-4C80-D9E5-56BEB9A99218}"/>
              </a:ext>
            </a:extLst>
          </p:cNvPr>
          <p:cNvCxnSpPr>
            <a:cxnSpLocks/>
          </p:cNvCxnSpPr>
          <p:nvPr/>
        </p:nvCxnSpPr>
        <p:spPr bwMode="gray">
          <a:xfrm flipV="1">
            <a:off x="4623594" y="2428649"/>
            <a:ext cx="0" cy="1348014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F83BA6AF-E901-B588-05DA-68ECD76C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Concept 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Technical Implementation Concept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CDA9F1-72D9-5C58-9027-B81F0BC0A84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BD3A92-FF9C-5F69-3261-5E3BA0E1FDF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876823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BABBAA-A63F-F833-AFE2-396790A89F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0663AA8-CBC0-B503-33F0-354AB2B750C5}"/>
              </a:ext>
            </a:extLst>
          </p:cNvPr>
          <p:cNvSpPr/>
          <p:nvPr/>
        </p:nvSpPr>
        <p:spPr bwMode="gray">
          <a:xfrm>
            <a:off x="371475" y="1592262"/>
            <a:ext cx="1728788" cy="2605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4360591-4A5E-0416-F7CB-B714152EF926}"/>
              </a:ext>
            </a:extLst>
          </p:cNvPr>
          <p:cNvSpPr/>
          <p:nvPr/>
        </p:nvSpPr>
        <p:spPr bwMode="gray">
          <a:xfrm>
            <a:off x="2801541" y="1592263"/>
            <a:ext cx="1728788" cy="2605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2A249B2-E159-E2CF-9EB7-BEFA1A1253F3}"/>
              </a:ext>
            </a:extLst>
          </p:cNvPr>
          <p:cNvSpPr/>
          <p:nvPr/>
        </p:nvSpPr>
        <p:spPr bwMode="gray">
          <a:xfrm>
            <a:off x="10091737" y="1592263"/>
            <a:ext cx="1728788" cy="2605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FC977CC-15E0-FAEF-DFA3-5DAE740795BB}"/>
              </a:ext>
            </a:extLst>
          </p:cNvPr>
          <p:cNvSpPr/>
          <p:nvPr/>
        </p:nvSpPr>
        <p:spPr bwMode="gray">
          <a:xfrm>
            <a:off x="5231607" y="1592263"/>
            <a:ext cx="1728788" cy="2605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4386F20-FDD5-0B0F-29EC-5CDB2E04BF82}"/>
              </a:ext>
            </a:extLst>
          </p:cNvPr>
          <p:cNvSpPr/>
          <p:nvPr/>
        </p:nvSpPr>
        <p:spPr bwMode="gray">
          <a:xfrm>
            <a:off x="7661673" y="1592263"/>
            <a:ext cx="1728788" cy="26050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47A2773-787F-968F-8C16-0F51D022984E}"/>
              </a:ext>
            </a:extLst>
          </p:cNvPr>
          <p:cNvSpPr txBox="1"/>
          <p:nvPr/>
        </p:nvSpPr>
        <p:spPr bwMode="gray">
          <a:xfrm>
            <a:off x="371475" y="1592263"/>
            <a:ext cx="1728788" cy="4499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PI 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1A16FCE-8812-7044-E558-69C71CE8C37F}"/>
              </a:ext>
            </a:extLst>
          </p:cNvPr>
          <p:cNvSpPr txBox="1"/>
          <p:nvPr/>
        </p:nvSpPr>
        <p:spPr bwMode="gray">
          <a:xfrm>
            <a:off x="2801541" y="1592263"/>
            <a:ext cx="1728788" cy="4499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PI 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E7EC701-F2E8-A4FB-E50E-FA85C1F7FFD3}"/>
              </a:ext>
            </a:extLst>
          </p:cNvPr>
          <p:cNvSpPr txBox="1"/>
          <p:nvPr/>
        </p:nvSpPr>
        <p:spPr bwMode="gray">
          <a:xfrm>
            <a:off x="5231607" y="1592263"/>
            <a:ext cx="1728788" cy="4499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PI 3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953E024-0AD3-1715-6DA9-E0BF4BB60545}"/>
              </a:ext>
            </a:extLst>
          </p:cNvPr>
          <p:cNvSpPr txBox="1"/>
          <p:nvPr/>
        </p:nvSpPr>
        <p:spPr bwMode="gray">
          <a:xfrm>
            <a:off x="7661673" y="1592263"/>
            <a:ext cx="1728788" cy="4499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PI 4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D6F0DAC-CD6D-856A-EE04-4263CF318BD8}"/>
              </a:ext>
            </a:extLst>
          </p:cNvPr>
          <p:cNvSpPr txBox="1"/>
          <p:nvPr/>
        </p:nvSpPr>
        <p:spPr bwMode="gray">
          <a:xfrm>
            <a:off x="10091738" y="1592263"/>
            <a:ext cx="1728788" cy="4499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PI 5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D5264DA-973E-C6B4-DD7B-16DE8B1B7CE5}"/>
              </a:ext>
            </a:extLst>
          </p:cNvPr>
          <p:cNvSpPr/>
          <p:nvPr/>
        </p:nvSpPr>
        <p:spPr bwMode="gray">
          <a:xfrm>
            <a:off x="484755" y="1923143"/>
            <a:ext cx="1502229" cy="124278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EB7B0E4-707B-3803-2E54-BABFE8DEC764}"/>
              </a:ext>
            </a:extLst>
          </p:cNvPr>
          <p:cNvSpPr/>
          <p:nvPr/>
        </p:nvSpPr>
        <p:spPr bwMode="gray">
          <a:xfrm>
            <a:off x="10205017" y="1925864"/>
            <a:ext cx="1502229" cy="124278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BDB63D3-AE83-E7A5-258F-2DD76D8A4102}"/>
              </a:ext>
            </a:extLst>
          </p:cNvPr>
          <p:cNvSpPr/>
          <p:nvPr/>
        </p:nvSpPr>
        <p:spPr bwMode="gray">
          <a:xfrm>
            <a:off x="7774952" y="1925864"/>
            <a:ext cx="1502229" cy="124278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E6178D9-0B3A-9853-D2F9-4633DFCCD58D}"/>
              </a:ext>
            </a:extLst>
          </p:cNvPr>
          <p:cNvSpPr/>
          <p:nvPr/>
        </p:nvSpPr>
        <p:spPr bwMode="gray">
          <a:xfrm>
            <a:off x="5344887" y="1925864"/>
            <a:ext cx="1502229" cy="124278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90C1967-2597-FD2C-8330-28EA63257231}"/>
              </a:ext>
            </a:extLst>
          </p:cNvPr>
          <p:cNvSpPr/>
          <p:nvPr/>
        </p:nvSpPr>
        <p:spPr bwMode="gray">
          <a:xfrm>
            <a:off x="2914821" y="1918607"/>
            <a:ext cx="1502229" cy="124278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543B3909-1A7F-0330-0D7B-C29015A3B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85" y="1965751"/>
            <a:ext cx="1052169" cy="239405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362B772D-EDE2-1980-E38F-687CBF407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0047" y="1965751"/>
            <a:ext cx="1052169" cy="239405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31D7C577-CB62-92CC-8680-3E61F76CA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982" y="1965751"/>
            <a:ext cx="1052169" cy="239405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00EDFAEF-06F6-4874-955E-1D2B0409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916" y="1965751"/>
            <a:ext cx="1052169" cy="239405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634CF740-E157-8D51-5F76-FD7C193A7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850" y="1965751"/>
            <a:ext cx="1052169" cy="239405"/>
          </a:xfrm>
          <a:prstGeom prst="rect">
            <a:avLst/>
          </a:prstGeom>
        </p:spPr>
      </p:pic>
      <p:sp>
        <p:nvSpPr>
          <p:cNvPr id="31" name="Rechteck 30">
            <a:extLst>
              <a:ext uri="{FF2B5EF4-FFF2-40B4-BE49-F238E27FC236}">
                <a16:creationId xmlns:a16="http://schemas.microsoft.com/office/drawing/2014/main" id="{B32C7287-D37F-7B86-A16A-98CF72DC7295}"/>
              </a:ext>
            </a:extLst>
          </p:cNvPr>
          <p:cNvSpPr/>
          <p:nvPr/>
        </p:nvSpPr>
        <p:spPr bwMode="gray">
          <a:xfrm>
            <a:off x="734389" y="2636606"/>
            <a:ext cx="1002960" cy="4685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Peer</a:t>
            </a: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D240B0F-704A-6B0E-8C02-8C19D6F24B8B}"/>
              </a:ext>
            </a:extLst>
          </p:cNvPr>
          <p:cNvSpPr/>
          <p:nvPr/>
        </p:nvSpPr>
        <p:spPr bwMode="gray">
          <a:xfrm>
            <a:off x="10454651" y="2636606"/>
            <a:ext cx="1002960" cy="4685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Peer</a:t>
            </a: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D229A11C-0BDF-ED74-8F49-38CB3BCD3131}"/>
              </a:ext>
            </a:extLst>
          </p:cNvPr>
          <p:cNvSpPr/>
          <p:nvPr/>
        </p:nvSpPr>
        <p:spPr bwMode="gray">
          <a:xfrm>
            <a:off x="3164454" y="2636606"/>
            <a:ext cx="1002960" cy="4685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Peer</a:t>
            </a: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497A293-DE2E-ABA4-EFE0-33A1F98C6E62}"/>
              </a:ext>
            </a:extLst>
          </p:cNvPr>
          <p:cNvSpPr/>
          <p:nvPr/>
        </p:nvSpPr>
        <p:spPr bwMode="gray">
          <a:xfrm>
            <a:off x="5594519" y="2636606"/>
            <a:ext cx="1002960" cy="4685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Peer</a:t>
            </a: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93724AA-1EAB-C01B-0CBA-FF48EC884608}"/>
              </a:ext>
            </a:extLst>
          </p:cNvPr>
          <p:cNvSpPr/>
          <p:nvPr/>
        </p:nvSpPr>
        <p:spPr bwMode="gray">
          <a:xfrm>
            <a:off x="8024584" y="2636606"/>
            <a:ext cx="1002960" cy="4685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Peer</a:t>
            </a: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14AC7D6-9491-7045-BB4B-234B00498007}"/>
              </a:ext>
            </a:extLst>
          </p:cNvPr>
          <p:cNvSpPr/>
          <p:nvPr/>
        </p:nvSpPr>
        <p:spPr bwMode="gray">
          <a:xfrm>
            <a:off x="5594521" y="2281007"/>
            <a:ext cx="1002960" cy="3193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 err="1">
                <a:solidFill>
                  <a:schemeClr val="tx1"/>
                </a:solidFill>
              </a:rPr>
              <a:t>Orderer</a:t>
            </a:r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EE6DA4-3829-AE26-ECCD-5900AABE35E2}"/>
              </a:ext>
            </a:extLst>
          </p:cNvPr>
          <p:cNvSpPr/>
          <p:nvPr/>
        </p:nvSpPr>
        <p:spPr bwMode="gray">
          <a:xfrm>
            <a:off x="734389" y="3426279"/>
            <a:ext cx="1002960" cy="749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Node </a:t>
            </a:r>
            <a:r>
              <a:rPr lang="de-DE" sz="1400" b="1" dirty="0" err="1">
                <a:solidFill>
                  <a:schemeClr val="tx1"/>
                </a:solidFill>
              </a:rPr>
              <a:t>Logic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E3E5160-8165-D043-853C-2A73C703A26B}"/>
              </a:ext>
            </a:extLst>
          </p:cNvPr>
          <p:cNvSpPr/>
          <p:nvPr/>
        </p:nvSpPr>
        <p:spPr bwMode="gray">
          <a:xfrm>
            <a:off x="10454651" y="3426279"/>
            <a:ext cx="1002960" cy="736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Node </a:t>
            </a:r>
            <a:r>
              <a:rPr lang="de-DE" sz="1400" b="1" dirty="0" err="1">
                <a:solidFill>
                  <a:schemeClr val="tx1"/>
                </a:solidFill>
              </a:rPr>
              <a:t>Logic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7A9F23F-68FE-DD56-8997-FB4EA6586FE1}"/>
              </a:ext>
            </a:extLst>
          </p:cNvPr>
          <p:cNvSpPr/>
          <p:nvPr/>
        </p:nvSpPr>
        <p:spPr bwMode="gray">
          <a:xfrm>
            <a:off x="8024585" y="3426279"/>
            <a:ext cx="1002960" cy="749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Node </a:t>
            </a:r>
            <a:r>
              <a:rPr lang="de-DE" sz="1400" b="1" dirty="0" err="1">
                <a:solidFill>
                  <a:schemeClr val="tx1"/>
                </a:solidFill>
              </a:rPr>
              <a:t>Logic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2047E8D-BE3C-18B4-73F4-CC0D1BA5A564}"/>
              </a:ext>
            </a:extLst>
          </p:cNvPr>
          <p:cNvSpPr/>
          <p:nvPr/>
        </p:nvSpPr>
        <p:spPr bwMode="gray">
          <a:xfrm>
            <a:off x="5594520" y="3426279"/>
            <a:ext cx="1002960" cy="749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Node </a:t>
            </a:r>
            <a:r>
              <a:rPr lang="de-DE" sz="1400" b="1" dirty="0" err="1">
                <a:solidFill>
                  <a:schemeClr val="tx1"/>
                </a:solidFill>
              </a:rPr>
              <a:t>Logic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54C60E6-FA84-2A4B-849C-572236036C51}"/>
              </a:ext>
            </a:extLst>
          </p:cNvPr>
          <p:cNvSpPr/>
          <p:nvPr/>
        </p:nvSpPr>
        <p:spPr bwMode="gray">
          <a:xfrm>
            <a:off x="3164455" y="3426279"/>
            <a:ext cx="1002960" cy="749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Node </a:t>
            </a:r>
            <a:r>
              <a:rPr lang="de-DE" sz="1400" b="1" dirty="0" err="1">
                <a:solidFill>
                  <a:schemeClr val="tx1"/>
                </a:solidFill>
              </a:rPr>
              <a:t>Logic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endParaRPr lang="de-DE" sz="1400" b="1" dirty="0">
              <a:solidFill>
                <a:schemeClr val="tx1"/>
              </a:solidFill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8BCFFCA4-0397-1F31-90D0-A56B5E713CD8}"/>
              </a:ext>
            </a:extLst>
          </p:cNvPr>
          <p:cNvCxnSpPr>
            <a:cxnSpLocks/>
            <a:stCxn id="37" idx="0"/>
            <a:endCxn id="31" idx="2"/>
          </p:cNvCxnSpPr>
          <p:nvPr/>
        </p:nvCxnSpPr>
        <p:spPr bwMode="gray">
          <a:xfrm flipV="1">
            <a:off x="1235869" y="3105149"/>
            <a:ext cx="0" cy="32113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757B2BB2-121C-7DFB-204C-BF39248227E1}"/>
              </a:ext>
            </a:extLst>
          </p:cNvPr>
          <p:cNvCxnSpPr>
            <a:cxnSpLocks/>
            <a:stCxn id="41" idx="0"/>
            <a:endCxn id="33" idx="2"/>
          </p:cNvCxnSpPr>
          <p:nvPr/>
        </p:nvCxnSpPr>
        <p:spPr bwMode="gray">
          <a:xfrm flipH="1" flipV="1">
            <a:off x="3665934" y="3105149"/>
            <a:ext cx="1" cy="32113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8FB2B67-9FA9-5630-047C-2F5C8A3B009E}"/>
              </a:ext>
            </a:extLst>
          </p:cNvPr>
          <p:cNvCxnSpPr>
            <a:cxnSpLocks/>
            <a:stCxn id="40" idx="0"/>
            <a:endCxn id="34" idx="2"/>
          </p:cNvCxnSpPr>
          <p:nvPr/>
        </p:nvCxnSpPr>
        <p:spPr bwMode="gray">
          <a:xfrm flipH="1" flipV="1">
            <a:off x="6095999" y="3105149"/>
            <a:ext cx="1" cy="32113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004D02DF-67C9-FB18-933E-0219A1BC2B04}"/>
              </a:ext>
            </a:extLst>
          </p:cNvPr>
          <p:cNvCxnSpPr>
            <a:cxnSpLocks/>
            <a:stCxn id="39" idx="0"/>
            <a:endCxn id="35" idx="2"/>
          </p:cNvCxnSpPr>
          <p:nvPr/>
        </p:nvCxnSpPr>
        <p:spPr bwMode="gray">
          <a:xfrm flipH="1" flipV="1">
            <a:off x="8526064" y="3105149"/>
            <a:ext cx="1" cy="32113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9A835CE-C123-9ACF-5A27-69B0B72D04A1}"/>
              </a:ext>
            </a:extLst>
          </p:cNvPr>
          <p:cNvCxnSpPr>
            <a:cxnSpLocks/>
            <a:stCxn id="38" idx="0"/>
            <a:endCxn id="32" idx="2"/>
          </p:cNvCxnSpPr>
          <p:nvPr/>
        </p:nvCxnSpPr>
        <p:spPr bwMode="gray">
          <a:xfrm flipV="1">
            <a:off x="10956131" y="3105149"/>
            <a:ext cx="0" cy="32113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220E633B-15CE-2D5A-A317-199597618A1E}"/>
              </a:ext>
            </a:extLst>
          </p:cNvPr>
          <p:cNvCxnSpPr>
            <a:cxnSpLocks/>
            <a:stCxn id="31" idx="3"/>
          </p:cNvCxnSpPr>
          <p:nvPr/>
        </p:nvCxnSpPr>
        <p:spPr bwMode="gray">
          <a:xfrm>
            <a:off x="1737349" y="2870878"/>
            <a:ext cx="470070" cy="0"/>
          </a:xfrm>
          <a:prstGeom prst="line">
            <a:avLst/>
          </a:prstGeom>
          <a:ln w="31750">
            <a:solidFill>
              <a:schemeClr val="accent1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8D6ABAE2-9C71-F18E-AB48-807ADC9F58C1}"/>
              </a:ext>
            </a:extLst>
          </p:cNvPr>
          <p:cNvCxnSpPr>
            <a:cxnSpLocks/>
          </p:cNvCxnSpPr>
          <p:nvPr/>
        </p:nvCxnSpPr>
        <p:spPr bwMode="gray">
          <a:xfrm flipV="1">
            <a:off x="2193925" y="2859881"/>
            <a:ext cx="0" cy="1952625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919EF6F2-D3F0-38D7-2C52-349E06819EAF}"/>
              </a:ext>
            </a:extLst>
          </p:cNvPr>
          <p:cNvCxnSpPr>
            <a:cxnSpLocks/>
            <a:stCxn id="33" idx="3"/>
          </p:cNvCxnSpPr>
          <p:nvPr/>
        </p:nvCxnSpPr>
        <p:spPr bwMode="gray">
          <a:xfrm>
            <a:off x="4167414" y="2870878"/>
            <a:ext cx="461736" cy="0"/>
          </a:xfrm>
          <a:prstGeom prst="line">
            <a:avLst/>
          </a:prstGeom>
          <a:ln w="31750">
            <a:solidFill>
              <a:schemeClr val="accent1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3FF716AC-2F4E-E217-7A1D-3CE3006B3BD7}"/>
              </a:ext>
            </a:extLst>
          </p:cNvPr>
          <p:cNvCxnSpPr>
            <a:cxnSpLocks/>
          </p:cNvCxnSpPr>
          <p:nvPr/>
        </p:nvCxnSpPr>
        <p:spPr bwMode="gray">
          <a:xfrm flipV="1">
            <a:off x="4623594" y="2784594"/>
            <a:ext cx="0" cy="2005120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A8982B85-017D-0141-330D-8385B2E49AB8}"/>
              </a:ext>
            </a:extLst>
          </p:cNvPr>
          <p:cNvCxnSpPr>
            <a:cxnSpLocks/>
            <a:stCxn id="34" idx="3"/>
          </p:cNvCxnSpPr>
          <p:nvPr/>
        </p:nvCxnSpPr>
        <p:spPr bwMode="gray">
          <a:xfrm>
            <a:off x="6597479" y="2870878"/>
            <a:ext cx="463721" cy="0"/>
          </a:xfrm>
          <a:prstGeom prst="line">
            <a:avLst/>
          </a:prstGeom>
          <a:ln w="31750">
            <a:solidFill>
              <a:schemeClr val="accent1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B9977486-CE9C-782E-6AE2-5432A095D0A3}"/>
              </a:ext>
            </a:extLst>
          </p:cNvPr>
          <p:cNvCxnSpPr>
            <a:cxnSpLocks/>
          </p:cNvCxnSpPr>
          <p:nvPr/>
        </p:nvCxnSpPr>
        <p:spPr bwMode="gray">
          <a:xfrm flipV="1">
            <a:off x="7051675" y="2428081"/>
            <a:ext cx="0" cy="2361633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ADFAE4EB-7695-FDAB-C81A-B2A36562C47C}"/>
              </a:ext>
            </a:extLst>
          </p:cNvPr>
          <p:cNvCxnSpPr>
            <a:cxnSpLocks/>
            <a:stCxn id="36" idx="3"/>
          </p:cNvCxnSpPr>
          <p:nvPr/>
        </p:nvCxnSpPr>
        <p:spPr bwMode="gray">
          <a:xfrm flipV="1">
            <a:off x="6597481" y="2435108"/>
            <a:ext cx="468000" cy="0"/>
          </a:xfrm>
          <a:prstGeom prst="line">
            <a:avLst/>
          </a:prstGeom>
          <a:ln w="31750">
            <a:solidFill>
              <a:schemeClr val="accent1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026ED14B-78FE-69D6-0C67-D202BC9FA304}"/>
              </a:ext>
            </a:extLst>
          </p:cNvPr>
          <p:cNvCxnSpPr>
            <a:cxnSpLocks/>
            <a:stCxn id="35" idx="3"/>
          </p:cNvCxnSpPr>
          <p:nvPr/>
        </p:nvCxnSpPr>
        <p:spPr bwMode="gray">
          <a:xfrm>
            <a:off x="9027544" y="2870878"/>
            <a:ext cx="465706" cy="0"/>
          </a:xfrm>
          <a:prstGeom prst="line">
            <a:avLst/>
          </a:prstGeom>
          <a:ln w="31750">
            <a:solidFill>
              <a:schemeClr val="accent1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7D885B8-0F94-E423-02AF-CB783721B5E1}"/>
              </a:ext>
            </a:extLst>
          </p:cNvPr>
          <p:cNvCxnSpPr>
            <a:cxnSpLocks/>
          </p:cNvCxnSpPr>
          <p:nvPr/>
        </p:nvCxnSpPr>
        <p:spPr bwMode="gray">
          <a:xfrm flipV="1">
            <a:off x="9479756" y="2870200"/>
            <a:ext cx="0" cy="1926771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AFAF085F-08B1-20ED-D059-585D058BC5EB}"/>
              </a:ext>
            </a:extLst>
          </p:cNvPr>
          <p:cNvCxnSpPr>
            <a:cxnSpLocks/>
            <a:stCxn id="32" idx="3"/>
          </p:cNvCxnSpPr>
          <p:nvPr/>
        </p:nvCxnSpPr>
        <p:spPr bwMode="gray">
          <a:xfrm>
            <a:off x="11457611" y="2870878"/>
            <a:ext cx="467689" cy="0"/>
          </a:xfrm>
          <a:prstGeom prst="line">
            <a:avLst/>
          </a:prstGeom>
          <a:ln w="31750">
            <a:solidFill>
              <a:schemeClr val="accent1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AEA86356-AB81-2E19-37EB-39E093515D0D}"/>
              </a:ext>
            </a:extLst>
          </p:cNvPr>
          <p:cNvCxnSpPr>
            <a:cxnSpLocks/>
          </p:cNvCxnSpPr>
          <p:nvPr/>
        </p:nvCxnSpPr>
        <p:spPr bwMode="gray">
          <a:xfrm flipV="1">
            <a:off x="11911012" y="2876550"/>
            <a:ext cx="0" cy="1913164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43E3EA66-FE37-82ED-9279-A06C177B1968}"/>
              </a:ext>
            </a:extLst>
          </p:cNvPr>
          <p:cNvCxnSpPr>
            <a:cxnSpLocks/>
          </p:cNvCxnSpPr>
          <p:nvPr/>
        </p:nvCxnSpPr>
        <p:spPr bwMode="gray">
          <a:xfrm>
            <a:off x="2181225" y="4796180"/>
            <a:ext cx="9744075" cy="0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feld 90">
            <a:extLst>
              <a:ext uri="{FF2B5EF4-FFF2-40B4-BE49-F238E27FC236}">
                <a16:creationId xmlns:a16="http://schemas.microsoft.com/office/drawing/2014/main" id="{784D9044-BE19-C9CD-1FA2-479FB5514D84}"/>
              </a:ext>
            </a:extLst>
          </p:cNvPr>
          <p:cNvSpPr txBox="1"/>
          <p:nvPr/>
        </p:nvSpPr>
        <p:spPr bwMode="gray">
          <a:xfrm>
            <a:off x="5290457" y="4269017"/>
            <a:ext cx="1618343" cy="5286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Gossip </a:t>
            </a:r>
            <a:r>
              <a:rPr lang="de-DE" sz="1400" dirty="0" err="1"/>
              <a:t>protocol</a:t>
            </a:r>
            <a:r>
              <a:rPr lang="de-DE" sz="1400" dirty="0"/>
              <a:t> (Blockchain)</a:t>
            </a:r>
          </a:p>
        </p:txBody>
      </p: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67017DC6-FCAB-EF52-0F10-ECE38A6AD186}"/>
              </a:ext>
            </a:extLst>
          </p:cNvPr>
          <p:cNvCxnSpPr>
            <a:cxnSpLocks/>
          </p:cNvCxnSpPr>
          <p:nvPr/>
        </p:nvCxnSpPr>
        <p:spPr bwMode="gray">
          <a:xfrm flipH="1">
            <a:off x="262191" y="3804556"/>
            <a:ext cx="468000" cy="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3D3F48B6-2675-E1BF-6AD3-D8049F543A07}"/>
              </a:ext>
            </a:extLst>
          </p:cNvPr>
          <p:cNvCxnSpPr>
            <a:cxnSpLocks/>
          </p:cNvCxnSpPr>
          <p:nvPr/>
        </p:nvCxnSpPr>
        <p:spPr bwMode="gray">
          <a:xfrm flipH="1">
            <a:off x="2693446" y="3791856"/>
            <a:ext cx="456154" cy="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3AA9D9FB-8318-7166-03F1-B4FBEDB698DF}"/>
              </a:ext>
            </a:extLst>
          </p:cNvPr>
          <p:cNvCxnSpPr>
            <a:cxnSpLocks/>
          </p:cNvCxnSpPr>
          <p:nvPr/>
        </p:nvCxnSpPr>
        <p:spPr bwMode="gray">
          <a:xfrm flipH="1">
            <a:off x="5124702" y="3791856"/>
            <a:ext cx="468000" cy="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26CE9964-B61E-1238-D729-BB710FC8B9E4}"/>
              </a:ext>
            </a:extLst>
          </p:cNvPr>
          <p:cNvCxnSpPr>
            <a:cxnSpLocks/>
          </p:cNvCxnSpPr>
          <p:nvPr/>
        </p:nvCxnSpPr>
        <p:spPr bwMode="gray">
          <a:xfrm flipH="1">
            <a:off x="7555703" y="3791856"/>
            <a:ext cx="468000" cy="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40B2A8D6-C435-2B55-9B0F-2C528DC58A22}"/>
              </a:ext>
            </a:extLst>
          </p:cNvPr>
          <p:cNvCxnSpPr>
            <a:cxnSpLocks/>
          </p:cNvCxnSpPr>
          <p:nvPr/>
        </p:nvCxnSpPr>
        <p:spPr bwMode="gray">
          <a:xfrm flipH="1">
            <a:off x="9986960" y="3791856"/>
            <a:ext cx="465140" cy="0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3D468A8D-951A-71BC-0CDA-82E096FE3194}"/>
              </a:ext>
            </a:extLst>
          </p:cNvPr>
          <p:cNvCxnSpPr>
            <a:cxnSpLocks/>
          </p:cNvCxnSpPr>
          <p:nvPr/>
        </p:nvCxnSpPr>
        <p:spPr bwMode="gray">
          <a:xfrm>
            <a:off x="266700" y="4885875"/>
            <a:ext cx="9748838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D22AA3D8-86ED-01AA-AF09-9986326B5BA0}"/>
              </a:ext>
            </a:extLst>
          </p:cNvPr>
          <p:cNvCxnSpPr>
            <a:cxnSpLocks/>
          </p:cNvCxnSpPr>
          <p:nvPr/>
        </p:nvCxnSpPr>
        <p:spPr bwMode="gray">
          <a:xfrm flipV="1">
            <a:off x="10002044" y="3779044"/>
            <a:ext cx="0" cy="1105013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9F5D13F1-47B5-4216-293D-4C1792DD5088}"/>
              </a:ext>
            </a:extLst>
          </p:cNvPr>
          <p:cNvCxnSpPr>
            <a:cxnSpLocks/>
          </p:cNvCxnSpPr>
          <p:nvPr/>
        </p:nvCxnSpPr>
        <p:spPr bwMode="gray">
          <a:xfrm flipV="1">
            <a:off x="7569200" y="3776663"/>
            <a:ext cx="0" cy="1114651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B704D1B2-77FA-CA9F-D441-346CFE12517D}"/>
              </a:ext>
            </a:extLst>
          </p:cNvPr>
          <p:cNvCxnSpPr>
            <a:cxnSpLocks/>
          </p:cNvCxnSpPr>
          <p:nvPr/>
        </p:nvCxnSpPr>
        <p:spPr bwMode="gray">
          <a:xfrm flipV="1">
            <a:off x="5137944" y="3779044"/>
            <a:ext cx="0" cy="111227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53B7E6D5-93B9-6A4C-7710-EF21EE0BEA75}"/>
              </a:ext>
            </a:extLst>
          </p:cNvPr>
          <p:cNvCxnSpPr>
            <a:cxnSpLocks/>
          </p:cNvCxnSpPr>
          <p:nvPr/>
        </p:nvCxnSpPr>
        <p:spPr bwMode="gray">
          <a:xfrm flipV="1">
            <a:off x="2704306" y="3779044"/>
            <a:ext cx="0" cy="1105013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12B68562-244F-D249-D9DF-840D4E744AFD}"/>
              </a:ext>
            </a:extLst>
          </p:cNvPr>
          <p:cNvCxnSpPr>
            <a:cxnSpLocks/>
          </p:cNvCxnSpPr>
          <p:nvPr/>
        </p:nvCxnSpPr>
        <p:spPr bwMode="gray">
          <a:xfrm flipV="1">
            <a:off x="275431" y="3790950"/>
            <a:ext cx="0" cy="108585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D6A6BD95-48FD-7830-4AF1-7FCEADE84346}"/>
              </a:ext>
            </a:extLst>
          </p:cNvPr>
          <p:cNvSpPr txBox="1"/>
          <p:nvPr/>
        </p:nvSpPr>
        <p:spPr bwMode="gray">
          <a:xfrm>
            <a:off x="5188856" y="4985661"/>
            <a:ext cx="1821543" cy="5286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Direct</a:t>
            </a:r>
            <a:r>
              <a:rPr lang="de-DE" sz="1400" dirty="0"/>
              <a:t> </a:t>
            </a:r>
            <a:r>
              <a:rPr lang="de-DE" sz="1400" dirty="0" err="1"/>
              <a:t>mesh</a:t>
            </a:r>
            <a:r>
              <a:rPr lang="de-DE" sz="1400" dirty="0"/>
              <a:t> (Threshold </a:t>
            </a:r>
            <a:r>
              <a:rPr lang="de-DE" sz="1400" dirty="0" err="1"/>
              <a:t>signatures</a:t>
            </a:r>
            <a:r>
              <a:rPr lang="de-DE" sz="1400" dirty="0"/>
              <a:t>)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4E38B79A-971B-1156-969A-78A9E24F7E58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Separation </a:t>
            </a:r>
            <a:r>
              <a:rPr lang="de-DE" b="1" dirty="0" err="1"/>
              <a:t>between</a:t>
            </a:r>
            <a:r>
              <a:rPr lang="de-DE" b="1" dirty="0"/>
              <a:t> </a:t>
            </a:r>
            <a:r>
              <a:rPr lang="de-DE" b="1" dirty="0" err="1"/>
              <a:t>blockchain</a:t>
            </a:r>
            <a:r>
              <a:rPr lang="de-DE" b="1" dirty="0"/>
              <a:t> and </a:t>
            </a:r>
            <a:r>
              <a:rPr lang="de-DE" b="1" dirty="0" err="1"/>
              <a:t>logical</a:t>
            </a:r>
            <a:r>
              <a:rPr lang="de-DE" b="1" dirty="0"/>
              <a:t> </a:t>
            </a:r>
            <a:r>
              <a:rPr lang="de-DE" b="1" dirty="0" err="1"/>
              <a:t>entities</a:t>
            </a:r>
            <a:r>
              <a:rPr lang="de-DE" b="1" dirty="0"/>
              <a:t> </a:t>
            </a:r>
            <a:r>
              <a:rPr lang="de-DE" b="1" dirty="0" err="1"/>
              <a:t>as</a:t>
            </a:r>
            <a:r>
              <a:rPr lang="de-DE" b="1" dirty="0"/>
              <a:t> </a:t>
            </a:r>
            <a:r>
              <a:rPr lang="de-DE" b="1" dirty="0" err="1"/>
              <a:t>well</a:t>
            </a:r>
            <a:r>
              <a:rPr lang="de-DE" b="1" dirty="0"/>
              <a:t> </a:t>
            </a:r>
            <a:r>
              <a:rPr lang="de-DE" b="1" dirty="0" err="1"/>
              <a:t>as</a:t>
            </a:r>
            <a:r>
              <a:rPr lang="de-DE" b="1" dirty="0"/>
              <a:t> </a:t>
            </a:r>
            <a:r>
              <a:rPr lang="de-DE" b="1" dirty="0" err="1"/>
              <a:t>communication</a:t>
            </a:r>
            <a:endParaRPr lang="de-DE" b="1" dirty="0"/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E428B429-AB45-D08D-C107-192032ED33FE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119" name="Textplatzhalter 76">
              <a:extLst>
                <a:ext uri="{FF2B5EF4-FFF2-40B4-BE49-F238E27FC236}">
                  <a16:creationId xmlns:a16="http://schemas.microsoft.com/office/drawing/2014/main" id="{55761682-F9F3-8981-7C9C-EC5E1D0B0743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20" name="Gerader Verbinder 119">
              <a:extLst>
                <a:ext uri="{FF2B5EF4-FFF2-40B4-BE49-F238E27FC236}">
                  <a16:creationId xmlns:a16="http://schemas.microsoft.com/office/drawing/2014/main" id="{C32755DB-686C-79EC-486B-236960540C40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Textfeld 151">
            <a:extLst>
              <a:ext uri="{FF2B5EF4-FFF2-40B4-BE49-F238E27FC236}">
                <a16:creationId xmlns:a16="http://schemas.microsoft.com/office/drawing/2014/main" id="{426A1493-9495-16B4-AF37-B0081EE1638A}"/>
              </a:ext>
            </a:extLst>
          </p:cNvPr>
          <p:cNvSpPr txBox="1"/>
          <p:nvPr/>
        </p:nvSpPr>
        <p:spPr bwMode="gray">
          <a:xfrm>
            <a:off x="1133020" y="3164118"/>
            <a:ext cx="809172" cy="2539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>
                <a:solidFill>
                  <a:schemeClr val="bg2"/>
                </a:solidFill>
              </a:rPr>
              <a:t>API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B0C42F2-A497-7CC7-D074-DDA8EEB75013}"/>
              </a:ext>
            </a:extLst>
          </p:cNvPr>
          <p:cNvSpPr/>
          <p:nvPr/>
        </p:nvSpPr>
        <p:spPr bwMode="gray">
          <a:xfrm>
            <a:off x="3164455" y="2282400"/>
            <a:ext cx="1002960" cy="319314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sz="1400" b="1" dirty="0" err="1">
                <a:solidFill>
                  <a:schemeClr val="tx1"/>
                </a:solidFill>
              </a:rPr>
              <a:t>Orderer</a:t>
            </a:r>
            <a:endParaRPr lang="de-DE" sz="1400" b="1" dirty="0">
              <a:solidFill>
                <a:schemeClr val="tx1"/>
              </a:solidFill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3AE912A-99BC-14CF-1C1E-5A3A37EB2D09}"/>
              </a:ext>
            </a:extLst>
          </p:cNvPr>
          <p:cNvCxnSpPr>
            <a:cxnSpLocks/>
            <a:stCxn id="3" idx="3"/>
          </p:cNvCxnSpPr>
          <p:nvPr/>
        </p:nvCxnSpPr>
        <p:spPr bwMode="gray">
          <a:xfrm>
            <a:off x="4167415" y="2442057"/>
            <a:ext cx="468000" cy="0"/>
          </a:xfrm>
          <a:prstGeom prst="line">
            <a:avLst/>
          </a:prstGeom>
          <a:ln w="31750">
            <a:solidFill>
              <a:schemeClr val="accent1"/>
            </a:solidFill>
            <a:headEnd type="arrow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5" name="Grafik 94" descr="Schlüssel Silhouette">
            <a:extLst>
              <a:ext uri="{FF2B5EF4-FFF2-40B4-BE49-F238E27FC236}">
                <a16:creationId xmlns:a16="http://schemas.microsoft.com/office/drawing/2014/main" id="{B2F3734A-4776-F637-664D-D89D25D3532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959" y="3873637"/>
            <a:ext cx="346391" cy="346391"/>
          </a:xfrm>
          <a:prstGeom prst="rect">
            <a:avLst/>
          </a:prstGeom>
        </p:spPr>
      </p:pic>
      <p:pic>
        <p:nvPicPr>
          <p:cNvPr id="97" name="Grafik 96" descr="Schlüssel Silhouette">
            <a:extLst>
              <a:ext uri="{FF2B5EF4-FFF2-40B4-BE49-F238E27FC236}">
                <a16:creationId xmlns:a16="http://schemas.microsoft.com/office/drawing/2014/main" id="{757C5653-7A16-DBDD-1F34-71EA4ECC0AA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9759" y="3873637"/>
            <a:ext cx="346391" cy="346391"/>
          </a:xfrm>
          <a:prstGeom prst="rect">
            <a:avLst/>
          </a:prstGeom>
        </p:spPr>
      </p:pic>
      <p:pic>
        <p:nvPicPr>
          <p:cNvPr id="98" name="Grafik 97" descr="Schlüssel Silhouette">
            <a:extLst>
              <a:ext uri="{FF2B5EF4-FFF2-40B4-BE49-F238E27FC236}">
                <a16:creationId xmlns:a16="http://schemas.microsoft.com/office/drawing/2014/main" id="{95CC415C-A435-1A8C-3EB2-2A3A1A9421F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2659" y="3873637"/>
            <a:ext cx="346391" cy="346391"/>
          </a:xfrm>
          <a:prstGeom prst="rect">
            <a:avLst/>
          </a:prstGeom>
        </p:spPr>
      </p:pic>
      <p:pic>
        <p:nvPicPr>
          <p:cNvPr id="100" name="Grafik 99" descr="Schlüssel Silhouette">
            <a:extLst>
              <a:ext uri="{FF2B5EF4-FFF2-40B4-BE49-F238E27FC236}">
                <a16:creationId xmlns:a16="http://schemas.microsoft.com/office/drawing/2014/main" id="{18360193-3EEB-4F79-78F3-775F41EEA0E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8359" y="3873637"/>
            <a:ext cx="346391" cy="346391"/>
          </a:xfrm>
          <a:prstGeom prst="rect">
            <a:avLst/>
          </a:prstGeom>
        </p:spPr>
      </p:pic>
      <p:pic>
        <p:nvPicPr>
          <p:cNvPr id="101" name="Grafik 100" descr="Schlüssel Silhouette">
            <a:extLst>
              <a:ext uri="{FF2B5EF4-FFF2-40B4-BE49-F238E27FC236}">
                <a16:creationId xmlns:a16="http://schemas.microsoft.com/office/drawing/2014/main" id="{1CCD56D1-C01D-FCEE-EE60-B23D805702E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4059" y="3873637"/>
            <a:ext cx="346391" cy="346391"/>
          </a:xfrm>
          <a:prstGeom prst="rect">
            <a:avLst/>
          </a:prstGeom>
        </p:spPr>
      </p:pic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47B7D724-825C-934A-BC56-D9A5B578517B}"/>
              </a:ext>
            </a:extLst>
          </p:cNvPr>
          <p:cNvGrpSpPr>
            <a:grpSpLocks noChangeAspect="1"/>
          </p:cNvGrpSpPr>
          <p:nvPr/>
        </p:nvGrpSpPr>
        <p:grpSpPr>
          <a:xfrm>
            <a:off x="937951" y="2865843"/>
            <a:ext cx="605099" cy="198485"/>
            <a:chOff x="8023724" y="4482298"/>
            <a:chExt cx="2277000" cy="746902"/>
          </a:xfrm>
        </p:grpSpPr>
        <p:grpSp>
          <p:nvGrpSpPr>
            <p:cNvPr id="142" name="Gruppieren 141">
              <a:extLst>
                <a:ext uri="{FF2B5EF4-FFF2-40B4-BE49-F238E27FC236}">
                  <a16:creationId xmlns:a16="http://schemas.microsoft.com/office/drawing/2014/main" id="{39C83AFC-8960-04C1-DED0-AB82C1CB1D17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44" name="Gruppieren 143">
                <a:extLst>
                  <a:ext uri="{FF2B5EF4-FFF2-40B4-BE49-F238E27FC236}">
                    <a16:creationId xmlns:a16="http://schemas.microsoft.com/office/drawing/2014/main" id="{4A1B5A70-5D5D-7D4F-3637-AE21815187A5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46" name="Rechteck: abgerundete Ecken 145">
                  <a:extLst>
                    <a:ext uri="{FF2B5EF4-FFF2-40B4-BE49-F238E27FC236}">
                      <a16:creationId xmlns:a16="http://schemas.microsoft.com/office/drawing/2014/main" id="{55BB91D7-1543-BAB4-FDF1-426957A65E95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7" name="Rechteck: abgerundete Ecken 146">
                  <a:extLst>
                    <a:ext uri="{FF2B5EF4-FFF2-40B4-BE49-F238E27FC236}">
                      <a16:creationId xmlns:a16="http://schemas.microsoft.com/office/drawing/2014/main" id="{0C73C792-15A7-31C7-B682-C3D9E08EBCB9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8" name="Rechteck: abgerundete Ecken 147">
                  <a:extLst>
                    <a:ext uri="{FF2B5EF4-FFF2-40B4-BE49-F238E27FC236}">
                      <a16:creationId xmlns:a16="http://schemas.microsoft.com/office/drawing/2014/main" id="{F63F5A86-509D-950E-BFF3-157D38872EDE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0" name="Rechteck: abgerundete Ecken 149">
                  <a:extLst>
                    <a:ext uri="{FF2B5EF4-FFF2-40B4-BE49-F238E27FC236}">
                      <a16:creationId xmlns:a16="http://schemas.microsoft.com/office/drawing/2014/main" id="{A42451AE-4608-BE1A-9F0D-CD0C438837FB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Rechteck: abgerundete Ecken 150">
                  <a:extLst>
                    <a:ext uri="{FF2B5EF4-FFF2-40B4-BE49-F238E27FC236}">
                      <a16:creationId xmlns:a16="http://schemas.microsoft.com/office/drawing/2014/main" id="{7CB09520-C6BD-7C02-5181-3CE9D5EABF34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3" name="Rechteck: abgerundete Ecken 152">
                  <a:extLst>
                    <a:ext uri="{FF2B5EF4-FFF2-40B4-BE49-F238E27FC236}">
                      <a16:creationId xmlns:a16="http://schemas.microsoft.com/office/drawing/2014/main" id="{1356DE40-A733-B992-9090-A7D4838FC93A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C6A66DB2-C52F-4227-B80A-C5E6EB4BFAB8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43" name="Grafik 142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CDB658A6-F30D-A824-DE97-41F40C72E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C96A79FB-FBF7-1FD3-B4D7-FAE5FC109BD1}"/>
              </a:ext>
            </a:extLst>
          </p:cNvPr>
          <p:cNvGrpSpPr>
            <a:grpSpLocks noChangeAspect="1"/>
          </p:cNvGrpSpPr>
          <p:nvPr/>
        </p:nvGrpSpPr>
        <p:grpSpPr>
          <a:xfrm>
            <a:off x="10666151" y="2865843"/>
            <a:ext cx="605099" cy="198485"/>
            <a:chOff x="8023724" y="4482298"/>
            <a:chExt cx="2277000" cy="746902"/>
          </a:xfrm>
        </p:grpSpPr>
        <p:grpSp>
          <p:nvGrpSpPr>
            <p:cNvPr id="155" name="Gruppieren 154">
              <a:extLst>
                <a:ext uri="{FF2B5EF4-FFF2-40B4-BE49-F238E27FC236}">
                  <a16:creationId xmlns:a16="http://schemas.microsoft.com/office/drawing/2014/main" id="{53E4E342-F148-955F-E744-FEDE5234E8D3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57" name="Gruppieren 156">
                <a:extLst>
                  <a:ext uri="{FF2B5EF4-FFF2-40B4-BE49-F238E27FC236}">
                    <a16:creationId xmlns:a16="http://schemas.microsoft.com/office/drawing/2014/main" id="{3AC47972-5523-C7D9-67FE-B19F8FC07DB6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59" name="Rechteck: abgerundete Ecken 158">
                  <a:extLst>
                    <a:ext uri="{FF2B5EF4-FFF2-40B4-BE49-F238E27FC236}">
                      <a16:creationId xmlns:a16="http://schemas.microsoft.com/office/drawing/2014/main" id="{C6A542B2-61B3-0C07-2224-D9571461893C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0" name="Rechteck: abgerundete Ecken 159">
                  <a:extLst>
                    <a:ext uri="{FF2B5EF4-FFF2-40B4-BE49-F238E27FC236}">
                      <a16:creationId xmlns:a16="http://schemas.microsoft.com/office/drawing/2014/main" id="{2C14609A-A285-FF6A-0235-2CD182B70C6B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1" name="Rechteck: abgerundete Ecken 160">
                  <a:extLst>
                    <a:ext uri="{FF2B5EF4-FFF2-40B4-BE49-F238E27FC236}">
                      <a16:creationId xmlns:a16="http://schemas.microsoft.com/office/drawing/2014/main" id="{B56D1D7B-A1B0-0DC9-7322-304C2A1BDD34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2" name="Rechteck: abgerundete Ecken 161">
                  <a:extLst>
                    <a:ext uri="{FF2B5EF4-FFF2-40B4-BE49-F238E27FC236}">
                      <a16:creationId xmlns:a16="http://schemas.microsoft.com/office/drawing/2014/main" id="{F0654106-ACC0-D494-FA14-914136A68DB5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3" name="Rechteck: abgerundete Ecken 162">
                  <a:extLst>
                    <a:ext uri="{FF2B5EF4-FFF2-40B4-BE49-F238E27FC236}">
                      <a16:creationId xmlns:a16="http://schemas.microsoft.com/office/drawing/2014/main" id="{903B8735-5BC7-01E4-314F-24A0C0D41190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4" name="Rechteck: abgerundete Ecken 163">
                  <a:extLst>
                    <a:ext uri="{FF2B5EF4-FFF2-40B4-BE49-F238E27FC236}">
                      <a16:creationId xmlns:a16="http://schemas.microsoft.com/office/drawing/2014/main" id="{61AC73BB-4B38-8B29-2759-A57641A884D8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DEA8E3E4-5C42-ED4D-E1F2-F166E3A3D2C8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56" name="Grafik 155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65536A9B-DB10-EE18-E0A1-E95438ED5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165" name="Gruppieren 164">
            <a:extLst>
              <a:ext uri="{FF2B5EF4-FFF2-40B4-BE49-F238E27FC236}">
                <a16:creationId xmlns:a16="http://schemas.microsoft.com/office/drawing/2014/main" id="{82EBC481-BC52-E597-CD9B-93FFE2D3D217}"/>
              </a:ext>
            </a:extLst>
          </p:cNvPr>
          <p:cNvGrpSpPr>
            <a:grpSpLocks noChangeAspect="1"/>
          </p:cNvGrpSpPr>
          <p:nvPr/>
        </p:nvGrpSpPr>
        <p:grpSpPr>
          <a:xfrm>
            <a:off x="8234101" y="2865843"/>
            <a:ext cx="605099" cy="198485"/>
            <a:chOff x="8023724" y="4482298"/>
            <a:chExt cx="2277000" cy="746902"/>
          </a:xfrm>
        </p:grpSpPr>
        <p:grpSp>
          <p:nvGrpSpPr>
            <p:cNvPr id="166" name="Gruppieren 165">
              <a:extLst>
                <a:ext uri="{FF2B5EF4-FFF2-40B4-BE49-F238E27FC236}">
                  <a16:creationId xmlns:a16="http://schemas.microsoft.com/office/drawing/2014/main" id="{3EC5CFE6-4495-E107-8950-3E4591DAFCD2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68" name="Gruppieren 167">
                <a:extLst>
                  <a:ext uri="{FF2B5EF4-FFF2-40B4-BE49-F238E27FC236}">
                    <a16:creationId xmlns:a16="http://schemas.microsoft.com/office/drawing/2014/main" id="{0F58C494-292D-79EB-1EBA-5EB8EE9A5B1C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70" name="Rechteck: abgerundete Ecken 169">
                  <a:extLst>
                    <a:ext uri="{FF2B5EF4-FFF2-40B4-BE49-F238E27FC236}">
                      <a16:creationId xmlns:a16="http://schemas.microsoft.com/office/drawing/2014/main" id="{4D24F27F-92C7-3B32-852C-EAED2A03A289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1" name="Rechteck: abgerundete Ecken 170">
                  <a:extLst>
                    <a:ext uri="{FF2B5EF4-FFF2-40B4-BE49-F238E27FC236}">
                      <a16:creationId xmlns:a16="http://schemas.microsoft.com/office/drawing/2014/main" id="{2B964936-9A40-50E0-1BB5-B6688FD49E06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2" name="Rechteck: abgerundete Ecken 171">
                  <a:extLst>
                    <a:ext uri="{FF2B5EF4-FFF2-40B4-BE49-F238E27FC236}">
                      <a16:creationId xmlns:a16="http://schemas.microsoft.com/office/drawing/2014/main" id="{9BA2424D-2BA0-7B64-0A4C-77CDAD9CB889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3" name="Rechteck: abgerundete Ecken 172">
                  <a:extLst>
                    <a:ext uri="{FF2B5EF4-FFF2-40B4-BE49-F238E27FC236}">
                      <a16:creationId xmlns:a16="http://schemas.microsoft.com/office/drawing/2014/main" id="{195C294B-0F0B-C4CC-3B16-AE9A5F968449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4" name="Rechteck: abgerundete Ecken 173">
                  <a:extLst>
                    <a:ext uri="{FF2B5EF4-FFF2-40B4-BE49-F238E27FC236}">
                      <a16:creationId xmlns:a16="http://schemas.microsoft.com/office/drawing/2014/main" id="{2DE59F9A-6F9E-CCF0-3A98-09C3A6149D07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5" name="Rechteck: abgerundete Ecken 174">
                  <a:extLst>
                    <a:ext uri="{FF2B5EF4-FFF2-40B4-BE49-F238E27FC236}">
                      <a16:creationId xmlns:a16="http://schemas.microsoft.com/office/drawing/2014/main" id="{4BAAAC10-BCCC-7604-2CA6-260D466225BE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A60907E8-24AA-3AA4-FC84-42250F0D8F3F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67" name="Grafik 166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6BDEEFC0-38E3-16A1-E68B-0C56E1C76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D0BF46E1-9927-DF10-8CCD-8C1B625F1208}"/>
              </a:ext>
            </a:extLst>
          </p:cNvPr>
          <p:cNvGrpSpPr>
            <a:grpSpLocks noChangeAspect="1"/>
          </p:cNvGrpSpPr>
          <p:nvPr/>
        </p:nvGrpSpPr>
        <p:grpSpPr>
          <a:xfrm>
            <a:off x="5802051" y="2865843"/>
            <a:ext cx="605099" cy="198485"/>
            <a:chOff x="8023724" y="4482298"/>
            <a:chExt cx="2277000" cy="746902"/>
          </a:xfrm>
        </p:grpSpPr>
        <p:grpSp>
          <p:nvGrpSpPr>
            <p:cNvPr id="177" name="Gruppieren 176">
              <a:extLst>
                <a:ext uri="{FF2B5EF4-FFF2-40B4-BE49-F238E27FC236}">
                  <a16:creationId xmlns:a16="http://schemas.microsoft.com/office/drawing/2014/main" id="{68B922E3-07CF-CF12-ABD6-98080CED94B0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79" name="Gruppieren 178">
                <a:extLst>
                  <a:ext uri="{FF2B5EF4-FFF2-40B4-BE49-F238E27FC236}">
                    <a16:creationId xmlns:a16="http://schemas.microsoft.com/office/drawing/2014/main" id="{AE52DD1D-4E71-D8B3-A9F0-B583FE48F1AA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81" name="Rechteck: abgerundete Ecken 180">
                  <a:extLst>
                    <a:ext uri="{FF2B5EF4-FFF2-40B4-BE49-F238E27FC236}">
                      <a16:creationId xmlns:a16="http://schemas.microsoft.com/office/drawing/2014/main" id="{FD771252-F022-ECDE-78D8-E07AC827BAE3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2" name="Rechteck: abgerundete Ecken 181">
                  <a:extLst>
                    <a:ext uri="{FF2B5EF4-FFF2-40B4-BE49-F238E27FC236}">
                      <a16:creationId xmlns:a16="http://schemas.microsoft.com/office/drawing/2014/main" id="{8A06B5DD-CADF-3609-A41D-85DFC9CF70BA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3" name="Rechteck: abgerundete Ecken 182">
                  <a:extLst>
                    <a:ext uri="{FF2B5EF4-FFF2-40B4-BE49-F238E27FC236}">
                      <a16:creationId xmlns:a16="http://schemas.microsoft.com/office/drawing/2014/main" id="{17993987-4396-EFEF-89E3-9842840A7101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4" name="Rechteck: abgerundete Ecken 183">
                  <a:extLst>
                    <a:ext uri="{FF2B5EF4-FFF2-40B4-BE49-F238E27FC236}">
                      <a16:creationId xmlns:a16="http://schemas.microsoft.com/office/drawing/2014/main" id="{CEC3191F-C502-DCD7-818B-3283BDBFD89C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5" name="Rechteck: abgerundete Ecken 184">
                  <a:extLst>
                    <a:ext uri="{FF2B5EF4-FFF2-40B4-BE49-F238E27FC236}">
                      <a16:creationId xmlns:a16="http://schemas.microsoft.com/office/drawing/2014/main" id="{EE8E9101-A98A-19A3-1443-FAF012EE0E24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6" name="Rechteck: abgerundete Ecken 185">
                  <a:extLst>
                    <a:ext uri="{FF2B5EF4-FFF2-40B4-BE49-F238E27FC236}">
                      <a16:creationId xmlns:a16="http://schemas.microsoft.com/office/drawing/2014/main" id="{96567597-A895-CF04-01F0-4FE8C10714FF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B9724773-8801-4AE3-7718-5D1A4A319E65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78" name="Grafik 177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ADE214F2-44D4-FFD3-1613-C934A888A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21EEB6BB-3F71-8FB5-76EE-22EAE3F23D6B}"/>
              </a:ext>
            </a:extLst>
          </p:cNvPr>
          <p:cNvGrpSpPr>
            <a:grpSpLocks noChangeAspect="1"/>
          </p:cNvGrpSpPr>
          <p:nvPr/>
        </p:nvGrpSpPr>
        <p:grpSpPr>
          <a:xfrm>
            <a:off x="3370001" y="2865843"/>
            <a:ext cx="605099" cy="198485"/>
            <a:chOff x="8023724" y="4482298"/>
            <a:chExt cx="2277000" cy="746902"/>
          </a:xfrm>
        </p:grpSpPr>
        <p:grpSp>
          <p:nvGrpSpPr>
            <p:cNvPr id="188" name="Gruppieren 187">
              <a:extLst>
                <a:ext uri="{FF2B5EF4-FFF2-40B4-BE49-F238E27FC236}">
                  <a16:creationId xmlns:a16="http://schemas.microsoft.com/office/drawing/2014/main" id="{BE8B8FE4-4448-45C8-6949-9F4DB9AECE80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90" name="Gruppieren 189">
                <a:extLst>
                  <a:ext uri="{FF2B5EF4-FFF2-40B4-BE49-F238E27FC236}">
                    <a16:creationId xmlns:a16="http://schemas.microsoft.com/office/drawing/2014/main" id="{5C5A525C-BC86-BA18-84E9-5195E0992C35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92" name="Rechteck: abgerundete Ecken 191">
                  <a:extLst>
                    <a:ext uri="{FF2B5EF4-FFF2-40B4-BE49-F238E27FC236}">
                      <a16:creationId xmlns:a16="http://schemas.microsoft.com/office/drawing/2014/main" id="{A501C1FA-CB11-5F21-73C7-C39E2D0CC51D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3" name="Rechteck: abgerundete Ecken 192">
                  <a:extLst>
                    <a:ext uri="{FF2B5EF4-FFF2-40B4-BE49-F238E27FC236}">
                      <a16:creationId xmlns:a16="http://schemas.microsoft.com/office/drawing/2014/main" id="{75BF35AF-A2CC-5041-05E2-2CC85AC527B1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4" name="Rechteck: abgerundete Ecken 193">
                  <a:extLst>
                    <a:ext uri="{FF2B5EF4-FFF2-40B4-BE49-F238E27FC236}">
                      <a16:creationId xmlns:a16="http://schemas.microsoft.com/office/drawing/2014/main" id="{50CC07B9-C17B-F75A-1235-F296ED60EA39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5" name="Rechteck: abgerundete Ecken 194">
                  <a:extLst>
                    <a:ext uri="{FF2B5EF4-FFF2-40B4-BE49-F238E27FC236}">
                      <a16:creationId xmlns:a16="http://schemas.microsoft.com/office/drawing/2014/main" id="{5F28AA59-65C9-511E-7D06-1CD5A9E38406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6" name="Rechteck: abgerundete Ecken 195">
                  <a:extLst>
                    <a:ext uri="{FF2B5EF4-FFF2-40B4-BE49-F238E27FC236}">
                      <a16:creationId xmlns:a16="http://schemas.microsoft.com/office/drawing/2014/main" id="{4037E383-D83B-9DB2-5E81-0F1FBBD87902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7" name="Rechteck: abgerundete Ecken 196">
                  <a:extLst>
                    <a:ext uri="{FF2B5EF4-FFF2-40B4-BE49-F238E27FC236}">
                      <a16:creationId xmlns:a16="http://schemas.microsoft.com/office/drawing/2014/main" id="{D2AC512F-685A-F00D-1F71-EDD852504985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91" name="Rechteck 190">
                <a:extLst>
                  <a:ext uri="{FF2B5EF4-FFF2-40B4-BE49-F238E27FC236}">
                    <a16:creationId xmlns:a16="http://schemas.microsoft.com/office/drawing/2014/main" id="{B3E8D5C8-C323-E508-20E8-BB4155FF4642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89" name="Grafik 188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2F52ED3F-AAE3-1244-32D9-5F051488A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58801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91" grpId="0"/>
      <p:bldP spid="116" grpId="0"/>
      <p:bldP spid="117" grpId="0"/>
      <p:bldP spid="1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DCC8DA0-5333-71BD-66DD-45D04136CC18}"/>
              </a:ext>
            </a:extLst>
          </p:cNvPr>
          <p:cNvSpPr/>
          <p:nvPr/>
        </p:nvSpPr>
        <p:spPr bwMode="gray">
          <a:xfrm>
            <a:off x="371476" y="1592262"/>
            <a:ext cx="2700338" cy="367347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57B68DA-09D7-5A11-D84E-C54E921C9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Concept </a:t>
            </a:r>
            <a:br>
              <a:rPr lang="de-DE" dirty="0"/>
            </a:br>
            <a:r>
              <a:rPr lang="de-DE" sz="3600" dirty="0" err="1">
                <a:solidFill>
                  <a:schemeClr val="bg2"/>
                </a:solidFill>
              </a:rPr>
              <a:t>Used</a:t>
            </a:r>
            <a:r>
              <a:rPr lang="de-DE" sz="3600" dirty="0">
                <a:solidFill>
                  <a:schemeClr val="bg2"/>
                </a:solidFill>
              </a:rPr>
              <a:t> </a:t>
            </a:r>
            <a:r>
              <a:rPr lang="de-DE" sz="3600" dirty="0" err="1">
                <a:solidFill>
                  <a:schemeClr val="bg2"/>
                </a:solidFill>
              </a:rPr>
              <a:t>Certificate</a:t>
            </a:r>
            <a:r>
              <a:rPr lang="de-DE" sz="3600" dirty="0">
                <a:solidFill>
                  <a:schemeClr val="bg2"/>
                </a:solidFill>
              </a:rPr>
              <a:t> and </a:t>
            </a:r>
            <a:r>
              <a:rPr lang="de-DE" sz="3600" dirty="0" err="1">
                <a:solidFill>
                  <a:schemeClr val="bg2"/>
                </a:solidFill>
              </a:rPr>
              <a:t>Governance</a:t>
            </a:r>
            <a:r>
              <a:rPr lang="de-DE" sz="3600" dirty="0">
                <a:solidFill>
                  <a:schemeClr val="bg2"/>
                </a:solidFill>
              </a:rPr>
              <a:t> </a:t>
            </a:r>
            <a:r>
              <a:rPr lang="de-DE" sz="3600" dirty="0" err="1">
                <a:solidFill>
                  <a:schemeClr val="bg2"/>
                </a:solidFill>
              </a:rPr>
              <a:t>Operations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659921-DDAF-46C8-B9D7-740B0E0F51A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5D6D84-B9D9-4EE0-8181-8165ECC36878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A08E429-EBA9-A679-703E-D7483CD9DA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100263" y="6273800"/>
            <a:ext cx="6209166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43A8903-7A5D-E63B-19F8-EE82388047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459CA3F5-437C-5C3E-D79C-3773463BB683}"/>
              </a:ext>
            </a:extLst>
          </p:cNvPr>
          <p:cNvSpPr/>
          <p:nvPr/>
        </p:nvSpPr>
        <p:spPr bwMode="gray">
          <a:xfrm>
            <a:off x="9120188" y="1592262"/>
            <a:ext cx="2700337" cy="367347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69D81C5-77C5-8A39-49F9-D0BE17FC94B5}"/>
              </a:ext>
            </a:extLst>
          </p:cNvPr>
          <p:cNvSpPr/>
          <p:nvPr/>
        </p:nvSpPr>
        <p:spPr bwMode="gray">
          <a:xfrm>
            <a:off x="3287713" y="1592262"/>
            <a:ext cx="2700337" cy="367347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5CFECEB7-9621-DDA4-1F17-E6992FF02DC9}"/>
              </a:ext>
            </a:extLst>
          </p:cNvPr>
          <p:cNvSpPr/>
          <p:nvPr/>
        </p:nvSpPr>
        <p:spPr bwMode="gray">
          <a:xfrm>
            <a:off x="6203951" y="1592263"/>
            <a:ext cx="2700337" cy="367347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27D03AEA-1B7D-EA6B-3153-A51614590F23}"/>
              </a:ext>
            </a:extLst>
          </p:cNvPr>
          <p:cNvSpPr txBox="1"/>
          <p:nvPr/>
        </p:nvSpPr>
        <p:spPr bwMode="gray">
          <a:xfrm>
            <a:off x="371475" y="1601788"/>
            <a:ext cx="2700338" cy="5027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>
                <a:solidFill>
                  <a:schemeClr val="bg1"/>
                </a:solidFill>
              </a:rPr>
              <a:t>Certificate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Issuance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D599290D-F0B1-553F-15BA-CD2B371369CC}"/>
              </a:ext>
            </a:extLst>
          </p:cNvPr>
          <p:cNvSpPr txBox="1"/>
          <p:nvPr/>
        </p:nvSpPr>
        <p:spPr bwMode="gray">
          <a:xfrm>
            <a:off x="3287712" y="1592263"/>
            <a:ext cx="2700338" cy="5027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>
                <a:solidFill>
                  <a:schemeClr val="bg1"/>
                </a:solidFill>
              </a:rPr>
              <a:t>Revocation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3F25F7A4-8FB1-549A-9918-BB531DCB1585}"/>
              </a:ext>
            </a:extLst>
          </p:cNvPr>
          <p:cNvSpPr txBox="1"/>
          <p:nvPr/>
        </p:nvSpPr>
        <p:spPr bwMode="gray">
          <a:xfrm>
            <a:off x="6203950" y="1592263"/>
            <a:ext cx="2700338" cy="5027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CA-</a:t>
            </a:r>
            <a:r>
              <a:rPr lang="de-DE" b="1" dirty="0" err="1">
                <a:solidFill>
                  <a:schemeClr val="bg1"/>
                </a:solidFill>
              </a:rPr>
              <a:t>Join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67364497-B293-0A42-70B1-D0C57F0119C8}"/>
              </a:ext>
            </a:extLst>
          </p:cNvPr>
          <p:cNvSpPr txBox="1"/>
          <p:nvPr/>
        </p:nvSpPr>
        <p:spPr bwMode="gray">
          <a:xfrm>
            <a:off x="9120187" y="1592263"/>
            <a:ext cx="2700338" cy="5027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>
                <a:solidFill>
                  <a:schemeClr val="bg1"/>
                </a:solidFill>
              </a:rPr>
              <a:t>CA-</a:t>
            </a:r>
            <a:r>
              <a:rPr lang="de-DE" b="1" dirty="0" err="1">
                <a:solidFill>
                  <a:schemeClr val="bg1"/>
                </a:solidFill>
              </a:rPr>
              <a:t>Removal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3043E03E-0072-43E1-C5C7-63102F4EF140}"/>
              </a:ext>
            </a:extLst>
          </p:cNvPr>
          <p:cNvSpPr/>
          <p:nvPr/>
        </p:nvSpPr>
        <p:spPr bwMode="gray">
          <a:xfrm>
            <a:off x="437846" y="1920075"/>
            <a:ext cx="2567599" cy="3263567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35AE9C5C-1636-6A99-8700-3674EEC130B9}"/>
              </a:ext>
            </a:extLst>
          </p:cNvPr>
          <p:cNvSpPr/>
          <p:nvPr/>
        </p:nvSpPr>
        <p:spPr bwMode="gray">
          <a:xfrm>
            <a:off x="9186557" y="1920075"/>
            <a:ext cx="2567599" cy="3263567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660849F-A540-4840-C640-A02D15F61DC5}"/>
              </a:ext>
            </a:extLst>
          </p:cNvPr>
          <p:cNvSpPr/>
          <p:nvPr/>
        </p:nvSpPr>
        <p:spPr bwMode="gray">
          <a:xfrm>
            <a:off x="3354082" y="1920075"/>
            <a:ext cx="2567599" cy="3263567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45E08F9E-09BD-5C24-C774-32E08731AF18}"/>
              </a:ext>
            </a:extLst>
          </p:cNvPr>
          <p:cNvSpPr/>
          <p:nvPr/>
        </p:nvSpPr>
        <p:spPr bwMode="gray">
          <a:xfrm>
            <a:off x="6270320" y="1920075"/>
            <a:ext cx="2567599" cy="3263567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46D34CE8-F4A3-B669-FC76-A7DE54A45342}"/>
              </a:ext>
            </a:extLst>
          </p:cNvPr>
          <p:cNvSpPr/>
          <p:nvPr/>
        </p:nvSpPr>
        <p:spPr bwMode="gray">
          <a:xfrm>
            <a:off x="582441" y="214494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1. </a:t>
            </a:r>
            <a:r>
              <a:rPr lang="de-DE" sz="1400" dirty="0" err="1">
                <a:solidFill>
                  <a:srgbClr val="002D4C"/>
                </a:solidFill>
              </a:rPr>
              <a:t>Certification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proposal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1D4D278F-8B8C-E7F8-A8A0-6986053766F7}"/>
              </a:ext>
            </a:extLst>
          </p:cNvPr>
          <p:cNvSpPr/>
          <p:nvPr/>
        </p:nvSpPr>
        <p:spPr bwMode="gray">
          <a:xfrm>
            <a:off x="582441" y="263356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2. Voting on </a:t>
            </a:r>
            <a:r>
              <a:rPr lang="de-DE" sz="1400" dirty="0" err="1">
                <a:solidFill>
                  <a:srgbClr val="002D4C"/>
                </a:solidFill>
              </a:rPr>
              <a:t>proposal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73C97C6-3047-A10A-4422-E2C1094F9E1F}"/>
              </a:ext>
            </a:extLst>
          </p:cNvPr>
          <p:cNvSpPr/>
          <p:nvPr/>
        </p:nvSpPr>
        <p:spPr bwMode="gray">
          <a:xfrm>
            <a:off x="582441" y="312218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3. Threshold </a:t>
            </a:r>
            <a:r>
              <a:rPr lang="de-DE" sz="1400" dirty="0" err="1">
                <a:solidFill>
                  <a:srgbClr val="002D4C"/>
                </a:solidFill>
              </a:rPr>
              <a:t>reached</a:t>
            </a:r>
            <a:r>
              <a:rPr lang="de-DE" sz="1400" dirty="0">
                <a:solidFill>
                  <a:srgbClr val="002D4C"/>
                </a:solidFill>
              </a:rPr>
              <a:t>?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2FB2768E-AB57-61D3-B436-55C065C84282}"/>
              </a:ext>
            </a:extLst>
          </p:cNvPr>
          <p:cNvSpPr/>
          <p:nvPr/>
        </p:nvSpPr>
        <p:spPr bwMode="gray">
          <a:xfrm>
            <a:off x="582441" y="361080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4. </a:t>
            </a:r>
            <a:r>
              <a:rPr lang="de-DE" sz="1400" dirty="0" err="1">
                <a:solidFill>
                  <a:srgbClr val="002D4C"/>
                </a:solidFill>
              </a:rPr>
              <a:t>Signing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session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DCC09671-C652-903A-95DA-05795BAB4889}"/>
              </a:ext>
            </a:extLst>
          </p:cNvPr>
          <p:cNvSpPr/>
          <p:nvPr/>
        </p:nvSpPr>
        <p:spPr bwMode="gray">
          <a:xfrm>
            <a:off x="582441" y="410040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5. </a:t>
            </a:r>
            <a:r>
              <a:rPr lang="de-DE" sz="1400" dirty="0" err="1">
                <a:solidFill>
                  <a:srgbClr val="002D4C"/>
                </a:solidFill>
              </a:rPr>
              <a:t>Certificate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registration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F72E385B-B2EE-3CEE-17BA-E4139D4F3E38}"/>
              </a:ext>
            </a:extLst>
          </p:cNvPr>
          <p:cNvSpPr/>
          <p:nvPr/>
        </p:nvSpPr>
        <p:spPr bwMode="gray">
          <a:xfrm>
            <a:off x="3498677" y="214494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1. </a:t>
            </a:r>
            <a:r>
              <a:rPr lang="de-DE" sz="1400" dirty="0" err="1">
                <a:solidFill>
                  <a:srgbClr val="002D4C"/>
                </a:solidFill>
              </a:rPr>
              <a:t>Revocation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proposal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EA256FC2-1FDE-4138-8709-57896E4B87D3}"/>
              </a:ext>
            </a:extLst>
          </p:cNvPr>
          <p:cNvSpPr/>
          <p:nvPr/>
        </p:nvSpPr>
        <p:spPr bwMode="gray">
          <a:xfrm>
            <a:off x="3498677" y="263356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2. Voting on </a:t>
            </a:r>
            <a:r>
              <a:rPr lang="de-DE" sz="1400" dirty="0" err="1">
                <a:solidFill>
                  <a:srgbClr val="002D4C"/>
                </a:solidFill>
              </a:rPr>
              <a:t>revocation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DBE19BE5-1F23-21A4-C67D-DA6AD7406371}"/>
              </a:ext>
            </a:extLst>
          </p:cNvPr>
          <p:cNvSpPr/>
          <p:nvPr/>
        </p:nvSpPr>
        <p:spPr bwMode="gray">
          <a:xfrm>
            <a:off x="3498677" y="312218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3. Threshold </a:t>
            </a:r>
            <a:r>
              <a:rPr lang="de-DE" sz="1400" dirty="0" err="1">
                <a:solidFill>
                  <a:srgbClr val="002D4C"/>
                </a:solidFill>
              </a:rPr>
              <a:t>reached</a:t>
            </a:r>
            <a:r>
              <a:rPr lang="de-DE" sz="1400" dirty="0">
                <a:solidFill>
                  <a:srgbClr val="002D4C"/>
                </a:solidFill>
              </a:rPr>
              <a:t>?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2BB1B9A9-60D2-57D6-FE26-1BABAF612203}"/>
              </a:ext>
            </a:extLst>
          </p:cNvPr>
          <p:cNvSpPr/>
          <p:nvPr/>
        </p:nvSpPr>
        <p:spPr bwMode="gray">
          <a:xfrm>
            <a:off x="3498677" y="361080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4. Execute </a:t>
            </a:r>
            <a:r>
              <a:rPr lang="de-DE" sz="1400" dirty="0" err="1">
                <a:solidFill>
                  <a:srgbClr val="002D4C"/>
                </a:solidFill>
              </a:rPr>
              <a:t>revocation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7B03452C-9E20-B5AA-5F99-EDD39831DA80}"/>
              </a:ext>
            </a:extLst>
          </p:cNvPr>
          <p:cNvSpPr/>
          <p:nvPr/>
        </p:nvSpPr>
        <p:spPr bwMode="gray">
          <a:xfrm>
            <a:off x="6414915" y="214494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1. </a:t>
            </a:r>
            <a:r>
              <a:rPr lang="de-DE" sz="1400" dirty="0" err="1">
                <a:solidFill>
                  <a:srgbClr val="002D4C"/>
                </a:solidFill>
              </a:rPr>
              <a:t>Join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proposal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E124C504-406E-0E95-F42D-A0EBF158A4A5}"/>
              </a:ext>
            </a:extLst>
          </p:cNvPr>
          <p:cNvSpPr/>
          <p:nvPr/>
        </p:nvSpPr>
        <p:spPr bwMode="gray">
          <a:xfrm>
            <a:off x="6414915" y="2633889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2. Voting on </a:t>
            </a:r>
            <a:r>
              <a:rPr lang="de-DE" sz="1400" dirty="0" err="1">
                <a:solidFill>
                  <a:srgbClr val="002D4C"/>
                </a:solidFill>
              </a:rPr>
              <a:t>join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44B08C49-7D43-954D-B1E5-838CCE59A173}"/>
              </a:ext>
            </a:extLst>
          </p:cNvPr>
          <p:cNvSpPr/>
          <p:nvPr/>
        </p:nvSpPr>
        <p:spPr bwMode="gray">
          <a:xfrm>
            <a:off x="6414915" y="3122838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3. Threshold </a:t>
            </a:r>
            <a:r>
              <a:rPr lang="de-DE" sz="1400" dirty="0" err="1">
                <a:solidFill>
                  <a:srgbClr val="002D4C"/>
                </a:solidFill>
              </a:rPr>
              <a:t>reached</a:t>
            </a:r>
            <a:r>
              <a:rPr lang="de-DE" sz="1400" dirty="0">
                <a:solidFill>
                  <a:srgbClr val="002D4C"/>
                </a:solidFill>
              </a:rPr>
              <a:t>?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AA5241C0-E35D-1386-B4DC-06A0C3D732B5}"/>
              </a:ext>
            </a:extLst>
          </p:cNvPr>
          <p:cNvSpPr/>
          <p:nvPr/>
        </p:nvSpPr>
        <p:spPr bwMode="gray">
          <a:xfrm>
            <a:off x="6414915" y="4100736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5. Key </a:t>
            </a:r>
            <a:r>
              <a:rPr lang="de-DE" sz="1400" dirty="0" err="1">
                <a:solidFill>
                  <a:srgbClr val="002D4C"/>
                </a:solidFill>
              </a:rPr>
              <a:t>reshare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50D73C45-7942-6521-8B57-30F55570811C}"/>
              </a:ext>
            </a:extLst>
          </p:cNvPr>
          <p:cNvSpPr/>
          <p:nvPr/>
        </p:nvSpPr>
        <p:spPr bwMode="gray">
          <a:xfrm>
            <a:off x="6407657" y="4589684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6. </a:t>
            </a:r>
            <a:r>
              <a:rPr lang="de-DE" sz="1400" dirty="0" err="1">
                <a:solidFill>
                  <a:srgbClr val="002D4C"/>
                </a:solidFill>
              </a:rPr>
              <a:t>Reshare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finished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FB6235CD-3359-E3CD-18F7-8982F0E2111D}"/>
              </a:ext>
            </a:extLst>
          </p:cNvPr>
          <p:cNvSpPr/>
          <p:nvPr/>
        </p:nvSpPr>
        <p:spPr bwMode="gray">
          <a:xfrm>
            <a:off x="6414915" y="3611787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4. Registration </a:t>
            </a:r>
            <a:r>
              <a:rPr lang="de-DE" sz="1400" dirty="0" err="1">
                <a:solidFill>
                  <a:srgbClr val="002D4C"/>
                </a:solidFill>
              </a:rPr>
              <a:t>into</a:t>
            </a:r>
            <a:r>
              <a:rPr lang="de-DE" sz="1400" dirty="0">
                <a:solidFill>
                  <a:srgbClr val="002D4C"/>
                </a:solidFill>
              </a:rPr>
              <a:t> CA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9F7942EC-365B-9513-1A15-D8E261B68BA6}"/>
              </a:ext>
            </a:extLst>
          </p:cNvPr>
          <p:cNvSpPr/>
          <p:nvPr/>
        </p:nvSpPr>
        <p:spPr bwMode="gray">
          <a:xfrm>
            <a:off x="9331152" y="2144940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1. </a:t>
            </a:r>
            <a:r>
              <a:rPr lang="de-DE" sz="1400" dirty="0" err="1">
                <a:solidFill>
                  <a:srgbClr val="002D4C"/>
                </a:solidFill>
              </a:rPr>
              <a:t>Removal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proposal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3887C920-53C8-6BB3-1A7F-E6808C9131C2}"/>
              </a:ext>
            </a:extLst>
          </p:cNvPr>
          <p:cNvSpPr/>
          <p:nvPr/>
        </p:nvSpPr>
        <p:spPr bwMode="gray">
          <a:xfrm>
            <a:off x="9331152" y="2633889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2. Voting on </a:t>
            </a:r>
            <a:r>
              <a:rPr lang="de-DE" sz="1400" dirty="0" err="1">
                <a:solidFill>
                  <a:srgbClr val="002D4C"/>
                </a:solidFill>
              </a:rPr>
              <a:t>removal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21DB9294-1CC8-8358-80DE-815B5A2E82BB}"/>
              </a:ext>
            </a:extLst>
          </p:cNvPr>
          <p:cNvSpPr/>
          <p:nvPr/>
        </p:nvSpPr>
        <p:spPr bwMode="gray">
          <a:xfrm>
            <a:off x="9331152" y="3122838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3. Threshold </a:t>
            </a:r>
            <a:r>
              <a:rPr lang="de-DE" sz="1400" dirty="0" err="1">
                <a:solidFill>
                  <a:srgbClr val="002D4C"/>
                </a:solidFill>
              </a:rPr>
              <a:t>reached</a:t>
            </a:r>
            <a:r>
              <a:rPr lang="de-DE" sz="1400" dirty="0">
                <a:solidFill>
                  <a:srgbClr val="002D4C"/>
                </a:solidFill>
              </a:rPr>
              <a:t>?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223A8058-036C-E568-B207-FE12C1E4F97F}"/>
              </a:ext>
            </a:extLst>
          </p:cNvPr>
          <p:cNvSpPr/>
          <p:nvPr/>
        </p:nvSpPr>
        <p:spPr bwMode="gray">
          <a:xfrm>
            <a:off x="9331152" y="4100736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5. Key </a:t>
            </a:r>
            <a:r>
              <a:rPr lang="de-DE" sz="1400" dirty="0" err="1">
                <a:solidFill>
                  <a:srgbClr val="002D4C"/>
                </a:solidFill>
              </a:rPr>
              <a:t>reshare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8B36DB7A-0FB8-32C6-B606-2268DF894DB8}"/>
              </a:ext>
            </a:extLst>
          </p:cNvPr>
          <p:cNvSpPr/>
          <p:nvPr/>
        </p:nvSpPr>
        <p:spPr bwMode="gray">
          <a:xfrm>
            <a:off x="9331152" y="4589684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6. </a:t>
            </a:r>
            <a:r>
              <a:rPr lang="de-DE" sz="1400" dirty="0" err="1">
                <a:solidFill>
                  <a:srgbClr val="002D4C"/>
                </a:solidFill>
              </a:rPr>
              <a:t>Reshare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finished</a:t>
            </a:r>
            <a:endParaRPr lang="de-DE" sz="1400" dirty="0">
              <a:solidFill>
                <a:srgbClr val="002D4C"/>
              </a:solidFill>
            </a:endParaRPr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1C5449E8-13FD-A569-52C8-AC098492E343}"/>
              </a:ext>
            </a:extLst>
          </p:cNvPr>
          <p:cNvSpPr/>
          <p:nvPr/>
        </p:nvSpPr>
        <p:spPr bwMode="gray">
          <a:xfrm>
            <a:off x="9331152" y="3611787"/>
            <a:ext cx="2278408" cy="3188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r>
              <a:rPr lang="de-DE" sz="1400" dirty="0">
                <a:solidFill>
                  <a:srgbClr val="002D4C"/>
                </a:solidFill>
              </a:rPr>
              <a:t>4. </a:t>
            </a:r>
            <a:r>
              <a:rPr lang="de-DE" sz="1400" dirty="0" err="1">
                <a:solidFill>
                  <a:srgbClr val="002D4C"/>
                </a:solidFill>
              </a:rPr>
              <a:t>Removal</a:t>
            </a:r>
            <a:r>
              <a:rPr lang="de-DE" sz="1400" dirty="0">
                <a:solidFill>
                  <a:srgbClr val="002D4C"/>
                </a:solidFill>
              </a:rPr>
              <a:t> </a:t>
            </a:r>
            <a:r>
              <a:rPr lang="de-DE" sz="1400" dirty="0" err="1">
                <a:solidFill>
                  <a:srgbClr val="002D4C"/>
                </a:solidFill>
              </a:rPr>
              <a:t>from</a:t>
            </a:r>
            <a:r>
              <a:rPr lang="de-DE" sz="1400" dirty="0">
                <a:solidFill>
                  <a:srgbClr val="002D4C"/>
                </a:solidFill>
              </a:rPr>
              <a:t> CA 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B1EE9ADC-0B50-5E52-4A31-B77DCD891339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All </a:t>
            </a:r>
            <a:r>
              <a:rPr lang="de-DE" b="1" dirty="0" err="1"/>
              <a:t>steps</a:t>
            </a:r>
            <a:r>
              <a:rPr lang="de-DE" b="1" dirty="0"/>
              <a:t> </a:t>
            </a:r>
            <a:r>
              <a:rPr lang="de-DE" b="1" dirty="0" err="1"/>
              <a:t>audited</a:t>
            </a:r>
            <a:r>
              <a:rPr lang="de-DE" b="1" dirty="0"/>
              <a:t> </a:t>
            </a:r>
            <a:r>
              <a:rPr lang="de-DE" b="1" dirty="0" err="1"/>
              <a:t>through</a:t>
            </a:r>
            <a:r>
              <a:rPr lang="de-DE" b="1" dirty="0"/>
              <a:t> network </a:t>
            </a:r>
            <a:r>
              <a:rPr lang="de-DE" b="1" dirty="0" err="1"/>
              <a:t>consensus</a:t>
            </a:r>
            <a:r>
              <a:rPr lang="de-DE" b="1" dirty="0"/>
              <a:t> and </a:t>
            </a:r>
            <a:r>
              <a:rPr lang="de-DE" b="1" dirty="0" err="1"/>
              <a:t>chaincode</a:t>
            </a:r>
            <a:endParaRPr lang="de-DE" b="1" dirty="0"/>
          </a:p>
        </p:txBody>
      </p: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7DCFD0CB-BD17-FFA1-BD17-35B80BD59BB1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87" name="Textplatzhalter 76">
              <a:extLst>
                <a:ext uri="{FF2B5EF4-FFF2-40B4-BE49-F238E27FC236}">
                  <a16:creationId xmlns:a16="http://schemas.microsoft.com/office/drawing/2014/main" id="{8C3A08E9-4B9E-E3A3-D2A3-6A978DF4F58C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8BF0C697-2A2C-2325-C40C-681C3754C4DC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0088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5" grpId="0" animBg="1"/>
      <p:bldP spid="48" grpId="0" animBg="1"/>
      <p:bldP spid="51" grpId="0"/>
      <p:bldP spid="52" grpId="0"/>
      <p:bldP spid="53" grpId="0"/>
      <p:bldP spid="55" grpId="0" animBg="1"/>
      <p:bldP spid="56" grpId="0" animBg="1"/>
      <p:bldP spid="57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C9AB1-B800-125D-99A4-07E8C1EF4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409309-9726-72B9-367C-5D6005CA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Benchmarks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6560C-0EFC-AB34-B15F-0839FFF2E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B65DAD-F3D5-3E01-519D-13C0FC187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BBC28-5EE9-1518-9CE3-BC2E3464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de-DE" smtClean="0"/>
              <a:pPr/>
              <a:t>26</a:t>
            </a:fld>
            <a:endParaRPr lang="de-DE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3D6C8692-AFF2-A27C-4801-61CDB5BA42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t="14179" b="-215"/>
          <a:stretch/>
        </p:blipFill>
        <p:spPr>
          <a:xfrm>
            <a:off x="0" y="1"/>
            <a:ext cx="12191999" cy="382428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8B11E0-A235-A372-708B-A7AAE7C3BA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Chapter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0D46FC-58C8-8D2D-F721-5BF29CE9F2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695218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11061ED-5934-5C4B-9F6E-6957F1A76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05" y="2011020"/>
            <a:ext cx="11134820" cy="26751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9D93F7-A46B-AC0B-B5EA-CE2DCB90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Benchmarks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System </a:t>
            </a:r>
            <a:r>
              <a:rPr lang="de-DE" sz="3200" dirty="0" err="1">
                <a:solidFill>
                  <a:schemeClr val="bg2"/>
                </a:solidFill>
              </a:rPr>
              <a:t>Latency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EA3CD4-E8A9-AD05-FF5C-563444BE76E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3E1860-A350-404E-BF89-23A268CA0970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C4A576-C136-A65A-4609-2889C1B156A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608308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5A102B-491F-2FA9-E996-9FFC150D15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27</a:t>
            </a:fld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C225923-FA3D-73EF-5F41-43F2CDCFAA4F}"/>
              </a:ext>
            </a:extLst>
          </p:cNvPr>
          <p:cNvSpPr txBox="1"/>
          <p:nvPr/>
        </p:nvSpPr>
        <p:spPr bwMode="gray">
          <a:xfrm>
            <a:off x="914400" y="1589768"/>
            <a:ext cx="1701800" cy="8751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Certificate</a:t>
            </a:r>
            <a:r>
              <a:rPr lang="de-DE" b="1" dirty="0"/>
              <a:t> Query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7B1002A-4925-B7EC-5631-B9BB06E12F89}"/>
              </a:ext>
            </a:extLst>
          </p:cNvPr>
          <p:cNvSpPr txBox="1"/>
          <p:nvPr/>
        </p:nvSpPr>
        <p:spPr bwMode="gray">
          <a:xfrm>
            <a:off x="10020299" y="1589768"/>
            <a:ext cx="1699987" cy="8751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CA </a:t>
            </a:r>
            <a:r>
              <a:rPr lang="de-DE" b="1" dirty="0" err="1"/>
              <a:t>Join</a:t>
            </a:r>
            <a:endParaRPr lang="de-DE" b="1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58D89E6-E3A4-9581-AD05-98D9C67F547C}"/>
              </a:ext>
            </a:extLst>
          </p:cNvPr>
          <p:cNvSpPr txBox="1"/>
          <p:nvPr/>
        </p:nvSpPr>
        <p:spPr bwMode="gray">
          <a:xfrm>
            <a:off x="7735659" y="1589768"/>
            <a:ext cx="1734458" cy="8751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CA </a:t>
            </a:r>
            <a:r>
              <a:rPr lang="de-DE" b="1" dirty="0" err="1"/>
              <a:t>Removal</a:t>
            </a:r>
            <a:endParaRPr lang="de-DE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FFD646E-19D6-DB65-6B85-0BA47D43D97E}"/>
              </a:ext>
            </a:extLst>
          </p:cNvPr>
          <p:cNvSpPr txBox="1"/>
          <p:nvPr/>
        </p:nvSpPr>
        <p:spPr bwMode="gray">
          <a:xfrm>
            <a:off x="5451020" y="1589768"/>
            <a:ext cx="1734458" cy="8751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Certificate</a:t>
            </a:r>
            <a:r>
              <a:rPr lang="de-DE" b="1" dirty="0"/>
              <a:t> </a:t>
            </a:r>
            <a:r>
              <a:rPr lang="de-DE" b="1" dirty="0" err="1"/>
              <a:t>Revocation</a:t>
            </a:r>
            <a:endParaRPr lang="de-DE" b="1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218AD38-196E-87FC-133F-6323FBBDEAA2}"/>
              </a:ext>
            </a:extLst>
          </p:cNvPr>
          <p:cNvSpPr txBox="1"/>
          <p:nvPr/>
        </p:nvSpPr>
        <p:spPr bwMode="gray">
          <a:xfrm>
            <a:off x="3166381" y="1589768"/>
            <a:ext cx="1734458" cy="8751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 err="1"/>
              <a:t>Certificate</a:t>
            </a:r>
            <a:r>
              <a:rPr lang="de-DE" b="1" dirty="0"/>
              <a:t> </a:t>
            </a:r>
            <a:r>
              <a:rPr lang="de-DE" b="1" dirty="0" err="1"/>
              <a:t>Issuance</a:t>
            </a:r>
            <a:endParaRPr lang="de-DE" b="1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CFBCD3C-A6EC-A416-E7F1-AF5DCDC70264}"/>
              </a:ext>
            </a:extLst>
          </p:cNvPr>
          <p:cNvSpPr txBox="1"/>
          <p:nvPr/>
        </p:nvSpPr>
        <p:spPr bwMode="gray">
          <a:xfrm>
            <a:off x="629091" y="3801607"/>
            <a:ext cx="216000" cy="176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0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2A6031D-4694-31BB-03AA-92C875C77491}"/>
              </a:ext>
            </a:extLst>
          </p:cNvPr>
          <p:cNvSpPr txBox="1"/>
          <p:nvPr/>
        </p:nvSpPr>
        <p:spPr bwMode="gray">
          <a:xfrm>
            <a:off x="629091" y="3370601"/>
            <a:ext cx="216000" cy="176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5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094CDDA-5DBD-ECB4-395D-384723F17BE4}"/>
              </a:ext>
            </a:extLst>
          </p:cNvPr>
          <p:cNvSpPr txBox="1"/>
          <p:nvPr/>
        </p:nvSpPr>
        <p:spPr bwMode="gray">
          <a:xfrm>
            <a:off x="629091" y="2946736"/>
            <a:ext cx="216000" cy="176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10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98847E9-F246-BF0D-B792-47AE1B8E0F97}"/>
              </a:ext>
            </a:extLst>
          </p:cNvPr>
          <p:cNvSpPr txBox="1"/>
          <p:nvPr/>
        </p:nvSpPr>
        <p:spPr bwMode="gray">
          <a:xfrm>
            <a:off x="629091" y="2508588"/>
            <a:ext cx="216000" cy="176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15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0F9D1FD-B95D-7DD3-4ED5-C617C95FF6CA}"/>
              </a:ext>
            </a:extLst>
          </p:cNvPr>
          <p:cNvSpPr txBox="1"/>
          <p:nvPr/>
        </p:nvSpPr>
        <p:spPr bwMode="gray">
          <a:xfrm>
            <a:off x="629091" y="2091868"/>
            <a:ext cx="216000" cy="176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20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B49FFA8-3D8D-6EA4-4160-BD774549542F}"/>
              </a:ext>
            </a:extLst>
          </p:cNvPr>
          <p:cNvSpPr txBox="1"/>
          <p:nvPr/>
        </p:nvSpPr>
        <p:spPr bwMode="gray">
          <a:xfrm rot="16200000">
            <a:off x="-259952" y="2846329"/>
            <a:ext cx="1707357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 err="1"/>
              <a:t>Latency</a:t>
            </a:r>
            <a:r>
              <a:rPr lang="de-DE" sz="1400" b="1" dirty="0"/>
              <a:t>  [</a:t>
            </a:r>
            <a:r>
              <a:rPr lang="de-DE" sz="1400" b="1" dirty="0" err="1"/>
              <a:t>ms</a:t>
            </a:r>
            <a:r>
              <a:rPr lang="de-DE" sz="1400" b="1" dirty="0"/>
              <a:t>]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6A90CE0-6F53-A700-9601-3B43FA618FB6}"/>
              </a:ext>
            </a:extLst>
          </p:cNvPr>
          <p:cNvSpPr txBox="1"/>
          <p:nvPr/>
        </p:nvSpPr>
        <p:spPr bwMode="gray">
          <a:xfrm rot="16200000">
            <a:off x="1991918" y="2846330"/>
            <a:ext cx="1707357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 err="1"/>
              <a:t>Latency</a:t>
            </a:r>
            <a:r>
              <a:rPr lang="de-DE" sz="1400" b="1" dirty="0"/>
              <a:t>  [s]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2FF41FD-6C9B-5E5B-DFCD-9234F067E01B}"/>
              </a:ext>
            </a:extLst>
          </p:cNvPr>
          <p:cNvSpPr txBox="1"/>
          <p:nvPr/>
        </p:nvSpPr>
        <p:spPr bwMode="gray">
          <a:xfrm>
            <a:off x="908050" y="4205229"/>
            <a:ext cx="1708150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 err="1"/>
              <a:t>Certificates</a:t>
            </a:r>
            <a:endParaRPr lang="de-DE" sz="1400" b="1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D152146-A430-8BA7-283E-440BC4465B2C}"/>
              </a:ext>
            </a:extLst>
          </p:cNvPr>
          <p:cNvSpPr txBox="1"/>
          <p:nvPr/>
        </p:nvSpPr>
        <p:spPr bwMode="gray">
          <a:xfrm>
            <a:off x="3186113" y="4205229"/>
            <a:ext cx="1708150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Signer </a:t>
            </a:r>
            <a:r>
              <a:rPr lang="de-DE" sz="1400" b="1" dirty="0" err="1"/>
              <a:t>nodes</a:t>
            </a:r>
            <a:endParaRPr lang="de-DE" sz="1400" b="1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5022706-1990-3797-6F21-D4BE5C133004}"/>
              </a:ext>
            </a:extLst>
          </p:cNvPr>
          <p:cNvSpPr txBox="1"/>
          <p:nvPr/>
        </p:nvSpPr>
        <p:spPr bwMode="gray">
          <a:xfrm>
            <a:off x="7742238" y="4205229"/>
            <a:ext cx="1708150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Signer </a:t>
            </a:r>
            <a:r>
              <a:rPr lang="de-DE" sz="1400" b="1" dirty="0" err="1"/>
              <a:t>nodes</a:t>
            </a:r>
            <a:endParaRPr lang="de-DE" sz="1400" b="1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AE1ADD3-49AB-63F2-AC27-6B2E56224872}"/>
              </a:ext>
            </a:extLst>
          </p:cNvPr>
          <p:cNvSpPr txBox="1"/>
          <p:nvPr/>
        </p:nvSpPr>
        <p:spPr bwMode="gray">
          <a:xfrm>
            <a:off x="10020300" y="4205229"/>
            <a:ext cx="1708150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Signer </a:t>
            </a:r>
            <a:r>
              <a:rPr lang="de-DE" sz="1400" b="1" dirty="0" err="1"/>
              <a:t>nodes</a:t>
            </a:r>
            <a:endParaRPr lang="de-DE" sz="1400" b="1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22A633B-6CA0-1F8F-CC32-8B0C9F0AFD65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Operation </a:t>
            </a:r>
            <a:r>
              <a:rPr lang="de-DE" b="1" dirty="0" err="1"/>
              <a:t>times</a:t>
            </a:r>
            <a:r>
              <a:rPr lang="de-DE" b="1" dirty="0"/>
              <a:t>, </a:t>
            </a:r>
            <a:r>
              <a:rPr lang="de-DE" b="1" dirty="0" err="1"/>
              <a:t>especially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signing</a:t>
            </a:r>
            <a:r>
              <a:rPr lang="de-DE" b="1" dirty="0"/>
              <a:t> </a:t>
            </a:r>
            <a:r>
              <a:rPr lang="de-DE" b="1" dirty="0" err="1"/>
              <a:t>part</a:t>
            </a:r>
            <a:r>
              <a:rPr lang="de-DE" b="1" dirty="0"/>
              <a:t> </a:t>
            </a:r>
            <a:r>
              <a:rPr lang="de-DE" b="1" dirty="0" err="1"/>
              <a:t>scales</a:t>
            </a:r>
            <a:r>
              <a:rPr lang="de-DE" b="1" dirty="0"/>
              <a:t> </a:t>
            </a:r>
            <a:r>
              <a:rPr lang="de-DE" b="1" dirty="0" err="1"/>
              <a:t>significantly</a:t>
            </a:r>
            <a:r>
              <a:rPr lang="de-DE" b="1" dirty="0"/>
              <a:t> </a:t>
            </a:r>
            <a:r>
              <a:rPr lang="de-DE" b="1" dirty="0" err="1"/>
              <a:t>worse</a:t>
            </a:r>
            <a:endParaRPr lang="de-DE" b="1" dirty="0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0E1BC86A-D14C-F6CE-ECC1-B600C5DD6919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29" name="Textplatzhalter 76">
              <a:extLst>
                <a:ext uri="{FF2B5EF4-FFF2-40B4-BE49-F238E27FC236}">
                  <a16:creationId xmlns:a16="http://schemas.microsoft.com/office/drawing/2014/main" id="{28786331-3F24-3983-5A4F-082A95F818A8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1B20BC3-7641-6773-DC42-3C1BDFD7E360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feld 30">
            <a:extLst>
              <a:ext uri="{FF2B5EF4-FFF2-40B4-BE49-F238E27FC236}">
                <a16:creationId xmlns:a16="http://schemas.microsoft.com/office/drawing/2014/main" id="{29569A73-406E-118D-AC38-0DE535388F51}"/>
              </a:ext>
            </a:extLst>
          </p:cNvPr>
          <p:cNvSpPr txBox="1"/>
          <p:nvPr/>
        </p:nvSpPr>
        <p:spPr bwMode="gray">
          <a:xfrm>
            <a:off x="371475" y="4984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Query </a:t>
            </a:r>
            <a:r>
              <a:rPr lang="de-DE" b="1" dirty="0" err="1"/>
              <a:t>times</a:t>
            </a:r>
            <a:r>
              <a:rPr lang="de-DE" b="1" dirty="0"/>
              <a:t> </a:t>
            </a:r>
            <a:r>
              <a:rPr lang="de-DE" b="1" dirty="0" err="1"/>
              <a:t>scale</a:t>
            </a:r>
            <a:r>
              <a:rPr lang="de-DE" b="1" dirty="0"/>
              <a:t> </a:t>
            </a:r>
            <a:r>
              <a:rPr lang="de-DE" b="1" dirty="0" err="1"/>
              <a:t>efficiently</a:t>
            </a:r>
            <a:endParaRPr lang="de-DE" b="1" dirty="0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A4926010-FDA6-7E34-65E9-B638E74AA445}"/>
              </a:ext>
            </a:extLst>
          </p:cNvPr>
          <p:cNvGrpSpPr/>
          <p:nvPr/>
        </p:nvGrpSpPr>
        <p:grpSpPr>
          <a:xfrm>
            <a:off x="378587" y="5015830"/>
            <a:ext cx="342000" cy="342000"/>
            <a:chOff x="7320136" y="4043360"/>
            <a:chExt cx="432000" cy="432000"/>
          </a:xfrm>
        </p:grpSpPr>
        <p:sp>
          <p:nvSpPr>
            <p:cNvPr id="33" name="Textplatzhalter 76">
              <a:extLst>
                <a:ext uri="{FF2B5EF4-FFF2-40B4-BE49-F238E27FC236}">
                  <a16:creationId xmlns:a16="http://schemas.microsoft.com/office/drawing/2014/main" id="{DA084DA9-1A94-F978-70FA-1D20F72CE171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E583EEBF-289A-0F5B-0381-0D8427807A58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hteck 2">
            <a:extLst>
              <a:ext uri="{FF2B5EF4-FFF2-40B4-BE49-F238E27FC236}">
                <a16:creationId xmlns:a16="http://schemas.microsoft.com/office/drawing/2014/main" id="{8323A790-9C5E-54FD-8AE3-2154E310555A}"/>
              </a:ext>
            </a:extLst>
          </p:cNvPr>
          <p:cNvSpPr/>
          <p:nvPr/>
        </p:nvSpPr>
        <p:spPr bwMode="gray">
          <a:xfrm>
            <a:off x="5060950" y="4321175"/>
            <a:ext cx="2422525" cy="45402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28E9B76-8857-3F5B-65BB-72AD4603DCD6}"/>
              </a:ext>
            </a:extLst>
          </p:cNvPr>
          <p:cNvSpPr txBox="1"/>
          <p:nvPr/>
        </p:nvSpPr>
        <p:spPr bwMode="gray">
          <a:xfrm>
            <a:off x="5464176" y="4205229"/>
            <a:ext cx="1708150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Signer </a:t>
            </a:r>
            <a:r>
              <a:rPr lang="de-DE" sz="1400" b="1" dirty="0" err="1"/>
              <a:t>nodes</a:t>
            </a:r>
            <a:endParaRPr lang="de-DE" sz="1400" b="1" dirty="0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2622DB0-27FC-455F-8C28-B12CCA4F5B3E}"/>
              </a:ext>
            </a:extLst>
          </p:cNvPr>
          <p:cNvGrpSpPr/>
          <p:nvPr/>
        </p:nvGrpSpPr>
        <p:grpSpPr>
          <a:xfrm>
            <a:off x="3957649" y="4583906"/>
            <a:ext cx="4276725" cy="421482"/>
            <a:chOff x="4167188" y="4583906"/>
            <a:chExt cx="4276725" cy="421482"/>
          </a:xfrm>
        </p:grpSpPr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24E8C1F0-E3FD-5CD6-64DE-3DDC3114A350}"/>
                </a:ext>
              </a:extLst>
            </p:cNvPr>
            <p:cNvSpPr/>
            <p:nvPr/>
          </p:nvSpPr>
          <p:spPr bwMode="gray">
            <a:xfrm>
              <a:off x="4167188" y="4583906"/>
              <a:ext cx="330994" cy="271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D9B8A3F7-5353-9066-4E0A-80E5482B3075}"/>
                </a:ext>
              </a:extLst>
            </p:cNvPr>
            <p:cNvSpPr txBox="1"/>
            <p:nvPr/>
          </p:nvSpPr>
          <p:spPr bwMode="gray">
            <a:xfrm>
              <a:off x="4499770" y="4610042"/>
              <a:ext cx="1310479" cy="3937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defTabSz="914347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1400" dirty="0"/>
                <a:t> Blockchain       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3FF0A47E-1638-5585-93B6-482E47D44512}"/>
                </a:ext>
              </a:extLst>
            </p:cNvPr>
            <p:cNvSpPr/>
            <p:nvPr/>
          </p:nvSpPr>
          <p:spPr bwMode="gray">
            <a:xfrm>
              <a:off x="5634827" y="4585552"/>
              <a:ext cx="330994" cy="271463"/>
            </a:xfrm>
            <a:prstGeom prst="rect">
              <a:avLst/>
            </a:prstGeom>
            <a:solidFill>
              <a:srgbClr val="4664A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C9EB65D2-8CCD-39BB-F159-82CC0F0BC466}"/>
                </a:ext>
              </a:extLst>
            </p:cNvPr>
            <p:cNvSpPr txBox="1"/>
            <p:nvPr/>
          </p:nvSpPr>
          <p:spPr bwMode="gray">
            <a:xfrm>
              <a:off x="5968200" y="4611688"/>
              <a:ext cx="2475713" cy="3937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defTabSz="914347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1400" dirty="0"/>
                <a:t> </a:t>
              </a:r>
              <a:r>
                <a:rPr lang="de-DE" sz="1400" dirty="0" err="1"/>
                <a:t>Signatures</a:t>
              </a:r>
              <a:r>
                <a:rPr lang="de-DE" sz="1400" dirty="0"/>
                <a:t> and </a:t>
              </a:r>
              <a:r>
                <a:rPr lang="de-DE" sz="1400" dirty="0" err="1"/>
                <a:t>key</a:t>
              </a:r>
              <a:r>
                <a:rPr lang="de-DE" sz="1400" dirty="0"/>
                <a:t> </a:t>
              </a:r>
              <a:r>
                <a:rPr lang="de-DE" sz="1400" dirty="0" err="1"/>
                <a:t>distribution</a:t>
              </a:r>
              <a:endParaRPr lang="de-DE" sz="1400" dirty="0"/>
            </a:p>
          </p:txBody>
        </p:sp>
      </p:grpSp>
      <p:sp>
        <p:nvSpPr>
          <p:cNvPr id="35" name="Rechteck 34">
            <a:extLst>
              <a:ext uri="{FF2B5EF4-FFF2-40B4-BE49-F238E27FC236}">
                <a16:creationId xmlns:a16="http://schemas.microsoft.com/office/drawing/2014/main" id="{51D21F91-7C57-91ED-777E-A6D493A25F18}"/>
              </a:ext>
            </a:extLst>
          </p:cNvPr>
          <p:cNvSpPr/>
          <p:nvPr/>
        </p:nvSpPr>
        <p:spPr bwMode="gray">
          <a:xfrm>
            <a:off x="2635250" y="1592263"/>
            <a:ext cx="9185275" cy="3386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548D4BE-75C8-4C3F-4628-8FFD202491D0}"/>
              </a:ext>
            </a:extLst>
          </p:cNvPr>
          <p:cNvSpPr/>
          <p:nvPr/>
        </p:nvSpPr>
        <p:spPr bwMode="gray">
          <a:xfrm>
            <a:off x="371475" y="1535113"/>
            <a:ext cx="2276475" cy="3386137"/>
          </a:xfrm>
          <a:prstGeom prst="rect">
            <a:avLst/>
          </a:prstGeom>
          <a:solidFill>
            <a:schemeClr val="bg1">
              <a:alpha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1660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5" grpId="0" animBg="1"/>
      <p:bldP spid="3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A833-8FA6-A9F0-76CE-03CCDCB6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7C314D7-2A86-DCB5-E973-FFD888038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05" y="2090737"/>
            <a:ext cx="11134820" cy="2595467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D3CC942-1200-A3FF-B082-F3170D3D86A9}"/>
              </a:ext>
            </a:extLst>
          </p:cNvPr>
          <p:cNvSpPr/>
          <p:nvPr/>
        </p:nvSpPr>
        <p:spPr bwMode="gray">
          <a:xfrm>
            <a:off x="3841750" y="4095750"/>
            <a:ext cx="4775200" cy="90805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A1EC8E0-00CC-7C90-C02F-1B8DB21B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Benchmarks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Storage </a:t>
            </a:r>
            <a:r>
              <a:rPr lang="de-DE" sz="3200" dirty="0" err="1">
                <a:solidFill>
                  <a:schemeClr val="bg2"/>
                </a:solidFill>
              </a:rPr>
              <a:t>Consumption</a:t>
            </a:r>
            <a:r>
              <a:rPr lang="de-DE" sz="3200" dirty="0">
                <a:solidFill>
                  <a:schemeClr val="bg2"/>
                </a:solidFill>
              </a:rPr>
              <a:t> per Operation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88E603-18D1-C469-89CE-13D562048D5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3E1860-A350-404E-BF89-23A268CA0970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A6341D-EFBB-8562-76BD-93BEAC79533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274480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DB1943-EC82-82DD-4396-DF629E7290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28</a:t>
            </a:fld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6F97E5-5541-13DC-96A2-983DC920F0BE}"/>
              </a:ext>
            </a:extLst>
          </p:cNvPr>
          <p:cNvSpPr txBox="1"/>
          <p:nvPr/>
        </p:nvSpPr>
        <p:spPr bwMode="gray">
          <a:xfrm>
            <a:off x="10020299" y="1589768"/>
            <a:ext cx="1699987" cy="8751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Per CA </a:t>
            </a:r>
            <a:r>
              <a:rPr lang="de-DE" b="1" dirty="0" err="1"/>
              <a:t>Join</a:t>
            </a:r>
            <a:endParaRPr lang="de-DE" b="1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D97BE02-0220-F062-9B6C-2DEC60B827BD}"/>
              </a:ext>
            </a:extLst>
          </p:cNvPr>
          <p:cNvSpPr txBox="1"/>
          <p:nvPr/>
        </p:nvSpPr>
        <p:spPr bwMode="gray">
          <a:xfrm>
            <a:off x="6976230" y="1589768"/>
            <a:ext cx="1734458" cy="8751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Per CA </a:t>
            </a:r>
            <a:r>
              <a:rPr lang="de-DE" b="1" dirty="0" err="1"/>
              <a:t>Removal</a:t>
            </a:r>
            <a:endParaRPr lang="de-DE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84C9BDA-1F88-54BB-BD73-9280AEC71B55}"/>
              </a:ext>
            </a:extLst>
          </p:cNvPr>
          <p:cNvSpPr txBox="1"/>
          <p:nvPr/>
        </p:nvSpPr>
        <p:spPr bwMode="gray">
          <a:xfrm>
            <a:off x="3932161" y="1589768"/>
            <a:ext cx="1734458" cy="8751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Per </a:t>
            </a:r>
            <a:r>
              <a:rPr lang="de-DE" b="1" dirty="0" err="1"/>
              <a:t>Certificate</a:t>
            </a:r>
            <a:r>
              <a:rPr lang="de-DE" b="1" dirty="0"/>
              <a:t> </a:t>
            </a:r>
            <a:r>
              <a:rPr lang="de-DE" b="1" dirty="0" err="1"/>
              <a:t>Revocation</a:t>
            </a:r>
            <a:endParaRPr lang="de-DE" b="1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B24CB3A-6B0F-9083-727A-A67106B40374}"/>
              </a:ext>
            </a:extLst>
          </p:cNvPr>
          <p:cNvSpPr txBox="1"/>
          <p:nvPr/>
        </p:nvSpPr>
        <p:spPr bwMode="gray">
          <a:xfrm>
            <a:off x="911905" y="1592263"/>
            <a:ext cx="1710645" cy="8751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Per </a:t>
            </a:r>
            <a:r>
              <a:rPr lang="de-DE" b="1" dirty="0" err="1"/>
              <a:t>Certificate</a:t>
            </a:r>
            <a:r>
              <a:rPr lang="de-DE" b="1" dirty="0"/>
              <a:t> </a:t>
            </a:r>
            <a:r>
              <a:rPr lang="de-DE" b="1" dirty="0" err="1"/>
              <a:t>Issuance</a:t>
            </a:r>
            <a:endParaRPr lang="de-DE" b="1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3650978-263C-526D-DB8F-728C3E043FAA}"/>
              </a:ext>
            </a:extLst>
          </p:cNvPr>
          <p:cNvSpPr txBox="1"/>
          <p:nvPr/>
        </p:nvSpPr>
        <p:spPr bwMode="gray">
          <a:xfrm>
            <a:off x="629091" y="3801607"/>
            <a:ext cx="216000" cy="176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0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5B61C09-2518-0EBF-A22F-12966EE90811}"/>
              </a:ext>
            </a:extLst>
          </p:cNvPr>
          <p:cNvSpPr txBox="1"/>
          <p:nvPr/>
        </p:nvSpPr>
        <p:spPr bwMode="gray">
          <a:xfrm>
            <a:off x="629091" y="3265826"/>
            <a:ext cx="216000" cy="176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0.5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1A8F540-4A6B-1629-E6DF-41845747BBA7}"/>
              </a:ext>
            </a:extLst>
          </p:cNvPr>
          <p:cNvSpPr txBox="1"/>
          <p:nvPr/>
        </p:nvSpPr>
        <p:spPr bwMode="gray">
          <a:xfrm>
            <a:off x="629091" y="2737186"/>
            <a:ext cx="216000" cy="176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1.0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0C88698-FE2F-C4BB-97D2-A5B1ED3FBCD2}"/>
              </a:ext>
            </a:extLst>
          </p:cNvPr>
          <p:cNvSpPr txBox="1"/>
          <p:nvPr/>
        </p:nvSpPr>
        <p:spPr bwMode="gray">
          <a:xfrm>
            <a:off x="629091" y="2197438"/>
            <a:ext cx="216000" cy="176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1.5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D4ACD72-665D-AA83-E5DC-FBBDBF233092}"/>
              </a:ext>
            </a:extLst>
          </p:cNvPr>
          <p:cNvSpPr txBox="1"/>
          <p:nvPr/>
        </p:nvSpPr>
        <p:spPr bwMode="gray">
          <a:xfrm rot="16200000">
            <a:off x="-258550" y="2846329"/>
            <a:ext cx="1707357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Storage  [MB]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2A18379-B9AB-20F9-8ADE-0171041397FB}"/>
              </a:ext>
            </a:extLst>
          </p:cNvPr>
          <p:cNvSpPr txBox="1"/>
          <p:nvPr/>
        </p:nvSpPr>
        <p:spPr bwMode="gray">
          <a:xfrm>
            <a:off x="906463" y="4204800"/>
            <a:ext cx="1708150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Signer </a:t>
            </a:r>
            <a:r>
              <a:rPr lang="de-DE" sz="1400" b="1" dirty="0" err="1"/>
              <a:t>nodes</a:t>
            </a:r>
            <a:endParaRPr lang="de-DE" sz="1400" b="1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EA4FC5A-B968-F19F-988C-671E196044F0}"/>
              </a:ext>
            </a:extLst>
          </p:cNvPr>
          <p:cNvSpPr txBox="1"/>
          <p:nvPr/>
        </p:nvSpPr>
        <p:spPr bwMode="gray">
          <a:xfrm>
            <a:off x="3944409" y="4204800"/>
            <a:ext cx="1708150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Signer </a:t>
            </a:r>
            <a:r>
              <a:rPr lang="de-DE" sz="1400" b="1" dirty="0" err="1"/>
              <a:t>nodes</a:t>
            </a:r>
            <a:endParaRPr lang="de-DE" sz="1400" b="1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53FA062-F2B0-EB42-231E-074E5D959076}"/>
              </a:ext>
            </a:extLst>
          </p:cNvPr>
          <p:cNvSpPr txBox="1"/>
          <p:nvPr/>
        </p:nvSpPr>
        <p:spPr bwMode="gray">
          <a:xfrm>
            <a:off x="6982355" y="4204800"/>
            <a:ext cx="1708150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Signer </a:t>
            </a:r>
            <a:r>
              <a:rPr lang="de-DE" sz="1400" b="1" dirty="0" err="1"/>
              <a:t>nodes</a:t>
            </a:r>
            <a:endParaRPr lang="de-DE" sz="1400" b="1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7A4A308-7F3A-127D-FA50-67A8E7ED654A}"/>
              </a:ext>
            </a:extLst>
          </p:cNvPr>
          <p:cNvSpPr txBox="1"/>
          <p:nvPr/>
        </p:nvSpPr>
        <p:spPr bwMode="gray">
          <a:xfrm>
            <a:off x="10020300" y="4204800"/>
            <a:ext cx="1708150" cy="393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b="1" dirty="0"/>
              <a:t>Signer </a:t>
            </a:r>
            <a:r>
              <a:rPr lang="de-DE" sz="1400" b="1" dirty="0" err="1"/>
              <a:t>nodes</a:t>
            </a:r>
            <a:endParaRPr lang="de-DE" sz="1400" b="1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BF3A6C2-4EF9-E156-37F2-EC420DBD9E65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Actual block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small</a:t>
            </a:r>
            <a:r>
              <a:rPr lang="de-DE" b="1" dirty="0"/>
              <a:t> in </a:t>
            </a:r>
            <a:r>
              <a:rPr lang="de-DE" b="1" dirty="0" err="1"/>
              <a:t>comparison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per-block </a:t>
            </a:r>
            <a:r>
              <a:rPr lang="de-DE" b="1" dirty="0" err="1"/>
              <a:t>overhead</a:t>
            </a:r>
            <a:endParaRPr lang="de-DE" b="1" dirty="0"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491C4727-38DA-3786-7128-34287FF27D59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26" name="Textplatzhalter 76">
              <a:extLst>
                <a:ext uri="{FF2B5EF4-FFF2-40B4-BE49-F238E27FC236}">
                  <a16:creationId xmlns:a16="http://schemas.microsoft.com/office/drawing/2014/main" id="{A0583D5B-F461-4527-3C65-4204E2F4E5F1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BCD94CD8-357E-BBC1-AE10-BD4A0C2DEC1B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C970AD1C-738A-3DA4-4D21-FDABFED2C870}"/>
              </a:ext>
            </a:extLst>
          </p:cNvPr>
          <p:cNvSpPr txBox="1"/>
          <p:nvPr/>
        </p:nvSpPr>
        <p:spPr bwMode="gray">
          <a:xfrm>
            <a:off x="371475" y="4984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/>
              <a:t> Storage consumption is concerning due to its additive per-device growth</a:t>
            </a:r>
            <a:endParaRPr lang="de-DE" b="1" dirty="0"/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79A291A-EABB-6670-897B-19D19E801D42}"/>
              </a:ext>
            </a:extLst>
          </p:cNvPr>
          <p:cNvGrpSpPr/>
          <p:nvPr/>
        </p:nvGrpSpPr>
        <p:grpSpPr>
          <a:xfrm>
            <a:off x="378587" y="5015830"/>
            <a:ext cx="342000" cy="342000"/>
            <a:chOff x="7320136" y="4043360"/>
            <a:chExt cx="432000" cy="432000"/>
          </a:xfrm>
        </p:grpSpPr>
        <p:sp>
          <p:nvSpPr>
            <p:cNvPr id="30" name="Textplatzhalter 76">
              <a:extLst>
                <a:ext uri="{FF2B5EF4-FFF2-40B4-BE49-F238E27FC236}">
                  <a16:creationId xmlns:a16="http://schemas.microsoft.com/office/drawing/2014/main" id="{771B997D-ADC9-1045-E41A-8F4836975826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4716BACD-510B-5AD8-8DBD-DE7F781F160D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917D1E5-6CF0-19D6-24D6-9617A1A59761}"/>
              </a:ext>
            </a:extLst>
          </p:cNvPr>
          <p:cNvGrpSpPr/>
          <p:nvPr/>
        </p:nvGrpSpPr>
        <p:grpSpPr>
          <a:xfrm>
            <a:off x="3481388" y="4583906"/>
            <a:ext cx="5237162" cy="421482"/>
            <a:chOff x="4167188" y="4583906"/>
            <a:chExt cx="5237162" cy="421482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7FCDCEAE-8DCE-E334-859E-E37AE468EEB7}"/>
                </a:ext>
              </a:extLst>
            </p:cNvPr>
            <p:cNvSpPr/>
            <p:nvPr/>
          </p:nvSpPr>
          <p:spPr bwMode="gray">
            <a:xfrm>
              <a:off x="4167188" y="4583906"/>
              <a:ext cx="330994" cy="271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021247ED-DEAA-7EB3-7EEA-965C3B6186FE}"/>
                </a:ext>
              </a:extLst>
            </p:cNvPr>
            <p:cNvSpPr txBox="1"/>
            <p:nvPr/>
          </p:nvSpPr>
          <p:spPr bwMode="gray">
            <a:xfrm>
              <a:off x="4499770" y="4610042"/>
              <a:ext cx="1310479" cy="3937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defTabSz="914347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1400" dirty="0"/>
                <a:t> Block    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EB364891-3EE7-A664-26AD-ECE95CC12B06}"/>
                </a:ext>
              </a:extLst>
            </p:cNvPr>
            <p:cNvSpPr/>
            <p:nvPr/>
          </p:nvSpPr>
          <p:spPr bwMode="gray">
            <a:xfrm>
              <a:off x="5209379" y="4585552"/>
              <a:ext cx="330994" cy="271463"/>
            </a:xfrm>
            <a:prstGeom prst="rect">
              <a:avLst/>
            </a:prstGeom>
            <a:solidFill>
              <a:srgbClr val="4664A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0AE66F05-6EB9-28EE-C0EC-00AF4F4BA43D}"/>
                </a:ext>
              </a:extLst>
            </p:cNvPr>
            <p:cNvSpPr txBox="1"/>
            <p:nvPr/>
          </p:nvSpPr>
          <p:spPr bwMode="gray">
            <a:xfrm>
              <a:off x="5542752" y="4611688"/>
              <a:ext cx="2834485" cy="3937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defTabSz="914347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1400" dirty="0"/>
                <a:t> </a:t>
              </a:r>
              <a:r>
                <a:rPr lang="de-DE" sz="1400" dirty="0" err="1"/>
                <a:t>Endorsements</a:t>
              </a:r>
              <a:r>
                <a:rPr lang="de-DE" sz="1400" dirty="0"/>
                <a:t> and </a:t>
              </a:r>
              <a:r>
                <a:rPr lang="de-DE" sz="1400" dirty="0" err="1"/>
                <a:t>metadata</a:t>
              </a:r>
              <a:r>
                <a:rPr lang="de-DE" sz="1400" dirty="0"/>
                <a:t>    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0640B288-6917-BF5E-180F-B7C2C54B53EA}"/>
                </a:ext>
              </a:extLst>
            </p:cNvPr>
            <p:cNvSpPr/>
            <p:nvPr/>
          </p:nvSpPr>
          <p:spPr bwMode="gray">
            <a:xfrm>
              <a:off x="8093862" y="4585552"/>
              <a:ext cx="330994" cy="271463"/>
            </a:xfrm>
            <a:prstGeom prst="rect">
              <a:avLst/>
            </a:prstGeom>
            <a:solidFill>
              <a:srgbClr val="A7822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8F54203B-2582-3A1B-F3B6-EB58F5BDB015}"/>
                </a:ext>
              </a:extLst>
            </p:cNvPr>
            <p:cNvSpPr txBox="1"/>
            <p:nvPr/>
          </p:nvSpPr>
          <p:spPr bwMode="gray">
            <a:xfrm>
              <a:off x="8427236" y="4611688"/>
              <a:ext cx="977114" cy="3937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defTabSz="914347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90000"/>
              </a:pPr>
              <a:r>
                <a:rPr lang="de-DE" sz="1400" dirty="0"/>
                <a:t> World </a:t>
              </a:r>
              <a:r>
                <a:rPr lang="de-DE" sz="1400" dirty="0" err="1"/>
                <a:t>state</a:t>
              </a:r>
              <a:endParaRPr lang="de-D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88333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29C6-B5A5-C5B8-D6EF-F82C61C26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FB76C38-45B5-75D2-4CE9-6DFC52ED7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Discussion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3A902-3B67-C1F5-8B77-20558D3B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78FEB-4582-ADAA-00C6-CDC8B0E5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121F9-E4F2-8F74-F03C-27F4DF82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de-DE" smtClean="0"/>
              <a:pPr/>
              <a:t>29</a:t>
            </a:fld>
            <a:endParaRPr lang="de-DE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2EB4209D-4625-8A89-1580-FD37E9A0D5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t="14179" b="-215"/>
          <a:stretch/>
        </p:blipFill>
        <p:spPr>
          <a:xfrm>
            <a:off x="0" y="1"/>
            <a:ext cx="12191999" cy="382428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8EF89F-3D41-C6F4-6222-F0E11B9D60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Chapter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3D2CCDC-BFFD-CB36-E7F9-B625C53210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7520870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8392A-F4D5-CB9A-C93D-2BC1EC6E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hteck 98">
            <a:extLst>
              <a:ext uri="{FF2B5EF4-FFF2-40B4-BE49-F238E27FC236}">
                <a16:creationId xmlns:a16="http://schemas.microsoft.com/office/drawing/2014/main" id="{F7830485-63EC-5AF3-7235-BBCC749C489B}"/>
              </a:ext>
            </a:extLst>
          </p:cNvPr>
          <p:cNvSpPr/>
          <p:nvPr/>
        </p:nvSpPr>
        <p:spPr bwMode="gray">
          <a:xfrm>
            <a:off x="3734393" y="2164896"/>
            <a:ext cx="811212" cy="69215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D90F4C-F29B-2D92-D1DB-4BF581308C20}"/>
              </a:ext>
            </a:extLst>
          </p:cNvPr>
          <p:cNvGrpSpPr>
            <a:grpSpLocks noChangeAspect="1"/>
          </p:cNvGrpSpPr>
          <p:nvPr/>
        </p:nvGrpSpPr>
        <p:grpSpPr>
          <a:xfrm>
            <a:off x="3773818" y="2566496"/>
            <a:ext cx="736862" cy="241706"/>
            <a:chOff x="8023724" y="4482298"/>
            <a:chExt cx="2277000" cy="746902"/>
          </a:xfrm>
        </p:grpSpPr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18A4C5AE-8567-419F-5D87-40DDC0F7BAE8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62" name="Gruppieren 61">
                <a:extLst>
                  <a:ext uri="{FF2B5EF4-FFF2-40B4-BE49-F238E27FC236}">
                    <a16:creationId xmlns:a16="http://schemas.microsoft.com/office/drawing/2014/main" id="{D0099665-7C26-3E1C-1ACD-321F86A28815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64" name="Rechteck: abgerundete Ecken 63">
                  <a:extLst>
                    <a:ext uri="{FF2B5EF4-FFF2-40B4-BE49-F238E27FC236}">
                      <a16:creationId xmlns:a16="http://schemas.microsoft.com/office/drawing/2014/main" id="{F34B7A7E-CB1B-8D79-9665-E71C70914D30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5" name="Rechteck: abgerundete Ecken 64">
                  <a:extLst>
                    <a:ext uri="{FF2B5EF4-FFF2-40B4-BE49-F238E27FC236}">
                      <a16:creationId xmlns:a16="http://schemas.microsoft.com/office/drawing/2014/main" id="{21CEB6BC-4944-80AE-0DAC-0D9F0F72EE19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6" name="Rechteck: abgerundete Ecken 65">
                  <a:extLst>
                    <a:ext uri="{FF2B5EF4-FFF2-40B4-BE49-F238E27FC236}">
                      <a16:creationId xmlns:a16="http://schemas.microsoft.com/office/drawing/2014/main" id="{76ABC37F-B451-61A9-5BCC-F4F843ABDD50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7" name="Rechteck: abgerundete Ecken 66">
                  <a:extLst>
                    <a:ext uri="{FF2B5EF4-FFF2-40B4-BE49-F238E27FC236}">
                      <a16:creationId xmlns:a16="http://schemas.microsoft.com/office/drawing/2014/main" id="{B47E0C4B-BDD6-0905-F6FA-93E0E60EC7C8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8" name="Rechteck: abgerundete Ecken 67">
                  <a:extLst>
                    <a:ext uri="{FF2B5EF4-FFF2-40B4-BE49-F238E27FC236}">
                      <a16:creationId xmlns:a16="http://schemas.microsoft.com/office/drawing/2014/main" id="{B98C08C6-4A4D-7CF8-B597-2FE7001784BF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9" name="Rechteck: abgerundete Ecken 68">
                  <a:extLst>
                    <a:ext uri="{FF2B5EF4-FFF2-40B4-BE49-F238E27FC236}">
                      <a16:creationId xmlns:a16="http://schemas.microsoft.com/office/drawing/2014/main" id="{04954A67-00B6-991E-93EC-4372A4156AC8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358DB85F-467B-FCAA-0A2A-88B637964399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61" name="Grafik 60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54248AD3-C9F1-5732-9348-9A1D6806B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sp>
        <p:nvSpPr>
          <p:cNvPr id="109" name="Rechteck 108">
            <a:extLst>
              <a:ext uri="{FF2B5EF4-FFF2-40B4-BE49-F238E27FC236}">
                <a16:creationId xmlns:a16="http://schemas.microsoft.com/office/drawing/2014/main" id="{35874803-C1A0-ACEE-5F95-A2C64D6211DA}"/>
              </a:ext>
            </a:extLst>
          </p:cNvPr>
          <p:cNvSpPr/>
          <p:nvPr/>
        </p:nvSpPr>
        <p:spPr bwMode="gray">
          <a:xfrm>
            <a:off x="3661367" y="3735727"/>
            <a:ext cx="419100" cy="37147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pic>
        <p:nvPicPr>
          <p:cNvPr id="111" name="Grafik 110">
            <a:extLst>
              <a:ext uri="{FF2B5EF4-FFF2-40B4-BE49-F238E27FC236}">
                <a16:creationId xmlns:a16="http://schemas.microsoft.com/office/drawing/2014/main" id="{76D4F8C8-D313-C3C1-3665-8BB9AC7EF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64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7242" y="3709136"/>
            <a:ext cx="383381" cy="41235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F5092647-D352-BAFA-FF2A-2A118BA124BD}"/>
              </a:ext>
            </a:extLst>
          </p:cNvPr>
          <p:cNvGrpSpPr>
            <a:grpSpLocks noChangeAspect="1"/>
          </p:cNvGrpSpPr>
          <p:nvPr/>
        </p:nvGrpSpPr>
        <p:grpSpPr>
          <a:xfrm>
            <a:off x="886158" y="3834947"/>
            <a:ext cx="736862" cy="241706"/>
            <a:chOff x="8023724" y="4482298"/>
            <a:chExt cx="2277000" cy="746902"/>
          </a:xfrm>
        </p:grpSpPr>
        <p:grpSp>
          <p:nvGrpSpPr>
            <p:cNvPr id="113" name="Gruppieren 112">
              <a:extLst>
                <a:ext uri="{FF2B5EF4-FFF2-40B4-BE49-F238E27FC236}">
                  <a16:creationId xmlns:a16="http://schemas.microsoft.com/office/drawing/2014/main" id="{A5CD84D9-911F-45FB-F6AF-D8623C7F30A5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15" name="Gruppieren 114">
                <a:extLst>
                  <a:ext uri="{FF2B5EF4-FFF2-40B4-BE49-F238E27FC236}">
                    <a16:creationId xmlns:a16="http://schemas.microsoft.com/office/drawing/2014/main" id="{2907306E-4C47-0651-62C8-A20F8A1202A3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17" name="Rechteck: abgerundete Ecken 116">
                  <a:extLst>
                    <a:ext uri="{FF2B5EF4-FFF2-40B4-BE49-F238E27FC236}">
                      <a16:creationId xmlns:a16="http://schemas.microsoft.com/office/drawing/2014/main" id="{6BBA0E14-C5D4-D9B6-50A8-134B0F2EC206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8" name="Rechteck: abgerundete Ecken 117">
                  <a:extLst>
                    <a:ext uri="{FF2B5EF4-FFF2-40B4-BE49-F238E27FC236}">
                      <a16:creationId xmlns:a16="http://schemas.microsoft.com/office/drawing/2014/main" id="{AEEC818A-3F81-663B-C054-BC7EA3EBC4D6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9" name="Rechteck: abgerundete Ecken 118">
                  <a:extLst>
                    <a:ext uri="{FF2B5EF4-FFF2-40B4-BE49-F238E27FC236}">
                      <a16:creationId xmlns:a16="http://schemas.microsoft.com/office/drawing/2014/main" id="{3F004AB7-5C68-760A-70B5-4A5E77E402EA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0" name="Rechteck: abgerundete Ecken 119">
                  <a:extLst>
                    <a:ext uri="{FF2B5EF4-FFF2-40B4-BE49-F238E27FC236}">
                      <a16:creationId xmlns:a16="http://schemas.microsoft.com/office/drawing/2014/main" id="{05085ADB-AECD-8663-8DB5-B14908ECE716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1" name="Rechteck: abgerundete Ecken 120">
                  <a:extLst>
                    <a:ext uri="{FF2B5EF4-FFF2-40B4-BE49-F238E27FC236}">
                      <a16:creationId xmlns:a16="http://schemas.microsoft.com/office/drawing/2014/main" id="{1B50D97C-337E-6D75-5F8C-AD0F948C6486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2" name="Rechteck: abgerundete Ecken 121">
                  <a:extLst>
                    <a:ext uri="{FF2B5EF4-FFF2-40B4-BE49-F238E27FC236}">
                      <a16:creationId xmlns:a16="http://schemas.microsoft.com/office/drawing/2014/main" id="{7244BEFD-0C76-D03C-9D64-C90D46EFD0DE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71A55E7F-23BA-BD0C-E805-1B3CB24EAA3E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14" name="Grafik 113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D44A2FDA-61F7-72B0-57DE-1CC6201E5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pic>
        <p:nvPicPr>
          <p:cNvPr id="100" name="Grafik 99">
            <a:extLst>
              <a:ext uri="{FF2B5EF4-FFF2-40B4-BE49-F238E27FC236}">
                <a16:creationId xmlns:a16="http://schemas.microsoft.com/office/drawing/2014/main" id="{D66CD24E-160E-8DEE-69E8-D4E0D9659F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r="70520" b="-4593"/>
          <a:stretch>
            <a:fillRect/>
          </a:stretch>
        </p:blipFill>
        <p:spPr>
          <a:xfrm>
            <a:off x="3811559" y="2241522"/>
            <a:ext cx="310184" cy="250399"/>
          </a:xfrm>
          <a:prstGeom prst="rect">
            <a:avLst/>
          </a:prstGeom>
        </p:spPr>
      </p:pic>
      <p:pic>
        <p:nvPicPr>
          <p:cNvPr id="101" name="Grafik 100" descr="Schlüssel Silhouette">
            <a:extLst>
              <a:ext uri="{FF2B5EF4-FFF2-40B4-BE49-F238E27FC236}">
                <a16:creationId xmlns:a16="http://schemas.microsoft.com/office/drawing/2014/main" id="{D999F87F-02B8-0239-7001-FA3DC22A1AC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61114" y="2193155"/>
            <a:ext cx="346391" cy="346391"/>
          </a:xfrm>
          <a:prstGeom prst="rect">
            <a:avLst/>
          </a:prstGeom>
        </p:spPr>
      </p:pic>
      <p:sp>
        <p:nvSpPr>
          <p:cNvPr id="83" name="Rechteck 82">
            <a:extLst>
              <a:ext uri="{FF2B5EF4-FFF2-40B4-BE49-F238E27FC236}">
                <a16:creationId xmlns:a16="http://schemas.microsoft.com/office/drawing/2014/main" id="{DE76F47D-68C0-109C-84F3-CBA9F0F1D94E}"/>
              </a:ext>
            </a:extLst>
          </p:cNvPr>
          <p:cNvSpPr/>
          <p:nvPr/>
        </p:nvSpPr>
        <p:spPr bwMode="gray">
          <a:xfrm>
            <a:off x="1451568" y="2164896"/>
            <a:ext cx="811212" cy="69215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CF27EF4-722E-81B4-9680-F0862B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Discussion</a:t>
            </a:r>
            <a:br>
              <a:rPr lang="de-DE" dirty="0"/>
            </a:br>
            <a:r>
              <a:rPr lang="de-DE" sz="3600" dirty="0" err="1">
                <a:solidFill>
                  <a:schemeClr val="bg2"/>
                </a:solidFill>
              </a:rPr>
              <a:t>Suitability</a:t>
            </a:r>
            <a:r>
              <a:rPr lang="de-DE" sz="3600" dirty="0">
                <a:solidFill>
                  <a:schemeClr val="bg2"/>
                </a:solidFill>
              </a:rPr>
              <a:t> </a:t>
            </a:r>
            <a:r>
              <a:rPr lang="de-DE" sz="3600" dirty="0" err="1">
                <a:solidFill>
                  <a:schemeClr val="bg2"/>
                </a:solidFill>
              </a:rPr>
              <a:t>for</a:t>
            </a:r>
            <a:r>
              <a:rPr lang="de-DE" sz="3600" dirty="0">
                <a:solidFill>
                  <a:schemeClr val="bg2"/>
                </a:solidFill>
              </a:rPr>
              <a:t> OT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E526A8-8E40-30CC-8D98-50DF599721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C3E1860-A350-404E-BF89-23A268CA0970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18220C-0DA3-061A-76DC-1CB60762DE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00263" y="6273800"/>
            <a:ext cx="6187394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161593-6F2D-82C9-0A4A-B9FB80B5A9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825D740-6926-686A-113F-E3E6D876FD94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All-</a:t>
            </a:r>
            <a:r>
              <a:rPr lang="de-DE" b="1" dirty="0" err="1"/>
              <a:t>encompassing</a:t>
            </a:r>
            <a:r>
              <a:rPr lang="de-DE" b="1" dirty="0"/>
              <a:t> </a:t>
            </a:r>
            <a:r>
              <a:rPr lang="de-DE" b="1" dirty="0" err="1"/>
              <a:t>blockchain</a:t>
            </a:r>
            <a:r>
              <a:rPr lang="de-DE" b="1" dirty="0"/>
              <a:t> </a:t>
            </a:r>
            <a:r>
              <a:rPr lang="de-DE" b="1" dirty="0" err="1"/>
              <a:t>approach</a:t>
            </a:r>
            <a:r>
              <a:rPr lang="de-DE" b="1" dirty="0"/>
              <a:t> </a:t>
            </a:r>
            <a:r>
              <a:rPr lang="de-DE" b="1" dirty="0" err="1"/>
              <a:t>may</a:t>
            </a:r>
            <a:r>
              <a:rPr lang="de-DE" b="1" dirty="0"/>
              <a:t> not </a:t>
            </a:r>
            <a:r>
              <a:rPr lang="de-DE" b="1" dirty="0" err="1"/>
              <a:t>be</a:t>
            </a:r>
            <a:r>
              <a:rPr lang="de-DE" b="1" dirty="0"/>
              <a:t> </a:t>
            </a:r>
            <a:r>
              <a:rPr lang="de-DE" b="1" dirty="0" err="1"/>
              <a:t>reasonable</a:t>
            </a:r>
            <a:endParaRPr lang="de-DE" b="1" dirty="0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D067F262-1176-FCA7-4A1B-1DC0F46FD02E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25" name="Textplatzhalter 76">
              <a:extLst>
                <a:ext uri="{FF2B5EF4-FFF2-40B4-BE49-F238E27FC236}">
                  <a16:creationId xmlns:a16="http://schemas.microsoft.com/office/drawing/2014/main" id="{DBD59D1F-4161-040E-2A17-FAFF5172EE7D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7A687621-BCFB-FFE2-921C-912180F84DB6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B99BBF5E-B652-528A-624C-AB531D011D31}"/>
              </a:ext>
            </a:extLst>
          </p:cNvPr>
          <p:cNvSpPr txBox="1"/>
          <p:nvPr/>
        </p:nvSpPr>
        <p:spPr bwMode="gray">
          <a:xfrm>
            <a:off x="371475" y="4984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</a:t>
            </a:r>
            <a:r>
              <a:rPr lang="de-DE" b="1" dirty="0" err="1"/>
              <a:t>Hierarchical</a:t>
            </a:r>
            <a:r>
              <a:rPr lang="de-DE" b="1" dirty="0"/>
              <a:t> </a:t>
            </a:r>
            <a:r>
              <a:rPr lang="de-DE" b="1" dirty="0" err="1"/>
              <a:t>separation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devices</a:t>
            </a:r>
            <a:r>
              <a:rPr lang="de-DE" b="1" dirty="0"/>
              <a:t> still </a:t>
            </a:r>
            <a:r>
              <a:rPr lang="de-DE" b="1" dirty="0" err="1"/>
              <a:t>makes</a:t>
            </a:r>
            <a:r>
              <a:rPr lang="de-DE" b="1" dirty="0"/>
              <a:t> sense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32E23DF-8EF6-C71E-FD3F-13392639F2BD}"/>
              </a:ext>
            </a:extLst>
          </p:cNvPr>
          <p:cNvGrpSpPr/>
          <p:nvPr/>
        </p:nvGrpSpPr>
        <p:grpSpPr>
          <a:xfrm>
            <a:off x="378587" y="5015830"/>
            <a:ext cx="342000" cy="342000"/>
            <a:chOff x="7320136" y="4043360"/>
            <a:chExt cx="432000" cy="432000"/>
          </a:xfrm>
        </p:grpSpPr>
        <p:sp>
          <p:nvSpPr>
            <p:cNvPr id="29" name="Textplatzhalter 76">
              <a:extLst>
                <a:ext uri="{FF2B5EF4-FFF2-40B4-BE49-F238E27FC236}">
                  <a16:creationId xmlns:a16="http://schemas.microsoft.com/office/drawing/2014/main" id="{25B94479-D2BE-C035-511B-366D53A4D4A4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45B375B9-0BF0-F32E-0BC1-FB24CC8CC8A9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DB7C6775-A106-2E5A-0B0F-E1AB960A2068}"/>
              </a:ext>
            </a:extLst>
          </p:cNvPr>
          <p:cNvGrpSpPr>
            <a:grpSpLocks noChangeAspect="1"/>
          </p:cNvGrpSpPr>
          <p:nvPr/>
        </p:nvGrpSpPr>
        <p:grpSpPr>
          <a:xfrm>
            <a:off x="1492581" y="2566939"/>
            <a:ext cx="736862" cy="241706"/>
            <a:chOff x="8023724" y="4482298"/>
            <a:chExt cx="2277000" cy="746902"/>
          </a:xfrm>
        </p:grpSpPr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8CDA5E5E-CA88-52D0-6017-04237517B725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34" name="Gruppieren 33">
                <a:extLst>
                  <a:ext uri="{FF2B5EF4-FFF2-40B4-BE49-F238E27FC236}">
                    <a16:creationId xmlns:a16="http://schemas.microsoft.com/office/drawing/2014/main" id="{5ABD10E4-19A0-8AF9-D841-C8248ED05EC9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36" name="Rechteck: abgerundete Ecken 35">
                  <a:extLst>
                    <a:ext uri="{FF2B5EF4-FFF2-40B4-BE49-F238E27FC236}">
                      <a16:creationId xmlns:a16="http://schemas.microsoft.com/office/drawing/2014/main" id="{88FAB7B6-9322-FBD8-E38A-EE97B134F53E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Rechteck: abgerundete Ecken 36">
                  <a:extLst>
                    <a:ext uri="{FF2B5EF4-FFF2-40B4-BE49-F238E27FC236}">
                      <a16:creationId xmlns:a16="http://schemas.microsoft.com/office/drawing/2014/main" id="{1D60F225-189A-015D-686A-37D25637BCAF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8" name="Rechteck: abgerundete Ecken 37">
                  <a:extLst>
                    <a:ext uri="{FF2B5EF4-FFF2-40B4-BE49-F238E27FC236}">
                      <a16:creationId xmlns:a16="http://schemas.microsoft.com/office/drawing/2014/main" id="{86AEE589-235F-33B0-9E56-395BDD005479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9" name="Rechteck: abgerundete Ecken 38">
                  <a:extLst>
                    <a:ext uri="{FF2B5EF4-FFF2-40B4-BE49-F238E27FC236}">
                      <a16:creationId xmlns:a16="http://schemas.microsoft.com/office/drawing/2014/main" id="{CA4ECAC3-BA43-F6DC-DCC8-21B9605D9D0F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" name="Rechteck: abgerundete Ecken 39">
                  <a:extLst>
                    <a:ext uri="{FF2B5EF4-FFF2-40B4-BE49-F238E27FC236}">
                      <a16:creationId xmlns:a16="http://schemas.microsoft.com/office/drawing/2014/main" id="{6EF8FE5F-6161-3524-D82D-ECE293425449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1" name="Rechteck: abgerundete Ecken 40">
                  <a:extLst>
                    <a:ext uri="{FF2B5EF4-FFF2-40B4-BE49-F238E27FC236}">
                      <a16:creationId xmlns:a16="http://schemas.microsoft.com/office/drawing/2014/main" id="{5EDDDECA-04B3-C295-0E77-E6E669BD9801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B10C5227-6AAE-A06A-29D0-2C7FD7FF1D63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33" name="Grafik 32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CD0DAA3E-B211-AC7A-B1DD-F7E1C908F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3ED3947-FF72-0A93-486D-D48165897BF9}"/>
              </a:ext>
            </a:extLst>
          </p:cNvPr>
          <p:cNvCxnSpPr>
            <a:cxnSpLocks/>
            <a:stCxn id="54" idx="0"/>
          </p:cNvCxnSpPr>
          <p:nvPr/>
        </p:nvCxnSpPr>
        <p:spPr bwMode="gray">
          <a:xfrm flipV="1">
            <a:off x="3534180" y="3580946"/>
            <a:ext cx="0" cy="35119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platzhalter 76">
            <a:extLst>
              <a:ext uri="{FF2B5EF4-FFF2-40B4-BE49-F238E27FC236}">
                <a16:creationId xmlns:a16="http://schemas.microsoft.com/office/drawing/2014/main" id="{EF5B3178-3C0D-CC3C-3EBC-D7FE7F18008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3264180" y="3932141"/>
            <a:ext cx="540000" cy="540000"/>
          </a:xfrm>
          <a:prstGeom prst="ellipse">
            <a:avLst/>
          </a:prstGeom>
          <a:solidFill>
            <a:srgbClr val="009682"/>
          </a:solidFill>
          <a:ln>
            <a:solidFill>
              <a:srgbClr val="002D4C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D6A0A8AD-91D4-8603-6677-1759A95C2DF1}"/>
              </a:ext>
            </a:extLst>
          </p:cNvPr>
          <p:cNvCxnSpPr>
            <a:cxnSpLocks/>
            <a:stCxn id="72" idx="0"/>
          </p:cNvCxnSpPr>
          <p:nvPr/>
        </p:nvCxnSpPr>
        <p:spPr bwMode="gray">
          <a:xfrm flipV="1">
            <a:off x="835902" y="3561896"/>
            <a:ext cx="0" cy="37024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791846C3-62B0-7FE6-D49C-975D36D427D9}"/>
              </a:ext>
            </a:extLst>
          </p:cNvPr>
          <p:cNvCxnSpPr>
            <a:cxnSpLocks/>
            <a:stCxn id="70" idx="0"/>
          </p:cNvCxnSpPr>
          <p:nvPr/>
        </p:nvCxnSpPr>
        <p:spPr bwMode="gray">
          <a:xfrm flipV="1">
            <a:off x="2347710" y="3585709"/>
            <a:ext cx="0" cy="3464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AF983DC6-B149-F3CD-B1C3-FA2367E2EE93}"/>
              </a:ext>
            </a:extLst>
          </p:cNvPr>
          <p:cNvCxnSpPr>
            <a:cxnSpLocks/>
            <a:endCxn id="76" idx="2"/>
          </p:cNvCxnSpPr>
          <p:nvPr/>
        </p:nvCxnSpPr>
        <p:spPr bwMode="gray">
          <a:xfrm flipV="1">
            <a:off x="3860735" y="3304720"/>
            <a:ext cx="0" cy="2881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A220CAB0-93A1-46EE-6006-69E5957EB9B1}"/>
              </a:ext>
            </a:extLst>
          </p:cNvPr>
          <p:cNvCxnSpPr>
            <a:cxnSpLocks/>
            <a:endCxn id="71" idx="4"/>
          </p:cNvCxnSpPr>
          <p:nvPr/>
        </p:nvCxnSpPr>
        <p:spPr bwMode="gray">
          <a:xfrm flipV="1">
            <a:off x="1591806" y="3319579"/>
            <a:ext cx="0" cy="27089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platzhalter 76">
            <a:extLst>
              <a:ext uri="{FF2B5EF4-FFF2-40B4-BE49-F238E27FC236}">
                <a16:creationId xmlns:a16="http://schemas.microsoft.com/office/drawing/2014/main" id="{02CECA21-B856-0D03-42D6-EB8F0B856C89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2077710" y="3932141"/>
            <a:ext cx="540000" cy="540000"/>
          </a:xfrm>
          <a:prstGeom prst="ellipse">
            <a:avLst/>
          </a:prstGeom>
          <a:solidFill>
            <a:srgbClr val="009682"/>
          </a:solidFill>
          <a:ln>
            <a:solidFill>
              <a:srgbClr val="002D4C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sp>
        <p:nvSpPr>
          <p:cNvPr id="71" name="Textplatzhalter 76">
            <a:extLst>
              <a:ext uri="{FF2B5EF4-FFF2-40B4-BE49-F238E27FC236}">
                <a16:creationId xmlns:a16="http://schemas.microsoft.com/office/drawing/2014/main" id="{6EF3848A-34F8-2EF5-B9D3-F6F6D553571D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321806" y="2779579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sp>
        <p:nvSpPr>
          <p:cNvPr id="72" name="Textplatzhalter 76">
            <a:extLst>
              <a:ext uri="{FF2B5EF4-FFF2-40B4-BE49-F238E27FC236}">
                <a16:creationId xmlns:a16="http://schemas.microsoft.com/office/drawing/2014/main" id="{5AD2CDB8-F835-270B-5F18-3275671BF588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565902" y="3932141"/>
            <a:ext cx="540000" cy="540000"/>
          </a:xfrm>
          <a:prstGeom prst="ellipse">
            <a:avLst/>
          </a:prstGeom>
          <a:solidFill>
            <a:srgbClr val="009682"/>
          </a:solidFill>
          <a:ln>
            <a:solidFill>
              <a:srgbClr val="002D4C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sp>
        <p:nvSpPr>
          <p:cNvPr id="73" name="Textplatzhalter 76">
            <a:extLst>
              <a:ext uri="{FF2B5EF4-FFF2-40B4-BE49-F238E27FC236}">
                <a16:creationId xmlns:a16="http://schemas.microsoft.com/office/drawing/2014/main" id="{BA355602-AB66-20EA-E568-271AB515FE76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3589518" y="2779579"/>
            <a:ext cx="540000" cy="540000"/>
          </a:xfrm>
          <a:prstGeom prst="ellipse">
            <a:avLst/>
          </a:prstGeom>
          <a:solidFill>
            <a:srgbClr val="002D4C"/>
          </a:solid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800" dirty="0">
              <a:solidFill>
                <a:schemeClr val="bg1"/>
              </a:solidFill>
            </a:endParaRPr>
          </a:p>
        </p:txBody>
      </p:sp>
      <p:pic>
        <p:nvPicPr>
          <p:cNvPr id="74" name="Grafik 73" descr="Glühbirne und Zahnrad Silhouette">
            <a:extLst>
              <a:ext uri="{FF2B5EF4-FFF2-40B4-BE49-F238E27FC236}">
                <a16:creationId xmlns:a16="http://schemas.microsoft.com/office/drawing/2014/main" id="{FED7656B-5BD5-CB54-784A-9D8449E7EB8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10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323" y="3981034"/>
            <a:ext cx="438150" cy="438150"/>
          </a:xfrm>
          <a:prstGeom prst="rect">
            <a:avLst/>
          </a:prstGeom>
        </p:spPr>
      </p:pic>
      <p:pic>
        <p:nvPicPr>
          <p:cNvPr id="75" name="Grafik 74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7FD03C4-4A9A-1555-7593-FEBF1346DA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1375142" y="2906145"/>
            <a:ext cx="438560" cy="274752"/>
          </a:xfrm>
          <a:prstGeom prst="rect">
            <a:avLst/>
          </a:prstGeom>
        </p:spPr>
      </p:pic>
      <p:pic>
        <p:nvPicPr>
          <p:cNvPr id="76" name="Grafik 75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9C4D0897-71E4-EE66-001F-02FBE8C1D06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10840" y="2804931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rafik 76" descr="Glühbirne und Zahnrad Silhouette">
            <a:extLst>
              <a:ext uri="{FF2B5EF4-FFF2-40B4-BE49-F238E27FC236}">
                <a16:creationId xmlns:a16="http://schemas.microsoft.com/office/drawing/2014/main" id="{44EBAADA-3DA3-3E48-A40C-E3C6B6ACD284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10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30625" y="3981827"/>
            <a:ext cx="438150" cy="438150"/>
          </a:xfrm>
          <a:prstGeom prst="rect">
            <a:avLst/>
          </a:prstGeom>
        </p:spPr>
      </p:pic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90367812-18C0-6C24-51E5-905FDBBC4843}"/>
              </a:ext>
            </a:extLst>
          </p:cNvPr>
          <p:cNvCxnSpPr>
            <a:cxnSpLocks/>
          </p:cNvCxnSpPr>
          <p:nvPr/>
        </p:nvCxnSpPr>
        <p:spPr bwMode="gray">
          <a:xfrm>
            <a:off x="829268" y="3576184"/>
            <a:ext cx="3043237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feld 78">
            <a:extLst>
              <a:ext uri="{FF2B5EF4-FFF2-40B4-BE49-F238E27FC236}">
                <a16:creationId xmlns:a16="http://schemas.microsoft.com/office/drawing/2014/main" id="{A56EE0D4-60C3-52F2-5767-F68103DFC897}"/>
              </a:ext>
            </a:extLst>
          </p:cNvPr>
          <p:cNvSpPr txBox="1"/>
          <p:nvPr/>
        </p:nvSpPr>
        <p:spPr bwMode="gray">
          <a:xfrm>
            <a:off x="592730" y="2883280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PLC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6041940A-F812-63CF-9A1C-FF69BE6FAA68}"/>
              </a:ext>
            </a:extLst>
          </p:cNvPr>
          <p:cNvSpPr txBox="1"/>
          <p:nvPr/>
        </p:nvSpPr>
        <p:spPr bwMode="gray">
          <a:xfrm>
            <a:off x="2872380" y="2882171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HMI</a:t>
            </a:r>
          </a:p>
        </p:txBody>
      </p:sp>
      <p:pic>
        <p:nvPicPr>
          <p:cNvPr id="81" name="Grafik 80" descr="Glühbirne und Zahnrad Silhouette">
            <a:extLst>
              <a:ext uri="{FF2B5EF4-FFF2-40B4-BE49-F238E27FC236}">
                <a16:creationId xmlns:a16="http://schemas.microsoft.com/office/drawing/2014/main" id="{62BE8020-5FAB-58B9-EB52-3B4D0BC6A25F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10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19662" y="3981827"/>
            <a:ext cx="438150" cy="438150"/>
          </a:xfrm>
          <a:prstGeom prst="rect">
            <a:avLst/>
          </a:prstGeom>
        </p:spPr>
      </p:pic>
      <p:pic>
        <p:nvPicPr>
          <p:cNvPr id="82" name="Grafik 81">
            <a:extLst>
              <a:ext uri="{FF2B5EF4-FFF2-40B4-BE49-F238E27FC236}">
                <a16:creationId xmlns:a16="http://schemas.microsoft.com/office/drawing/2014/main" id="{6F1C42B1-2F5A-3995-6367-F3BDCB8682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r="70520" b="-4593"/>
          <a:stretch>
            <a:fillRect/>
          </a:stretch>
        </p:blipFill>
        <p:spPr>
          <a:xfrm>
            <a:off x="1528734" y="2241522"/>
            <a:ext cx="310184" cy="250399"/>
          </a:xfrm>
          <a:prstGeom prst="rect">
            <a:avLst/>
          </a:prstGeom>
        </p:spPr>
      </p:pic>
      <p:pic>
        <p:nvPicPr>
          <p:cNvPr id="84" name="Grafik 83" descr="Schlüssel Silhouette">
            <a:extLst>
              <a:ext uri="{FF2B5EF4-FFF2-40B4-BE49-F238E27FC236}">
                <a16:creationId xmlns:a16="http://schemas.microsoft.com/office/drawing/2014/main" id="{A49BDCAB-AA44-ADFE-CCEA-00569FB5399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78289" y="2193155"/>
            <a:ext cx="346391" cy="346391"/>
          </a:xfrm>
          <a:prstGeom prst="rect">
            <a:avLst/>
          </a:prstGeom>
        </p:spPr>
      </p:pic>
      <p:cxnSp>
        <p:nvCxnSpPr>
          <p:cNvPr id="103" name="Verbinder: gewinkelt 102">
            <a:extLst>
              <a:ext uri="{FF2B5EF4-FFF2-40B4-BE49-F238E27FC236}">
                <a16:creationId xmlns:a16="http://schemas.microsoft.com/office/drawing/2014/main" id="{CD01EE7C-2CF6-B9AD-CF82-96CF60F8459A}"/>
              </a:ext>
            </a:extLst>
          </p:cNvPr>
          <p:cNvCxnSpPr>
            <a:stCxn id="70" idx="6"/>
            <a:endCxn id="41" idx="3"/>
          </p:cNvCxnSpPr>
          <p:nvPr/>
        </p:nvCxnSpPr>
        <p:spPr bwMode="gray">
          <a:xfrm flipH="1" flipV="1">
            <a:off x="2229443" y="2687980"/>
            <a:ext cx="388267" cy="1514161"/>
          </a:xfrm>
          <a:prstGeom prst="bentConnector3">
            <a:avLst>
              <a:gd name="adj1" fmla="val -58877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Verbinder: gewinkelt 105">
            <a:extLst>
              <a:ext uri="{FF2B5EF4-FFF2-40B4-BE49-F238E27FC236}">
                <a16:creationId xmlns:a16="http://schemas.microsoft.com/office/drawing/2014/main" id="{DD4143BA-C6CA-1C7E-AA6C-55CFB06DCF43}"/>
              </a:ext>
            </a:extLst>
          </p:cNvPr>
          <p:cNvCxnSpPr>
            <a:cxnSpLocks/>
            <a:stCxn id="70" idx="6"/>
            <a:endCxn id="64" idx="1"/>
          </p:cNvCxnSpPr>
          <p:nvPr/>
        </p:nvCxnSpPr>
        <p:spPr bwMode="gray">
          <a:xfrm flipV="1">
            <a:off x="2617710" y="2687537"/>
            <a:ext cx="1156108" cy="1514604"/>
          </a:xfrm>
          <a:prstGeom prst="bentConnector3">
            <a:avLst>
              <a:gd name="adj1" fmla="val 20066"/>
            </a:avLst>
          </a:prstGeom>
          <a:ln w="28575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feld 128">
            <a:extLst>
              <a:ext uri="{FF2B5EF4-FFF2-40B4-BE49-F238E27FC236}">
                <a16:creationId xmlns:a16="http://schemas.microsoft.com/office/drawing/2014/main" id="{2D435C4E-BA8D-E898-8D32-1E3F98984F89}"/>
              </a:ext>
            </a:extLst>
          </p:cNvPr>
          <p:cNvSpPr txBox="1">
            <a:spLocks/>
          </p:cNvSpPr>
          <p:nvPr/>
        </p:nvSpPr>
        <p:spPr>
          <a:xfrm>
            <a:off x="381000" y="5868504"/>
            <a:ext cx="6271260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[8] </a:t>
            </a:r>
            <a:r>
              <a:rPr lang="en-US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Dykcik</a:t>
            </a: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et al. (2018). </a:t>
            </a:r>
            <a:r>
              <a:rPr lang="en-US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BlockPKI</a:t>
            </a: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: An automated, resilient, and transparent public-key infrastructure</a:t>
            </a:r>
            <a:r>
              <a:rPr lang="de-DE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[9] Cloudflare (2025). Keeping </a:t>
            </a:r>
            <a:r>
              <a:rPr lang="de-DE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</a:t>
            </a:r>
            <a:r>
              <a:rPr lang="de-DE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de-DE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internet</a:t>
            </a:r>
            <a:r>
              <a:rPr lang="de-DE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fast and </a:t>
            </a:r>
            <a:r>
              <a:rPr lang="de-DE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secure</a:t>
            </a:r>
            <a:r>
              <a:rPr lang="de-DE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  <a:r>
              <a:rPr lang="de-DE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introducing</a:t>
            </a:r>
            <a:r>
              <a:rPr lang="de-DE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Merkle </a:t>
            </a:r>
            <a:r>
              <a:rPr lang="de-DE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tree</a:t>
            </a:r>
            <a:r>
              <a:rPr lang="de-DE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de-DE" sz="1100" dirty="0" err="1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certificates</a:t>
            </a:r>
            <a:endParaRPr lang="en-US" sz="1100" dirty="0">
              <a:solidFill>
                <a:srgbClr val="002D4C"/>
              </a:solidFill>
              <a:latin typeface="Arial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0" name="Textfeld 129">
            <a:extLst>
              <a:ext uri="{FF2B5EF4-FFF2-40B4-BE49-F238E27FC236}">
                <a16:creationId xmlns:a16="http://schemas.microsoft.com/office/drawing/2014/main" id="{F8541EDA-937B-2E1D-20C4-A293B0A93476}"/>
              </a:ext>
            </a:extLst>
          </p:cNvPr>
          <p:cNvSpPr txBox="1"/>
          <p:nvPr/>
        </p:nvSpPr>
        <p:spPr bwMode="gray">
          <a:xfrm>
            <a:off x="4147074" y="4073815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b="1" dirty="0"/>
              <a:t>Sensors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29B1451-6954-1E09-7DAC-F381DE290414}"/>
              </a:ext>
            </a:extLst>
          </p:cNvPr>
          <p:cNvSpPr txBox="1"/>
          <p:nvPr/>
        </p:nvSpPr>
        <p:spPr bwMode="gray">
          <a:xfrm>
            <a:off x="6182812" y="3952665"/>
            <a:ext cx="632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      </a:t>
            </a:r>
            <a:r>
              <a:rPr lang="de-DE" b="1" dirty="0" err="1"/>
              <a:t>No</a:t>
            </a:r>
            <a:r>
              <a:rPr lang="de-DE" b="1" dirty="0"/>
              <a:t> </a:t>
            </a:r>
            <a:r>
              <a:rPr lang="de-DE" b="1" dirty="0" err="1"/>
              <a:t>centralized</a:t>
            </a:r>
            <a:r>
              <a:rPr lang="de-DE" b="1" dirty="0"/>
              <a:t> root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trust</a:t>
            </a:r>
            <a:endParaRPr lang="de-DE" b="1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2759982-61B2-C699-A63F-311AE1E1B869}"/>
              </a:ext>
            </a:extLst>
          </p:cNvPr>
          <p:cNvSpPr txBox="1"/>
          <p:nvPr/>
        </p:nvSpPr>
        <p:spPr bwMode="gray">
          <a:xfrm>
            <a:off x="6182812" y="2884137"/>
            <a:ext cx="632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      Self-</a:t>
            </a:r>
            <a:r>
              <a:rPr lang="de-DE" b="1" dirty="0" err="1"/>
              <a:t>sufficient</a:t>
            </a:r>
            <a:endParaRPr lang="de-DE" b="1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120A5B9-72F5-A2F7-4015-34B906DC1280}"/>
              </a:ext>
            </a:extLst>
          </p:cNvPr>
          <p:cNvSpPr txBox="1"/>
          <p:nvPr/>
        </p:nvSpPr>
        <p:spPr bwMode="gray">
          <a:xfrm>
            <a:off x="6182812" y="3240313"/>
            <a:ext cx="632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      </a:t>
            </a:r>
            <a:r>
              <a:rPr lang="de-DE" b="1" dirty="0" err="1"/>
              <a:t>Automated</a:t>
            </a:r>
            <a:r>
              <a:rPr lang="de-DE" b="1" dirty="0"/>
              <a:t>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FBBFE8A-056B-5C6F-E8B2-1F98047A421C}"/>
              </a:ext>
            </a:extLst>
          </p:cNvPr>
          <p:cNvSpPr txBox="1"/>
          <p:nvPr/>
        </p:nvSpPr>
        <p:spPr bwMode="gray">
          <a:xfrm>
            <a:off x="6182812" y="3596489"/>
            <a:ext cx="632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/      </a:t>
            </a:r>
            <a:r>
              <a:rPr lang="de-DE" b="1" dirty="0" err="1"/>
              <a:t>Resource-efficient</a:t>
            </a:r>
            <a:r>
              <a:rPr lang="de-DE" b="1" dirty="0"/>
              <a:t> 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8BCA8176-3196-ABDE-00D5-FD93C094D69D}"/>
              </a:ext>
            </a:extLst>
          </p:cNvPr>
          <p:cNvSpPr txBox="1"/>
          <p:nvPr/>
        </p:nvSpPr>
        <p:spPr bwMode="gray">
          <a:xfrm>
            <a:off x="6182812" y="2527961"/>
            <a:ext cx="632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      </a:t>
            </a:r>
            <a:r>
              <a:rPr lang="de-DE" b="1" dirty="0" err="1"/>
              <a:t>Compatible</a:t>
            </a:r>
            <a:r>
              <a:rPr lang="de-DE" b="1" dirty="0"/>
              <a:t> </a:t>
            </a:r>
            <a:r>
              <a:rPr lang="de-DE" b="1" dirty="0" err="1"/>
              <a:t>with</a:t>
            </a:r>
            <a:r>
              <a:rPr lang="de-DE" b="1" dirty="0"/>
              <a:t> </a:t>
            </a:r>
            <a:r>
              <a:rPr lang="de-DE" b="1" dirty="0" err="1"/>
              <a:t>regular</a:t>
            </a:r>
            <a:r>
              <a:rPr lang="de-DE" b="1" dirty="0"/>
              <a:t> PKI</a:t>
            </a: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175235D9-8359-D612-4FD3-7659547EEC1C}"/>
              </a:ext>
            </a:extLst>
          </p:cNvPr>
          <p:cNvGrpSpPr/>
          <p:nvPr/>
        </p:nvGrpSpPr>
        <p:grpSpPr>
          <a:xfrm>
            <a:off x="6213209" y="2553235"/>
            <a:ext cx="331105" cy="319065"/>
            <a:chOff x="6203950" y="2825279"/>
            <a:chExt cx="432000" cy="432000"/>
          </a:xfrm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5EEAB86D-E31B-D8D1-6A6C-6F16D8E6AB6A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4CF7C265-2DF5-1064-3A3A-22BF17171446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52" name="Gerader Verbinder 51">
                <a:extLst>
                  <a:ext uri="{FF2B5EF4-FFF2-40B4-BE49-F238E27FC236}">
                    <a16:creationId xmlns:a16="http://schemas.microsoft.com/office/drawing/2014/main" id="{68058979-CF56-34EA-03FB-90C5171E66A2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Gerader Verbinder 84">
                <a:extLst>
                  <a:ext uri="{FF2B5EF4-FFF2-40B4-BE49-F238E27FC236}">
                    <a16:creationId xmlns:a16="http://schemas.microsoft.com/office/drawing/2014/main" id="{B146EC42-E3DD-572F-487A-52A0B1DE990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E97F977C-95EE-284F-0B29-A51C7B2340BC}"/>
              </a:ext>
            </a:extLst>
          </p:cNvPr>
          <p:cNvGrpSpPr/>
          <p:nvPr/>
        </p:nvGrpSpPr>
        <p:grpSpPr>
          <a:xfrm>
            <a:off x="6213209" y="2908513"/>
            <a:ext cx="331105" cy="319065"/>
            <a:chOff x="6203950" y="2825279"/>
            <a:chExt cx="432000" cy="432000"/>
          </a:xfrm>
        </p:grpSpPr>
        <p:sp>
          <p:nvSpPr>
            <p:cNvPr id="87" name="Ellipse 86">
              <a:extLst>
                <a:ext uri="{FF2B5EF4-FFF2-40B4-BE49-F238E27FC236}">
                  <a16:creationId xmlns:a16="http://schemas.microsoft.com/office/drawing/2014/main" id="{2831F3BC-82D3-0B6C-43E9-EF75324E1949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0AE0CAF7-804C-BC27-34FE-A70C7D910416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89" name="Gerader Verbinder 88">
                <a:extLst>
                  <a:ext uri="{FF2B5EF4-FFF2-40B4-BE49-F238E27FC236}">
                    <a16:creationId xmlns:a16="http://schemas.microsoft.com/office/drawing/2014/main" id="{E754B75D-5B68-6ED9-3CAB-58458098ACAB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Gerader Verbinder 89">
                <a:extLst>
                  <a:ext uri="{FF2B5EF4-FFF2-40B4-BE49-F238E27FC236}">
                    <a16:creationId xmlns:a16="http://schemas.microsoft.com/office/drawing/2014/main" id="{9A4093F4-4DAF-4BE0-DF44-C3E44C43153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D4C2D6EC-A1A8-9CB4-8B8A-95B8465F3D10}"/>
              </a:ext>
            </a:extLst>
          </p:cNvPr>
          <p:cNvGrpSpPr/>
          <p:nvPr/>
        </p:nvGrpSpPr>
        <p:grpSpPr>
          <a:xfrm>
            <a:off x="6213209" y="3263791"/>
            <a:ext cx="331105" cy="319065"/>
            <a:chOff x="6203950" y="2825279"/>
            <a:chExt cx="432000" cy="432000"/>
          </a:xfrm>
        </p:grpSpPr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634EF47D-E7A9-285A-923D-E777CCF90024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28F56A94-2CB3-D20A-8533-8D9EA5CF979E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94" name="Gerader Verbinder 93">
                <a:extLst>
                  <a:ext uri="{FF2B5EF4-FFF2-40B4-BE49-F238E27FC236}">
                    <a16:creationId xmlns:a16="http://schemas.microsoft.com/office/drawing/2014/main" id="{A8A61DEF-5328-CD15-EAF4-1964454E045F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Gerader Verbinder 94">
                <a:extLst>
                  <a:ext uri="{FF2B5EF4-FFF2-40B4-BE49-F238E27FC236}">
                    <a16:creationId xmlns:a16="http://schemas.microsoft.com/office/drawing/2014/main" id="{F20AEB6F-01D2-E693-5F83-7497E05A2D5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91F44092-3CA2-1B12-4AB2-240525933B34}"/>
              </a:ext>
            </a:extLst>
          </p:cNvPr>
          <p:cNvGrpSpPr/>
          <p:nvPr/>
        </p:nvGrpSpPr>
        <p:grpSpPr>
          <a:xfrm>
            <a:off x="6213209" y="3977223"/>
            <a:ext cx="331105" cy="319065"/>
            <a:chOff x="6203950" y="2825279"/>
            <a:chExt cx="432000" cy="432000"/>
          </a:xfrm>
        </p:grpSpPr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87D079E4-5EE9-091C-B27E-D422876FA105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606A06E8-38E9-657D-23A0-947BBD0BD83D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10" name="Gerader Verbinder 109">
                <a:extLst>
                  <a:ext uri="{FF2B5EF4-FFF2-40B4-BE49-F238E27FC236}">
                    <a16:creationId xmlns:a16="http://schemas.microsoft.com/office/drawing/2014/main" id="{1F3E847F-2A1B-8EFD-5081-CB43033AF83E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DE53D3CF-DF9E-4E20-6B7A-C21E6D5B46FC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5" name="Textplatzhalter 76">
            <a:extLst>
              <a:ext uri="{FF2B5EF4-FFF2-40B4-BE49-F238E27FC236}">
                <a16:creationId xmlns:a16="http://schemas.microsoft.com/office/drawing/2014/main" id="{B1B99A58-29A0-93D0-1D91-B03F21AED8CB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6636388" y="3619421"/>
            <a:ext cx="325317" cy="311944"/>
          </a:xfrm>
          <a:prstGeom prst="ellipse">
            <a:avLst/>
          </a:prstGeom>
          <a:solidFill>
            <a:srgbClr val="DF9B1B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1600" dirty="0">
                <a:solidFill>
                  <a:schemeClr val="bg1"/>
                </a:solidFill>
              </a:rPr>
              <a:t>?</a:t>
            </a: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054B223C-CEDE-BD1D-489B-7AD25952A078}"/>
              </a:ext>
            </a:extLst>
          </p:cNvPr>
          <p:cNvSpPr txBox="1"/>
          <p:nvPr/>
        </p:nvSpPr>
        <p:spPr bwMode="gray">
          <a:xfrm>
            <a:off x="6174740" y="2138363"/>
            <a:ext cx="6053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de-DE" b="1" dirty="0" err="1"/>
              <a:t>Achieved</a:t>
            </a:r>
            <a:r>
              <a:rPr lang="de-DE" b="1" dirty="0"/>
              <a:t> </a:t>
            </a:r>
            <a:r>
              <a:rPr lang="de-DE" b="1" dirty="0" err="1"/>
              <a:t>goals</a:t>
            </a:r>
            <a:r>
              <a:rPr lang="de-DE" b="1" dirty="0"/>
              <a:t>: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93C6487-BE76-D1C4-0676-B24B08A1719F}"/>
              </a:ext>
            </a:extLst>
          </p:cNvPr>
          <p:cNvGrpSpPr/>
          <p:nvPr/>
        </p:nvGrpSpPr>
        <p:grpSpPr>
          <a:xfrm>
            <a:off x="6213209" y="3619069"/>
            <a:ext cx="331105" cy="321940"/>
            <a:chOff x="6817001" y="3335951"/>
            <a:chExt cx="432000" cy="432000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AC6B643-B0E5-CBC6-DA60-DBAC675E1B28}"/>
                </a:ext>
              </a:extLst>
            </p:cNvPr>
            <p:cNvSpPr/>
            <p:nvPr/>
          </p:nvSpPr>
          <p:spPr bwMode="gray">
            <a:xfrm>
              <a:off x="6817001" y="3335951"/>
              <a:ext cx="432000" cy="432000"/>
            </a:xfrm>
            <a:prstGeom prst="ellipse">
              <a:avLst/>
            </a:prstGeom>
            <a:solidFill>
              <a:srgbClr val="D30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6B2F546B-11F0-0E31-035D-2DB245C9E523}"/>
                </a:ext>
              </a:extLst>
            </p:cNvPr>
            <p:cNvGrpSpPr/>
            <p:nvPr/>
          </p:nvGrpSpPr>
          <p:grpSpPr>
            <a:xfrm>
              <a:off x="6945062" y="3464012"/>
              <a:ext cx="175878" cy="175878"/>
              <a:chOff x="7104112" y="2564904"/>
              <a:chExt cx="360313" cy="360313"/>
            </a:xfrm>
          </p:grpSpPr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F566F98C-1B17-A059-5EB1-C2910B84C8F2}"/>
                  </a:ext>
                </a:extLst>
              </p:cNvPr>
              <p:cNvCxnSpPr/>
              <p:nvPr/>
            </p:nvCxnSpPr>
            <p:spPr bwMode="gray">
              <a:xfrm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5FDBE1F7-CAD6-C7A4-F4A6-97B236D682A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0167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23" grpId="0"/>
      <p:bldP spid="129" grpId="0"/>
      <p:bldP spid="3" grpId="0"/>
      <p:bldP spid="10" grpId="0"/>
      <p:bldP spid="14" grpId="0"/>
      <p:bldP spid="18" grpId="0"/>
      <p:bldP spid="45" grpId="0"/>
      <p:bldP spid="125" grpId="0" animBg="1"/>
      <p:bldP spid="1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D1901-64D4-84D2-AFEA-2ECCB671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A634634-8F78-D36B-5356-824A11941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Demonstration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C171D-1F1A-38EE-30B7-88C19CDE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fld id="{1D4E72CD-DAC9-42E7-BC50-8E112B40726C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8BAD3-141E-34E8-4D52-BFE6BB23A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de-DE" dirty="0"/>
              <a:t>Vorname Name - Präsentationstitel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3935E-D602-3EEF-B605-944EBA857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de-DE" smtClean="0"/>
              <a:pPr/>
              <a:t>31</a:t>
            </a:fld>
            <a:endParaRPr lang="de-DE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5C65D7B-9267-7670-0884-DAB5F756A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t="14179" b="-215"/>
          <a:stretch/>
        </p:blipFill>
        <p:spPr>
          <a:xfrm>
            <a:off x="0" y="1"/>
            <a:ext cx="12191999" cy="382428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06427B-E4D0-5D34-311F-965B5C79A4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Chapter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C640A0-2181-F5FD-1CCA-B8635A9296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07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323115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2026-03-22 10-07-16">
            <a:hlinkClick r:id="" action="ppaction://media"/>
            <a:extLst>
              <a:ext uri="{FF2B5EF4-FFF2-40B4-BE49-F238E27FC236}">
                <a16:creationId xmlns:a16="http://schemas.microsoft.com/office/drawing/2014/main" id="{F1E7C489-E058-E7F7-0D52-D61CEABEAB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507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41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9" name="Zusammenfassungszoom 8">
                <a:extLst>
                  <a:ext uri="{FF2B5EF4-FFF2-40B4-BE49-F238E27FC236}">
                    <a16:creationId xmlns:a16="http://schemas.microsoft.com/office/drawing/2014/main" id="{0D64E115-E1EB-56C4-2B50-B6AECD2B1E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9385543"/>
                  </p:ext>
                </p:extLst>
              </p:nvPr>
            </p:nvGraphicFramePr>
            <p:xfrm>
              <a:off x="1328060" y="383347"/>
              <a:ext cx="9533621" cy="5560253"/>
            </p:xfrm>
            <a:graphic>
              <a:graphicData uri="http://schemas.microsoft.com/office/powerpoint/2016/summaryzoom">
                <psuz:summaryZm>
                  <psuz:summaryZmObj sectionId="{EF52AE5A-8C9E-449C-824B-D23EFEC3ADBC}">
                    <psuz:zmPr id="{0E788081-43C1-4A6C-9D8C-BAE32CCBCBF3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56021" y="246269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5D3DDF6C-A851-4097-A997-9B05DEBCEE60}">
                    <psuz:zmPr id="{DB6EEBB3-E5AE-4A34-AF1C-3B9483A46522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581526" y="246269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4599C73-7520-4E24-AEE9-1F6B94BF3CBC}">
                    <psuz:zmPr id="{B8E6C251-85D8-4031-BAD1-B01FA9DC9A84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07031" y="246269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A69F0B2-DE56-4413-AFE2-4BB74F672DAF}">
                    <psuz:zmPr id="{78B8E6D3-A92B-45A9-A846-E5E528017322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032536" y="246269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54B49D3-C013-414C-A81D-40BAFF9AE9BB}">
                    <psuz:zmPr id="{6B482213-2D01-4440-B564-DF3C07673923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56021" y="1533308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F789E99-1C5E-418C-A3A7-151B0A936A2E}">
                    <psuz:zmPr id="{0E579D5C-525A-4129-9467-3CF2F56C2436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581526" y="1533308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30865FD-81B4-4490-975E-67E4D613901F}">
                    <psuz:zmPr id="{669BDCA3-D27A-4628-8BC3-0A329E1553D1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07031" y="1533308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5B1EC4A-50BB-471A-AF86-067627C299D6}">
                    <psuz:zmPr id="{A914A3CB-6603-482B-AF98-AA17F55EC6B2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032536" y="1533308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A462045-E79B-4651-9346-130522BBADFE}">
                    <psuz:zmPr id="{08785312-2AA5-4FD3-BD71-0C16730B887A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56021" y="2820347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B82666F-B807-4807-984B-D36BEFEC2B1A}">
                    <psuz:zmPr id="{AAC2AE8A-56F8-4700-9825-5E2DD1A46A40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581526" y="2820347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A0B9481-818A-444C-A1EB-81C899973267}">
                    <psuz:zmPr id="{B2B305DE-8AA1-4910-BB04-A48D5872D3C6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07031" y="2820347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7944946-119F-4633-94A0-CF0CAE8368D9}">
                    <psuz:zmPr id="{086CE6FC-2F8A-4946-BDFF-770A97EA9CE8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032536" y="2820347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509A3E8-F867-4C9C-837A-EFD63AED6510}">
                    <psuz:zmPr id="{668E02E8-50DE-4F25-9EA1-5078CAE8554E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56021" y="4107386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3F56355-FAA3-4CDC-80F4-072E0EA25DCA}">
                    <psuz:zmPr id="{EDFB30CB-8EF0-4F73-9E3F-A591F7E62BD3}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581526" y="4107386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8B26F1A-E641-4086-86D3-8116BFE05FB9}">
                    <psuz:zmPr id="{7188717A-A5CD-4D66-BC64-EFF518B2636F}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07031" y="4107386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8DD34C3-735B-4557-AE08-EA7823050CCB}">
                    <psuz:zmPr id="{AEAB2253-14B6-4DED-AECF-713659A82543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032536" y="4107386"/>
                          <a:ext cx="2145065" cy="12065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9" name="Zusammenfassungszoom 8">
                <a:extLst>
                  <a:ext uri="{FF2B5EF4-FFF2-40B4-BE49-F238E27FC236}">
                    <a16:creationId xmlns:a16="http://schemas.microsoft.com/office/drawing/2014/main" id="{0D64E115-E1EB-56C4-2B50-B6AECD2B1EF4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328060" y="383347"/>
                <a:ext cx="9533621" cy="5560253"/>
                <a:chOff x="1328060" y="383347"/>
                <a:chExt cx="9533621" cy="5560253"/>
              </a:xfrm>
            </p:grpSpPr>
            <p:pic>
              <p:nvPicPr>
                <p:cNvPr id="2" name="Grafik 2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684081" y="629616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" name="Grafik 3">
                  <a:hlinkClick r:id="rId1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09586" y="629616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Grafik 4">
                  <a:hlinkClick r:id="rId2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35091" y="629616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5" name="Grafik 5">
                  <a:hlinkClick r:id="rId2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60596" y="629616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Grafik 6">
                  <a:hlinkClick r:id="rId2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84081" y="1916655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Grafik 7">
                  <a:hlinkClick r:id="rId2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09586" y="1916655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Grafik 8">
                  <a:hlinkClick r:id="rId2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35091" y="1916655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Grafik 10">
                  <a:hlinkClick r:id="rId2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60596" y="1916655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Grafik 11">
                  <a:hlinkClick r:id="rId2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84081" y="3203694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Grafik 12">
                  <a:hlinkClick r:id="rId2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09586" y="3203694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Grafik 13">
                  <a:hlinkClick r:id="rId2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35091" y="3203694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Grafik 14">
                  <a:hlinkClick r:id="rId2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60596" y="3203694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Grafik 15">
                  <a:hlinkClick r:id="rId3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84081" y="4490733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6" name="Grafik 16">
                  <a:hlinkClick r:id="rId3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09586" y="4490733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7" name="Grafik 17">
                  <a:hlinkClick r:id="rId3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35091" y="4490733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8" name="Grafik 18">
                  <a:hlinkClick r:id="rId3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60596" y="4490733"/>
                  <a:ext cx="2145065" cy="120659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285027855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18063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B8963A7F-E6BB-4590-7382-2BF4AE19F855}"/>
              </a:ext>
            </a:extLst>
          </p:cNvPr>
          <p:cNvCxnSpPr>
            <a:cxnSpLocks/>
          </p:cNvCxnSpPr>
          <p:nvPr/>
        </p:nvCxnSpPr>
        <p:spPr bwMode="gray">
          <a:xfrm>
            <a:off x="1238250" y="3784594"/>
            <a:ext cx="3238500" cy="0"/>
          </a:xfrm>
          <a:prstGeom prst="line">
            <a:avLst/>
          </a:prstGeom>
          <a:ln w="3175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D9268214-4D9D-D71F-F536-81169B0DAB71}"/>
              </a:ext>
            </a:extLst>
          </p:cNvPr>
          <p:cNvCxnSpPr>
            <a:cxnSpLocks/>
          </p:cNvCxnSpPr>
          <p:nvPr/>
        </p:nvCxnSpPr>
        <p:spPr bwMode="gray">
          <a:xfrm>
            <a:off x="1238250" y="3784594"/>
            <a:ext cx="6483350" cy="241300"/>
          </a:xfrm>
          <a:prstGeom prst="line">
            <a:avLst/>
          </a:prstGeom>
          <a:ln w="3175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9F279199-F00A-9625-00A7-388C9D611F08}"/>
              </a:ext>
            </a:extLst>
          </p:cNvPr>
          <p:cNvCxnSpPr>
            <a:cxnSpLocks/>
          </p:cNvCxnSpPr>
          <p:nvPr/>
        </p:nvCxnSpPr>
        <p:spPr bwMode="gray">
          <a:xfrm>
            <a:off x="1238250" y="3784594"/>
            <a:ext cx="9721850" cy="552450"/>
          </a:xfrm>
          <a:prstGeom prst="line">
            <a:avLst/>
          </a:prstGeom>
          <a:ln w="3175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7F955558-BD63-0B5C-B521-C84604C4C53C}"/>
              </a:ext>
            </a:extLst>
          </p:cNvPr>
          <p:cNvCxnSpPr>
            <a:cxnSpLocks/>
          </p:cNvCxnSpPr>
          <p:nvPr/>
        </p:nvCxnSpPr>
        <p:spPr bwMode="gray">
          <a:xfrm>
            <a:off x="4469492" y="4557479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3EC83731-6F39-67B8-2196-214DBC2376B4}"/>
              </a:ext>
            </a:extLst>
          </p:cNvPr>
          <p:cNvCxnSpPr>
            <a:cxnSpLocks/>
          </p:cNvCxnSpPr>
          <p:nvPr/>
        </p:nvCxnSpPr>
        <p:spPr bwMode="gray">
          <a:xfrm>
            <a:off x="4699227" y="4545912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B14CE215-2727-DB27-DB9B-2F41345C2D15}"/>
              </a:ext>
            </a:extLst>
          </p:cNvPr>
          <p:cNvCxnSpPr>
            <a:cxnSpLocks/>
          </p:cNvCxnSpPr>
          <p:nvPr/>
        </p:nvCxnSpPr>
        <p:spPr bwMode="gray">
          <a:xfrm>
            <a:off x="4475729" y="4757617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EC97D90E-A6A8-23F9-CDC9-7C0C948C5A0C}"/>
              </a:ext>
            </a:extLst>
          </p:cNvPr>
          <p:cNvCxnSpPr>
            <a:cxnSpLocks/>
          </p:cNvCxnSpPr>
          <p:nvPr/>
        </p:nvCxnSpPr>
        <p:spPr bwMode="gray">
          <a:xfrm>
            <a:off x="10958967" y="4564736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D0F0200-895C-8F21-D6F7-53F18A6291DD}"/>
              </a:ext>
            </a:extLst>
          </p:cNvPr>
          <p:cNvCxnSpPr>
            <a:cxnSpLocks/>
          </p:cNvCxnSpPr>
          <p:nvPr/>
        </p:nvCxnSpPr>
        <p:spPr bwMode="gray">
          <a:xfrm>
            <a:off x="11188702" y="4553169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81C640D1-32CF-2C03-3CF0-24C9122E3C6F}"/>
              </a:ext>
            </a:extLst>
          </p:cNvPr>
          <p:cNvCxnSpPr>
            <a:cxnSpLocks/>
          </p:cNvCxnSpPr>
          <p:nvPr/>
        </p:nvCxnSpPr>
        <p:spPr bwMode="gray">
          <a:xfrm>
            <a:off x="10965204" y="4764874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2FF0D03F-F2D9-C593-9460-762B62F3226A}"/>
              </a:ext>
            </a:extLst>
          </p:cNvPr>
          <p:cNvCxnSpPr>
            <a:cxnSpLocks/>
          </p:cNvCxnSpPr>
          <p:nvPr/>
        </p:nvCxnSpPr>
        <p:spPr bwMode="gray">
          <a:xfrm>
            <a:off x="7703003" y="4564736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1F20C279-E0D7-CB5E-2864-E0AFE00E834E}"/>
              </a:ext>
            </a:extLst>
          </p:cNvPr>
          <p:cNvCxnSpPr>
            <a:cxnSpLocks/>
          </p:cNvCxnSpPr>
          <p:nvPr/>
        </p:nvCxnSpPr>
        <p:spPr bwMode="gray">
          <a:xfrm>
            <a:off x="7932738" y="4553169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014A286A-A3B3-3B3B-56F3-6E36F33B015A}"/>
              </a:ext>
            </a:extLst>
          </p:cNvPr>
          <p:cNvCxnSpPr>
            <a:cxnSpLocks/>
          </p:cNvCxnSpPr>
          <p:nvPr/>
        </p:nvCxnSpPr>
        <p:spPr bwMode="gray">
          <a:xfrm>
            <a:off x="7709240" y="4764874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A21652F-B4DE-6E13-4C76-62046CFE3DC4}"/>
              </a:ext>
            </a:extLst>
          </p:cNvPr>
          <p:cNvCxnSpPr>
            <a:cxnSpLocks/>
          </p:cNvCxnSpPr>
          <p:nvPr/>
        </p:nvCxnSpPr>
        <p:spPr bwMode="gray">
          <a:xfrm>
            <a:off x="4469492" y="2849329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8B57A85-A422-F5F3-CD3C-2AB1AFF1FD77}"/>
              </a:ext>
            </a:extLst>
          </p:cNvPr>
          <p:cNvCxnSpPr>
            <a:cxnSpLocks/>
          </p:cNvCxnSpPr>
          <p:nvPr/>
        </p:nvCxnSpPr>
        <p:spPr bwMode="gray">
          <a:xfrm>
            <a:off x="4699227" y="2837762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D7DC835-3D9E-9755-4074-E7B6CDD4B303}"/>
              </a:ext>
            </a:extLst>
          </p:cNvPr>
          <p:cNvCxnSpPr>
            <a:cxnSpLocks/>
          </p:cNvCxnSpPr>
          <p:nvPr/>
        </p:nvCxnSpPr>
        <p:spPr bwMode="gray">
          <a:xfrm>
            <a:off x="4475729" y="3049467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20A14F51-BE43-3CEA-6A9F-C387904DB2AF}"/>
              </a:ext>
            </a:extLst>
          </p:cNvPr>
          <p:cNvCxnSpPr>
            <a:cxnSpLocks/>
          </p:cNvCxnSpPr>
          <p:nvPr/>
        </p:nvCxnSpPr>
        <p:spPr bwMode="gray">
          <a:xfrm>
            <a:off x="1231900" y="2849330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A265066-B869-B089-774F-8775F4579398}"/>
              </a:ext>
            </a:extLst>
          </p:cNvPr>
          <p:cNvCxnSpPr>
            <a:cxnSpLocks/>
          </p:cNvCxnSpPr>
          <p:nvPr/>
        </p:nvCxnSpPr>
        <p:spPr bwMode="gray">
          <a:xfrm>
            <a:off x="1461634" y="2837763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79551645-2595-D2DA-DDA8-E79EC5CD699A}"/>
              </a:ext>
            </a:extLst>
          </p:cNvPr>
          <p:cNvCxnSpPr>
            <a:cxnSpLocks/>
          </p:cNvCxnSpPr>
          <p:nvPr/>
        </p:nvCxnSpPr>
        <p:spPr bwMode="gray">
          <a:xfrm>
            <a:off x="1238137" y="3049468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E90D2CC-06D6-9CC4-F148-9958882FECD7}"/>
              </a:ext>
            </a:extLst>
          </p:cNvPr>
          <p:cNvCxnSpPr>
            <a:cxnSpLocks/>
          </p:cNvCxnSpPr>
          <p:nvPr/>
        </p:nvCxnSpPr>
        <p:spPr bwMode="gray">
          <a:xfrm>
            <a:off x="10958967" y="2856586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A67F05DC-DCBC-D8F7-76C6-FC7D5AB89DC0}"/>
              </a:ext>
            </a:extLst>
          </p:cNvPr>
          <p:cNvCxnSpPr>
            <a:cxnSpLocks/>
          </p:cNvCxnSpPr>
          <p:nvPr/>
        </p:nvCxnSpPr>
        <p:spPr bwMode="gray">
          <a:xfrm>
            <a:off x="11188702" y="2845019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FB654383-1D86-907C-09CF-23DCAEA5F94D}"/>
              </a:ext>
            </a:extLst>
          </p:cNvPr>
          <p:cNvCxnSpPr>
            <a:cxnSpLocks/>
          </p:cNvCxnSpPr>
          <p:nvPr/>
        </p:nvCxnSpPr>
        <p:spPr bwMode="gray">
          <a:xfrm>
            <a:off x="10965204" y="3056724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9B6074F-67D5-77F5-60AD-E995F5DB1B73}"/>
              </a:ext>
            </a:extLst>
          </p:cNvPr>
          <p:cNvCxnSpPr>
            <a:cxnSpLocks/>
          </p:cNvCxnSpPr>
          <p:nvPr/>
        </p:nvCxnSpPr>
        <p:spPr bwMode="gray">
          <a:xfrm>
            <a:off x="7703003" y="2856586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49232CD-4A4D-1295-62CC-AD6FAC07EB30}"/>
              </a:ext>
            </a:extLst>
          </p:cNvPr>
          <p:cNvCxnSpPr>
            <a:cxnSpLocks/>
          </p:cNvCxnSpPr>
          <p:nvPr/>
        </p:nvCxnSpPr>
        <p:spPr bwMode="gray">
          <a:xfrm>
            <a:off x="7932738" y="2845019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64653EAE-D54B-50F6-29BA-5D31F9910302}"/>
              </a:ext>
            </a:extLst>
          </p:cNvPr>
          <p:cNvCxnSpPr>
            <a:cxnSpLocks/>
          </p:cNvCxnSpPr>
          <p:nvPr/>
        </p:nvCxnSpPr>
        <p:spPr bwMode="gray">
          <a:xfrm>
            <a:off x="7709240" y="3056724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53493569-5EF5-5472-4B0B-BACE48D3D4B9}"/>
              </a:ext>
            </a:extLst>
          </p:cNvPr>
          <p:cNvCxnSpPr>
            <a:cxnSpLocks/>
          </p:cNvCxnSpPr>
          <p:nvPr/>
        </p:nvCxnSpPr>
        <p:spPr bwMode="gray">
          <a:xfrm>
            <a:off x="4469492" y="2232472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1C801167-229C-D835-4765-4F4591343457}"/>
              </a:ext>
            </a:extLst>
          </p:cNvPr>
          <p:cNvCxnSpPr>
            <a:cxnSpLocks/>
          </p:cNvCxnSpPr>
          <p:nvPr/>
        </p:nvCxnSpPr>
        <p:spPr bwMode="gray">
          <a:xfrm>
            <a:off x="4699227" y="2220905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6F93FB58-3A1B-5546-4D9F-B4B6974A3326}"/>
              </a:ext>
            </a:extLst>
          </p:cNvPr>
          <p:cNvCxnSpPr>
            <a:cxnSpLocks/>
          </p:cNvCxnSpPr>
          <p:nvPr/>
        </p:nvCxnSpPr>
        <p:spPr bwMode="gray">
          <a:xfrm>
            <a:off x="4475729" y="2432610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7E81FBA-115F-BCE4-AD4A-0F5FA8ECD386}"/>
              </a:ext>
            </a:extLst>
          </p:cNvPr>
          <p:cNvCxnSpPr>
            <a:cxnSpLocks/>
          </p:cNvCxnSpPr>
          <p:nvPr/>
        </p:nvCxnSpPr>
        <p:spPr bwMode="gray">
          <a:xfrm>
            <a:off x="1231900" y="2232473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3C82AF7B-592F-9674-805C-2567F4F75827}"/>
              </a:ext>
            </a:extLst>
          </p:cNvPr>
          <p:cNvCxnSpPr>
            <a:cxnSpLocks/>
          </p:cNvCxnSpPr>
          <p:nvPr/>
        </p:nvCxnSpPr>
        <p:spPr bwMode="gray">
          <a:xfrm>
            <a:off x="1461634" y="2220906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85D29F49-B49C-CCC3-48B5-1775B549B9EA}"/>
              </a:ext>
            </a:extLst>
          </p:cNvPr>
          <p:cNvCxnSpPr>
            <a:cxnSpLocks/>
          </p:cNvCxnSpPr>
          <p:nvPr/>
        </p:nvCxnSpPr>
        <p:spPr bwMode="gray">
          <a:xfrm>
            <a:off x="1238137" y="2432611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9254B73-E773-2157-D9E1-A28074B04447}"/>
              </a:ext>
            </a:extLst>
          </p:cNvPr>
          <p:cNvCxnSpPr>
            <a:cxnSpLocks/>
          </p:cNvCxnSpPr>
          <p:nvPr/>
        </p:nvCxnSpPr>
        <p:spPr bwMode="gray">
          <a:xfrm>
            <a:off x="10958967" y="2239729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13B2F73-2C28-3F16-E98F-505AE7483086}"/>
              </a:ext>
            </a:extLst>
          </p:cNvPr>
          <p:cNvCxnSpPr>
            <a:cxnSpLocks/>
          </p:cNvCxnSpPr>
          <p:nvPr/>
        </p:nvCxnSpPr>
        <p:spPr bwMode="gray">
          <a:xfrm>
            <a:off x="11188702" y="2228162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11F4F1DA-FEDA-6FEF-2FA4-5FEA8CA30645}"/>
              </a:ext>
            </a:extLst>
          </p:cNvPr>
          <p:cNvCxnSpPr>
            <a:cxnSpLocks/>
          </p:cNvCxnSpPr>
          <p:nvPr/>
        </p:nvCxnSpPr>
        <p:spPr bwMode="gray">
          <a:xfrm>
            <a:off x="10965204" y="2439867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7D12781-AEE6-AB3C-F0AD-4CCCE8D8199A}"/>
              </a:ext>
            </a:extLst>
          </p:cNvPr>
          <p:cNvCxnSpPr>
            <a:cxnSpLocks/>
          </p:cNvCxnSpPr>
          <p:nvPr/>
        </p:nvCxnSpPr>
        <p:spPr bwMode="gray">
          <a:xfrm>
            <a:off x="7703003" y="2239729"/>
            <a:ext cx="239486" cy="0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3009622-76BF-F793-0F59-EABC7F5E1871}"/>
              </a:ext>
            </a:extLst>
          </p:cNvPr>
          <p:cNvCxnSpPr>
            <a:cxnSpLocks/>
          </p:cNvCxnSpPr>
          <p:nvPr/>
        </p:nvCxnSpPr>
        <p:spPr bwMode="gray">
          <a:xfrm>
            <a:off x="7932738" y="2228162"/>
            <a:ext cx="0" cy="216468"/>
          </a:xfrm>
          <a:prstGeom prst="line">
            <a:avLst/>
          </a:prstGeom>
          <a:ln w="31750">
            <a:solidFill>
              <a:schemeClr val="tx1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AB39EA9-62F8-23DC-0750-EBD479B63395}"/>
              </a:ext>
            </a:extLst>
          </p:cNvPr>
          <p:cNvCxnSpPr>
            <a:cxnSpLocks/>
          </p:cNvCxnSpPr>
          <p:nvPr/>
        </p:nvCxnSpPr>
        <p:spPr bwMode="gray">
          <a:xfrm>
            <a:off x="7709240" y="2439867"/>
            <a:ext cx="230981" cy="0"/>
          </a:xfrm>
          <a:prstGeom prst="line">
            <a:avLst/>
          </a:prstGeom>
          <a:ln w="31750">
            <a:solidFill>
              <a:schemeClr val="tx1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AF43A9E-F085-E3A3-B77D-83E1D340075B}"/>
              </a:ext>
            </a:extLst>
          </p:cNvPr>
          <p:cNvCxnSpPr>
            <a:cxnSpLocks/>
            <a:stCxn id="8" idx="2"/>
          </p:cNvCxnSpPr>
          <p:nvPr/>
        </p:nvCxnSpPr>
        <p:spPr bwMode="gray">
          <a:xfrm>
            <a:off x="1231446" y="2058988"/>
            <a:ext cx="0" cy="3276000"/>
          </a:xfrm>
          <a:prstGeom prst="line">
            <a:avLst/>
          </a:prstGeom>
          <a:ln w="31750">
            <a:solidFill>
              <a:schemeClr val="bg2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E979BE0B-B9A3-7D55-DA4B-0B88B7A087CB}"/>
              </a:ext>
            </a:extLst>
          </p:cNvPr>
          <p:cNvCxnSpPr>
            <a:cxnSpLocks/>
            <a:stCxn id="9" idx="2"/>
          </p:cNvCxnSpPr>
          <p:nvPr/>
        </p:nvCxnSpPr>
        <p:spPr bwMode="gray">
          <a:xfrm flipH="1">
            <a:off x="4468131" y="2056720"/>
            <a:ext cx="6351" cy="3276000"/>
          </a:xfrm>
          <a:prstGeom prst="line">
            <a:avLst/>
          </a:prstGeom>
          <a:ln w="31750">
            <a:solidFill>
              <a:schemeClr val="bg2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F104AC-2298-5D2E-61AF-2C5FE89D84C2}"/>
              </a:ext>
            </a:extLst>
          </p:cNvPr>
          <p:cNvCxnSpPr>
            <a:cxnSpLocks/>
            <a:stCxn id="11" idx="2"/>
          </p:cNvCxnSpPr>
          <p:nvPr/>
        </p:nvCxnSpPr>
        <p:spPr bwMode="gray">
          <a:xfrm>
            <a:off x="7717518" y="2056720"/>
            <a:ext cx="0" cy="3276000"/>
          </a:xfrm>
          <a:prstGeom prst="line">
            <a:avLst/>
          </a:prstGeom>
          <a:ln w="31750">
            <a:solidFill>
              <a:schemeClr val="bg2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E502B22-1260-CDC0-EE2E-3CF11CCCEA4C}"/>
              </a:ext>
            </a:extLst>
          </p:cNvPr>
          <p:cNvCxnSpPr>
            <a:cxnSpLocks/>
            <a:stCxn id="10" idx="2"/>
          </p:cNvCxnSpPr>
          <p:nvPr/>
        </p:nvCxnSpPr>
        <p:spPr bwMode="gray">
          <a:xfrm>
            <a:off x="10960554" y="2056720"/>
            <a:ext cx="0" cy="3276000"/>
          </a:xfrm>
          <a:prstGeom prst="line">
            <a:avLst/>
          </a:prstGeom>
          <a:ln w="31750">
            <a:solidFill>
              <a:schemeClr val="bg2"/>
            </a:solidFill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1A9A0E15-2681-A19C-A382-E76E248A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Fundamentals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Basic Blockchain Consensus (</a:t>
            </a:r>
            <a:r>
              <a:rPr lang="de-DE" sz="3200" dirty="0" err="1">
                <a:solidFill>
                  <a:schemeClr val="bg2"/>
                </a:solidFill>
              </a:rPr>
              <a:t>PoW</a:t>
            </a:r>
            <a:r>
              <a:rPr lang="de-DE" sz="3200" dirty="0">
                <a:solidFill>
                  <a:schemeClr val="bg2"/>
                </a:solidFill>
              </a:rPr>
              <a:t>)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8C12A4-7B3E-6144-916E-A322A93BD4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E2B95A-0575-7082-4B90-1707FA1B11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455908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5872DC-9292-C48C-00DF-D55783B141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35</a:t>
            </a:fld>
            <a:endParaRPr lang="de-DE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327ECF26-D0BD-2007-198F-CC0EF3884F5C}"/>
              </a:ext>
            </a:extLst>
          </p:cNvPr>
          <p:cNvSpPr/>
          <p:nvPr/>
        </p:nvSpPr>
        <p:spPr bwMode="gray">
          <a:xfrm>
            <a:off x="371475" y="1594531"/>
            <a:ext cx="1719942" cy="464457"/>
          </a:xfrm>
          <a:prstGeom prst="roundRect">
            <a:avLst/>
          </a:prstGeom>
          <a:solidFill>
            <a:srgbClr val="00968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Peer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67E4CFF-3A49-FE20-47C2-07766A87C70A}"/>
              </a:ext>
            </a:extLst>
          </p:cNvPr>
          <p:cNvSpPr/>
          <p:nvPr/>
        </p:nvSpPr>
        <p:spPr bwMode="gray">
          <a:xfrm>
            <a:off x="3614511" y="1592263"/>
            <a:ext cx="1719942" cy="464457"/>
          </a:xfrm>
          <a:prstGeom prst="roundRect">
            <a:avLst/>
          </a:prstGeom>
          <a:solidFill>
            <a:srgbClr val="00968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Peer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939E62A-38AE-1383-7FF1-AADE001C3414}"/>
              </a:ext>
            </a:extLst>
          </p:cNvPr>
          <p:cNvSpPr/>
          <p:nvPr/>
        </p:nvSpPr>
        <p:spPr bwMode="gray">
          <a:xfrm>
            <a:off x="10100583" y="1592263"/>
            <a:ext cx="1719942" cy="464457"/>
          </a:xfrm>
          <a:prstGeom prst="roundRect">
            <a:avLst/>
          </a:prstGeom>
          <a:solidFill>
            <a:srgbClr val="00968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Peer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F9401D1-DCB4-ADF2-5E74-1B4F286A73D8}"/>
              </a:ext>
            </a:extLst>
          </p:cNvPr>
          <p:cNvSpPr/>
          <p:nvPr/>
        </p:nvSpPr>
        <p:spPr bwMode="gray">
          <a:xfrm>
            <a:off x="6857547" y="1592263"/>
            <a:ext cx="1719942" cy="464457"/>
          </a:xfrm>
          <a:prstGeom prst="roundRect">
            <a:avLst/>
          </a:prstGeom>
          <a:solidFill>
            <a:srgbClr val="00968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Peer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C521FAE8-F605-302E-3348-36ADC396C8D1}"/>
              </a:ext>
            </a:extLst>
          </p:cNvPr>
          <p:cNvSpPr txBox="1"/>
          <p:nvPr/>
        </p:nvSpPr>
        <p:spPr bwMode="gray">
          <a:xfrm>
            <a:off x="5068887" y="2735711"/>
            <a:ext cx="2066925" cy="5377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Competition in a </a:t>
            </a:r>
            <a:r>
              <a:rPr lang="de-DE" sz="1400" dirty="0" err="1"/>
              <a:t>computation</a:t>
            </a:r>
            <a:r>
              <a:rPr lang="de-DE" sz="1400" dirty="0"/>
              <a:t> </a:t>
            </a:r>
            <a:r>
              <a:rPr lang="de-DE" sz="1400" dirty="0" err="1"/>
              <a:t>problem</a:t>
            </a:r>
            <a:r>
              <a:rPr lang="de-DE" sz="1400" dirty="0"/>
              <a:t>  </a:t>
            </a: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8A356961-6873-CC7D-E86E-1F9DD1973425}"/>
              </a:ext>
            </a:extLst>
          </p:cNvPr>
          <p:cNvGrpSpPr/>
          <p:nvPr/>
        </p:nvGrpSpPr>
        <p:grpSpPr>
          <a:xfrm>
            <a:off x="1045028" y="3159119"/>
            <a:ext cx="360000" cy="360000"/>
            <a:chOff x="6203950" y="2825279"/>
            <a:chExt cx="432000" cy="432000"/>
          </a:xfrm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2E4A4537-6CC2-C82A-0B2A-12561AD3D7AD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E6834C58-6121-A5A0-C971-E1A315324770}"/>
                </a:ext>
              </a:extLst>
            </p:cNvPr>
            <p:cNvGrpSpPr/>
            <p:nvPr/>
          </p:nvGrpSpPr>
          <p:grpSpPr>
            <a:xfrm>
              <a:off x="6302257" y="2959931"/>
              <a:ext cx="231719" cy="175019"/>
              <a:chOff x="6240002" y="2730424"/>
              <a:chExt cx="463438" cy="350036"/>
            </a:xfrm>
          </p:grpSpPr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CFD71624-5104-3216-F18C-D39A980C7B6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240002" y="2924941"/>
                <a:ext cx="155520" cy="155519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835A25E5-9FB1-F0B8-48B7-7CB846835E20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70801" y="2730424"/>
                <a:ext cx="332639" cy="329405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Textfeld 55">
            <a:extLst>
              <a:ext uri="{FF2B5EF4-FFF2-40B4-BE49-F238E27FC236}">
                <a16:creationId xmlns:a16="http://schemas.microsoft.com/office/drawing/2014/main" id="{3091DEBF-275A-AD29-5268-A0B7FA05D2A6}"/>
              </a:ext>
            </a:extLst>
          </p:cNvPr>
          <p:cNvSpPr txBox="1"/>
          <p:nvPr/>
        </p:nvSpPr>
        <p:spPr bwMode="gray">
          <a:xfrm>
            <a:off x="1519238" y="3214115"/>
            <a:ext cx="1552575" cy="3164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Success</a:t>
            </a:r>
            <a:endParaRPr lang="de-DE" sz="1400" dirty="0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4A00A63A-DBB0-198B-B43E-4F832543DF58}"/>
              </a:ext>
            </a:extLst>
          </p:cNvPr>
          <p:cNvSpPr txBox="1"/>
          <p:nvPr/>
        </p:nvSpPr>
        <p:spPr bwMode="gray">
          <a:xfrm>
            <a:off x="5068887" y="3643761"/>
            <a:ext cx="2066925" cy="5377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Transmission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solution</a:t>
            </a:r>
            <a:endParaRPr lang="de-DE" sz="1400" dirty="0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7DD19751-7890-D3A9-70DF-95180198C532}"/>
              </a:ext>
            </a:extLst>
          </p:cNvPr>
          <p:cNvSpPr txBox="1"/>
          <p:nvPr/>
        </p:nvSpPr>
        <p:spPr bwMode="gray">
          <a:xfrm>
            <a:off x="5068887" y="4551811"/>
            <a:ext cx="2066925" cy="5377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Append</a:t>
            </a:r>
            <a:r>
              <a:rPr lang="de-DE" sz="1400" dirty="0"/>
              <a:t> block </a:t>
            </a:r>
            <a:r>
              <a:rPr lang="de-DE" sz="1400" dirty="0" err="1"/>
              <a:t>if</a:t>
            </a:r>
            <a:r>
              <a:rPr lang="de-DE" sz="1400" dirty="0"/>
              <a:t> </a:t>
            </a:r>
            <a:r>
              <a:rPr lang="de-DE" sz="1400" dirty="0" err="1"/>
              <a:t>correct</a:t>
            </a:r>
            <a:endParaRPr lang="de-DE" sz="1400" dirty="0"/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999F7BB9-0E97-CE3E-0EB7-2ABD77539D94}"/>
              </a:ext>
            </a:extLst>
          </p:cNvPr>
          <p:cNvSpPr txBox="1">
            <a:spLocks/>
          </p:cNvSpPr>
          <p:nvPr/>
        </p:nvSpPr>
        <p:spPr>
          <a:xfrm>
            <a:off x="371475" y="5868988"/>
            <a:ext cx="8163272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[5] Nakamoto (2008). Bitcoin: A peer-to-peer electronic cash system</a:t>
            </a:r>
            <a:endParaRPr lang="de-DE" sz="1100" dirty="0">
              <a:solidFill>
                <a:srgbClr val="002D4C"/>
              </a:solidFill>
              <a:latin typeface="Arial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2BE6A123-3976-60B4-AB1C-C9E9D60FEAC8}"/>
              </a:ext>
            </a:extLst>
          </p:cNvPr>
          <p:cNvSpPr txBox="1"/>
          <p:nvPr/>
        </p:nvSpPr>
        <p:spPr bwMode="gray">
          <a:xfrm>
            <a:off x="371475" y="5492845"/>
            <a:ext cx="1144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b="1" dirty="0"/>
              <a:t> Consensus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achieved</a:t>
            </a:r>
            <a:r>
              <a:rPr lang="de-DE" b="1" dirty="0"/>
              <a:t> </a:t>
            </a:r>
            <a:r>
              <a:rPr lang="de-DE" b="1" dirty="0" err="1"/>
              <a:t>if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majority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peers</a:t>
            </a:r>
            <a:r>
              <a:rPr lang="de-DE" b="1" dirty="0"/>
              <a:t> </a:t>
            </a:r>
            <a:r>
              <a:rPr lang="de-DE" b="1" dirty="0" err="1"/>
              <a:t>append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block → </a:t>
            </a:r>
            <a:r>
              <a:rPr lang="de-DE" b="1" dirty="0" err="1"/>
              <a:t>No</a:t>
            </a:r>
            <a:r>
              <a:rPr lang="de-DE" b="1" dirty="0"/>
              <a:t> </a:t>
            </a:r>
            <a:r>
              <a:rPr lang="de-DE" b="1" dirty="0" err="1"/>
              <a:t>deterministic</a:t>
            </a:r>
            <a:r>
              <a:rPr lang="de-DE" b="1" dirty="0"/>
              <a:t> </a:t>
            </a:r>
            <a:r>
              <a:rPr lang="de-DE" b="1" dirty="0" err="1"/>
              <a:t>ledger</a:t>
            </a:r>
            <a:r>
              <a:rPr lang="de-DE" b="1" dirty="0"/>
              <a:t> </a:t>
            </a:r>
            <a:r>
              <a:rPr lang="de-DE" b="1" dirty="0" err="1"/>
              <a:t>states</a:t>
            </a:r>
            <a:endParaRPr lang="de-DE" b="1" dirty="0"/>
          </a:p>
        </p:txBody>
      </p: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BADC6B3D-B0DF-96B7-D66D-D3335289C29E}"/>
              </a:ext>
            </a:extLst>
          </p:cNvPr>
          <p:cNvGrpSpPr/>
          <p:nvPr/>
        </p:nvGrpSpPr>
        <p:grpSpPr>
          <a:xfrm>
            <a:off x="378587" y="5523830"/>
            <a:ext cx="342000" cy="342000"/>
            <a:chOff x="7320136" y="4043360"/>
            <a:chExt cx="432000" cy="432000"/>
          </a:xfrm>
        </p:grpSpPr>
        <p:sp>
          <p:nvSpPr>
            <p:cNvPr id="79" name="Textplatzhalter 76">
              <a:extLst>
                <a:ext uri="{FF2B5EF4-FFF2-40B4-BE49-F238E27FC236}">
                  <a16:creationId xmlns:a16="http://schemas.microsoft.com/office/drawing/2014/main" id="{9DEA2EA9-679A-43CA-37BF-E564C30254AD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C3E5C87A-7190-0DF5-F493-1CDBC7B470CC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feld 22">
            <a:extLst>
              <a:ext uri="{FF2B5EF4-FFF2-40B4-BE49-F238E27FC236}">
                <a16:creationId xmlns:a16="http://schemas.microsoft.com/office/drawing/2014/main" id="{AD8546A8-9E1B-60AB-AB28-1D79CF682D57}"/>
              </a:ext>
            </a:extLst>
          </p:cNvPr>
          <p:cNvSpPr txBox="1"/>
          <p:nvPr/>
        </p:nvSpPr>
        <p:spPr bwMode="gray">
          <a:xfrm>
            <a:off x="5068887" y="2118854"/>
            <a:ext cx="2066925" cy="5377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Collection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transactions</a:t>
            </a:r>
            <a:r>
              <a:rPr lang="de-DE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53424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6" grpId="0"/>
      <p:bldP spid="65" grpId="0"/>
      <p:bldP spid="75" grpId="0"/>
      <p:bldP spid="77" grpId="0"/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995B-E5ED-B623-DF98-B1820AFC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0EFAD7-93CE-0264-7F57-FA33D7B68B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000" b="1" dirty="0"/>
              <a:t>Type 2:</a:t>
            </a:r>
          </a:p>
          <a:p>
            <a:r>
              <a:rPr lang="de-DE" sz="2000" b="1" dirty="0"/>
              <a:t>Auditing </a:t>
            </a:r>
            <a:r>
              <a:rPr lang="de-DE" sz="2000" b="1" dirty="0" err="1"/>
              <a:t>functions</a:t>
            </a:r>
            <a:r>
              <a:rPr lang="de-DE" sz="2000" b="1" dirty="0"/>
              <a:t> </a:t>
            </a:r>
            <a:r>
              <a:rPr lang="de-DE" sz="2000" b="1" dirty="0" err="1"/>
              <a:t>built</a:t>
            </a:r>
            <a:r>
              <a:rPr lang="de-DE" sz="2000" b="1" dirty="0"/>
              <a:t> </a:t>
            </a:r>
            <a:r>
              <a:rPr lang="de-DE" sz="2000" b="1" dirty="0" err="1"/>
              <a:t>into</a:t>
            </a:r>
            <a:r>
              <a:rPr lang="de-DE" sz="2000" b="1" dirty="0"/>
              <a:t> </a:t>
            </a:r>
            <a:r>
              <a:rPr lang="de-DE" sz="2000" b="1" dirty="0" err="1"/>
              <a:t>the</a:t>
            </a:r>
            <a:r>
              <a:rPr lang="de-DE" sz="2000" b="1" dirty="0"/>
              <a:t> network</a:t>
            </a:r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 err="1"/>
              <a:t>Certificate</a:t>
            </a:r>
            <a:r>
              <a:rPr lang="de-DE" sz="2000" dirty="0"/>
              <a:t> </a:t>
            </a:r>
            <a:r>
              <a:rPr lang="de-DE" sz="2000" dirty="0" err="1"/>
              <a:t>lifecycle</a:t>
            </a:r>
            <a:r>
              <a:rPr lang="de-DE" sz="2000" dirty="0"/>
              <a:t> </a:t>
            </a:r>
            <a:r>
              <a:rPr lang="de-DE" sz="2000" dirty="0" err="1"/>
              <a:t>roughly</a:t>
            </a:r>
            <a:r>
              <a:rPr lang="de-DE" sz="2000" dirty="0"/>
              <a:t> </a:t>
            </a:r>
            <a:r>
              <a:rPr lang="de-DE" sz="2000" dirty="0" err="1"/>
              <a:t>identical</a:t>
            </a:r>
            <a:r>
              <a:rPr lang="de-DE" sz="2000" dirty="0"/>
              <a:t> </a:t>
            </a:r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 err="1"/>
              <a:t>Improved</a:t>
            </a:r>
            <a:r>
              <a:rPr lang="de-DE" sz="2000" dirty="0"/>
              <a:t> </a:t>
            </a:r>
            <a:r>
              <a:rPr lang="de-DE" sz="2000" dirty="0" err="1"/>
              <a:t>certificate</a:t>
            </a:r>
            <a:r>
              <a:rPr lang="de-DE" sz="2000" dirty="0"/>
              <a:t> </a:t>
            </a:r>
            <a:r>
              <a:rPr lang="de-DE" sz="2000" dirty="0" err="1"/>
              <a:t>auditing</a:t>
            </a:r>
            <a:r>
              <a:rPr lang="de-DE" sz="2000" dirty="0"/>
              <a:t> </a:t>
            </a:r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/>
              <a:t>Additional </a:t>
            </a:r>
            <a:r>
              <a:rPr lang="de-DE" sz="2000" dirty="0" err="1"/>
              <a:t>checks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honest </a:t>
            </a:r>
            <a:r>
              <a:rPr lang="de-DE" sz="2000" dirty="0" err="1"/>
              <a:t>behaviour</a:t>
            </a:r>
            <a:endParaRPr lang="de-DE" sz="20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/>
              <a:t>Still </a:t>
            </a:r>
            <a:r>
              <a:rPr lang="de-DE" sz="2000" dirty="0" err="1"/>
              <a:t>mostly</a:t>
            </a:r>
            <a:r>
              <a:rPr lang="de-DE" sz="2000" dirty="0"/>
              <a:t> </a:t>
            </a:r>
            <a:r>
              <a:rPr lang="de-DE" sz="2000" dirty="0" err="1"/>
              <a:t>centralized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a CA</a:t>
            </a:r>
            <a:endParaRPr lang="de-DE" dirty="0"/>
          </a:p>
        </p:txBody>
      </p: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BFCA9277-DBBD-260B-1534-7A24AA487C94}"/>
              </a:ext>
            </a:extLst>
          </p:cNvPr>
          <p:cNvGrpSpPr/>
          <p:nvPr/>
        </p:nvGrpSpPr>
        <p:grpSpPr>
          <a:xfrm>
            <a:off x="550800" y="2350800"/>
            <a:ext cx="323957" cy="321940"/>
            <a:chOff x="6203950" y="2825279"/>
            <a:chExt cx="432000" cy="432000"/>
          </a:xfrm>
        </p:grpSpPr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D653CC19-4EE9-92D0-6D29-3A3B9AA2D584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77" name="Gruppieren 76">
              <a:extLst>
                <a:ext uri="{FF2B5EF4-FFF2-40B4-BE49-F238E27FC236}">
                  <a16:creationId xmlns:a16="http://schemas.microsoft.com/office/drawing/2014/main" id="{0E9E102C-4285-2B96-4581-C813537011C8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5D155EFC-F41E-662E-1061-72D30AE775AB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EC56FEE5-CDB0-56D5-557A-C2130AD2336C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4A5A6B67-D09D-5322-B815-4A82D568D0DD}"/>
              </a:ext>
            </a:extLst>
          </p:cNvPr>
          <p:cNvCxnSpPr>
            <a:cxnSpLocks/>
            <a:stCxn id="50" idx="4"/>
            <a:endCxn id="32" idx="0"/>
          </p:cNvCxnSpPr>
          <p:nvPr/>
        </p:nvCxnSpPr>
        <p:spPr bwMode="gray">
          <a:xfrm flipH="1">
            <a:off x="9746028" y="2276872"/>
            <a:ext cx="468550" cy="695574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7D30B4E-987D-5045-3C66-E36D21943881}"/>
              </a:ext>
            </a:extLst>
          </p:cNvPr>
          <p:cNvCxnSpPr>
            <a:cxnSpLocks/>
            <a:stCxn id="42" idx="0"/>
          </p:cNvCxnSpPr>
          <p:nvPr/>
        </p:nvCxnSpPr>
        <p:spPr bwMode="gray">
          <a:xfrm flipV="1">
            <a:off x="7662596" y="3717032"/>
            <a:ext cx="602645" cy="68413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18E9DDB6-A575-8B72-8357-7999473C36E1}"/>
              </a:ext>
            </a:extLst>
          </p:cNvPr>
          <p:cNvCxnSpPr>
            <a:cxnSpLocks/>
            <a:stCxn id="41" idx="0"/>
          </p:cNvCxnSpPr>
          <p:nvPr/>
        </p:nvCxnSpPr>
        <p:spPr bwMode="gray">
          <a:xfrm flipV="1">
            <a:off x="8418500" y="3717032"/>
            <a:ext cx="270000" cy="68413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9419B9D6-19C4-FC0D-6670-510C560FD6D3}"/>
              </a:ext>
            </a:extLst>
          </p:cNvPr>
          <p:cNvCxnSpPr>
            <a:cxnSpLocks/>
            <a:stCxn id="39" idx="0"/>
          </p:cNvCxnSpPr>
          <p:nvPr/>
        </p:nvCxnSpPr>
        <p:spPr bwMode="gray">
          <a:xfrm flipV="1">
            <a:off x="9174404" y="3717032"/>
            <a:ext cx="0" cy="68413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D4DCCF8F-E3B5-25F6-C26E-CC7DC18ADF08}"/>
              </a:ext>
            </a:extLst>
          </p:cNvPr>
          <p:cNvCxnSpPr>
            <a:cxnSpLocks/>
            <a:stCxn id="40" idx="0"/>
          </p:cNvCxnSpPr>
          <p:nvPr/>
        </p:nvCxnSpPr>
        <p:spPr bwMode="gray">
          <a:xfrm flipH="1" flipV="1">
            <a:off x="9631234" y="3717032"/>
            <a:ext cx="299074" cy="68413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32897298-6F7D-2FFC-421B-D2036AD993A4}"/>
              </a:ext>
            </a:extLst>
          </p:cNvPr>
          <p:cNvCxnSpPr>
            <a:cxnSpLocks/>
            <a:stCxn id="43" idx="0"/>
          </p:cNvCxnSpPr>
          <p:nvPr/>
        </p:nvCxnSpPr>
        <p:spPr bwMode="gray">
          <a:xfrm flipH="1" flipV="1">
            <a:off x="10088063" y="3717032"/>
            <a:ext cx="598149" cy="68413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97E05768-1188-0B1B-E51E-B8E8CB23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Blockchain-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3C43CA-5880-CAA1-3E45-E644CB2053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1811F0-86D8-0368-E9C0-1D49F4F8C2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70845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4DF906-C34C-4A85-6764-D1C6716B3D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36</a:t>
            </a:fld>
            <a:endParaRPr lang="de-DE" dirty="0"/>
          </a:p>
        </p:txBody>
      </p:sp>
      <p:sp>
        <p:nvSpPr>
          <p:cNvPr id="23" name="Textplatzhalter 76">
            <a:extLst>
              <a:ext uri="{FF2B5EF4-FFF2-40B4-BE49-F238E27FC236}">
                <a16:creationId xmlns:a16="http://schemas.microsoft.com/office/drawing/2014/main" id="{8131E01F-B5B8-00D4-2FFA-78937202FED6}"/>
              </a:ext>
            </a:extLst>
          </p:cNvPr>
          <p:cNvSpPr txBox="1">
            <a:spLocks/>
          </p:cNvSpPr>
          <p:nvPr/>
        </p:nvSpPr>
        <p:spPr bwMode="gray">
          <a:xfrm>
            <a:off x="8730000" y="1592262"/>
            <a:ext cx="907200" cy="68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CA</a:t>
            </a: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6A76FB78-F5F3-235E-FC3F-79E198A2D903}"/>
              </a:ext>
            </a:extLst>
          </p:cNvPr>
          <p:cNvGrpSpPr/>
          <p:nvPr/>
        </p:nvGrpSpPr>
        <p:grpSpPr>
          <a:xfrm>
            <a:off x="8040651" y="2971288"/>
            <a:ext cx="2277000" cy="746902"/>
            <a:chOff x="7842567" y="2883600"/>
            <a:chExt cx="2277000" cy="746902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DFD4C110-7FAC-3DC6-BA44-DE3C502877C8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87BD94A2-802B-C275-3A7D-799C7E8BF906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7D4B7556-EFAD-D5DD-190D-60B78C1BCE01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BF6E8CF4-359E-7344-2B2D-3E48B9B6F062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D504BD2C-7105-4537-E4EB-0D37ACED682C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F504F2AD-49BF-BFCB-3C01-5DAAB641C78E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37DB8FE4-4C87-DADE-FCFD-F9B40497D6C6}"/>
              </a:ext>
            </a:extLst>
          </p:cNvPr>
          <p:cNvCxnSpPr>
            <a:cxnSpLocks/>
          </p:cNvCxnSpPr>
          <p:nvPr/>
        </p:nvCxnSpPr>
        <p:spPr bwMode="gray">
          <a:xfrm>
            <a:off x="9183898" y="2276872"/>
            <a:ext cx="0" cy="694416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FD637DC4-D679-FC91-055B-FAB50D4C57C3}"/>
              </a:ext>
            </a:extLst>
          </p:cNvPr>
          <p:cNvSpPr txBox="1"/>
          <p:nvPr/>
        </p:nvSpPr>
        <p:spPr bwMode="gray">
          <a:xfrm>
            <a:off x="7932738" y="2401592"/>
            <a:ext cx="1246910" cy="3974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Manages</a:t>
            </a:r>
            <a:r>
              <a:rPr lang="de-DE" sz="1400" dirty="0"/>
              <a:t> </a:t>
            </a:r>
            <a:r>
              <a:rPr lang="de-DE" sz="1400" dirty="0" err="1"/>
              <a:t>certificates</a:t>
            </a:r>
            <a:endParaRPr lang="de-DE" sz="1400" dirty="0"/>
          </a:p>
        </p:txBody>
      </p: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F57895D0-473F-BAF5-6804-EDDD38C5DACE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904404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D7A2832E-71A5-E40F-31BD-CFFE698ECEF5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660308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9687EAB1-A236-A553-E3D3-13790CF7CAE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48500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44B2BD3B-F23B-917E-5C37-89F85D19E886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92596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4B82BF41-2859-7AB2-2BE8-B954FF72944F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416212" y="440116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50" name="Textplatzhalter 76">
            <a:extLst>
              <a:ext uri="{FF2B5EF4-FFF2-40B4-BE49-F238E27FC236}">
                <a16:creationId xmlns:a16="http://schemas.microsoft.com/office/drawing/2014/main" id="{B6CCB572-37C5-472B-83A4-D9EAB994818A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761155" y="1592263"/>
            <a:ext cx="906845" cy="6846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Gov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D65AAF18-E946-B603-C41C-3FFD11175EC1}"/>
              </a:ext>
            </a:extLst>
          </p:cNvPr>
          <p:cNvSpPr txBox="1"/>
          <p:nvPr/>
        </p:nvSpPr>
        <p:spPr bwMode="gray">
          <a:xfrm>
            <a:off x="9932988" y="2418760"/>
            <a:ext cx="1246910" cy="3974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Manages</a:t>
            </a:r>
            <a:r>
              <a:rPr lang="de-DE" sz="1400" dirty="0"/>
              <a:t> </a:t>
            </a:r>
            <a:r>
              <a:rPr lang="de-DE" sz="1400" dirty="0" err="1"/>
              <a:t>policies</a:t>
            </a:r>
            <a:endParaRPr lang="de-DE" sz="1400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E3678BF-262C-5794-4A44-0B6E980D98CF}"/>
              </a:ext>
            </a:extLst>
          </p:cNvPr>
          <p:cNvSpPr/>
          <p:nvPr/>
        </p:nvSpPr>
        <p:spPr bwMode="gray">
          <a:xfrm>
            <a:off x="9239474" y="3052763"/>
            <a:ext cx="1019175" cy="609600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pic>
        <p:nvPicPr>
          <p:cNvPr id="74" name="Grafik 73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701A2C62-8B43-68EA-E4B1-5802BA7D8E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48444" y="3109227"/>
            <a:ext cx="471025" cy="471025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836A7569-9B45-88BF-8CE3-F3B6112BF572}"/>
              </a:ext>
            </a:extLst>
          </p:cNvPr>
          <p:cNvGrpSpPr/>
          <p:nvPr/>
        </p:nvGrpSpPr>
        <p:grpSpPr>
          <a:xfrm>
            <a:off x="550800" y="2728800"/>
            <a:ext cx="323957" cy="321940"/>
            <a:chOff x="6203950" y="2825279"/>
            <a:chExt cx="432000" cy="432000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0034CDE0-3421-00D9-08C4-A794269B63B5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E6FABFB9-96B4-5942-F698-D6E8CCBCA68D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62" name="Gerader Verbinder 61">
                <a:extLst>
                  <a:ext uri="{FF2B5EF4-FFF2-40B4-BE49-F238E27FC236}">
                    <a16:creationId xmlns:a16="http://schemas.microsoft.com/office/drawing/2014/main" id="{096CB7D1-B117-25B9-984B-5AA2A6D9E20E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B74A28E5-67F8-FC8C-C23B-DB686EA75BB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50EC991F-227C-07B5-5D37-50E658922442}"/>
              </a:ext>
            </a:extLst>
          </p:cNvPr>
          <p:cNvGrpSpPr/>
          <p:nvPr/>
        </p:nvGrpSpPr>
        <p:grpSpPr>
          <a:xfrm>
            <a:off x="550800" y="3110400"/>
            <a:ext cx="323957" cy="321940"/>
            <a:chOff x="6203950" y="2825279"/>
            <a:chExt cx="432000" cy="432000"/>
          </a:xfrm>
        </p:grpSpPr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6896EAEB-823D-D714-64CE-F96B7084CFB6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82" name="Gruppieren 81">
              <a:extLst>
                <a:ext uri="{FF2B5EF4-FFF2-40B4-BE49-F238E27FC236}">
                  <a16:creationId xmlns:a16="http://schemas.microsoft.com/office/drawing/2014/main" id="{E338E862-1E43-6965-0CE1-AF83D6CFDF55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3F2BA34D-F1B8-BFF2-586A-94AC98A9DC36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r Verbinder 83">
                <a:extLst>
                  <a:ext uri="{FF2B5EF4-FFF2-40B4-BE49-F238E27FC236}">
                    <a16:creationId xmlns:a16="http://schemas.microsoft.com/office/drawing/2014/main" id="{5773CF9E-9649-8259-862B-C6B6A7228C1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FF4F02F8-A2C5-E5DD-70B6-9D4F9C545526}"/>
              </a:ext>
            </a:extLst>
          </p:cNvPr>
          <p:cNvGrpSpPr/>
          <p:nvPr/>
        </p:nvGrpSpPr>
        <p:grpSpPr>
          <a:xfrm>
            <a:off x="550800" y="3495600"/>
            <a:ext cx="323957" cy="321940"/>
            <a:chOff x="6817001" y="3335951"/>
            <a:chExt cx="432000" cy="432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93E72D48-E028-9A96-1DE7-823B806F41B6}"/>
                </a:ext>
              </a:extLst>
            </p:cNvPr>
            <p:cNvSpPr/>
            <p:nvPr/>
          </p:nvSpPr>
          <p:spPr bwMode="gray">
            <a:xfrm>
              <a:off x="6817001" y="3335951"/>
              <a:ext cx="432000" cy="432000"/>
            </a:xfrm>
            <a:prstGeom prst="ellipse">
              <a:avLst/>
            </a:prstGeom>
            <a:solidFill>
              <a:srgbClr val="D30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83A07DF9-73F1-F297-BCA0-1DA7CEABBE84}"/>
                </a:ext>
              </a:extLst>
            </p:cNvPr>
            <p:cNvGrpSpPr/>
            <p:nvPr/>
          </p:nvGrpSpPr>
          <p:grpSpPr>
            <a:xfrm>
              <a:off x="6945062" y="3464012"/>
              <a:ext cx="175878" cy="175878"/>
              <a:chOff x="7104112" y="2564904"/>
              <a:chExt cx="360313" cy="360313"/>
            </a:xfrm>
          </p:grpSpPr>
          <p:cxnSp>
            <p:nvCxnSpPr>
              <p:cNvPr id="88" name="Gerader Verbinder 87">
                <a:extLst>
                  <a:ext uri="{FF2B5EF4-FFF2-40B4-BE49-F238E27FC236}">
                    <a16:creationId xmlns:a16="http://schemas.microsoft.com/office/drawing/2014/main" id="{9B038602-337A-DA10-CDF0-8AE5222F3708}"/>
                  </a:ext>
                </a:extLst>
              </p:cNvPr>
              <p:cNvCxnSpPr/>
              <p:nvPr/>
            </p:nvCxnSpPr>
            <p:spPr bwMode="gray">
              <a:xfrm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erader Verbinder 88">
                <a:extLst>
                  <a:ext uri="{FF2B5EF4-FFF2-40B4-BE49-F238E27FC236}">
                    <a16:creationId xmlns:a16="http://schemas.microsoft.com/office/drawing/2014/main" id="{F9736E92-47E7-80A4-2F03-86A64D84CB5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Textfeld 103">
            <a:extLst>
              <a:ext uri="{FF2B5EF4-FFF2-40B4-BE49-F238E27FC236}">
                <a16:creationId xmlns:a16="http://schemas.microsoft.com/office/drawing/2014/main" id="{3BC0AA07-3865-BB6F-E269-B1AD99508798}"/>
              </a:ext>
            </a:extLst>
          </p:cNvPr>
          <p:cNvSpPr txBox="1"/>
          <p:nvPr/>
        </p:nvSpPr>
        <p:spPr bwMode="gray">
          <a:xfrm>
            <a:off x="8635434" y="4964122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Nodes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55B3FC8-E56A-6200-AC2C-843ED54AA5A9}"/>
              </a:ext>
            </a:extLst>
          </p:cNvPr>
          <p:cNvSpPr txBox="1"/>
          <p:nvPr/>
        </p:nvSpPr>
        <p:spPr bwMode="gray">
          <a:xfrm>
            <a:off x="10443030" y="3559688"/>
            <a:ext cx="1355724" cy="5188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Queries</a:t>
            </a:r>
            <a:r>
              <a:rPr lang="de-DE" sz="1400" dirty="0"/>
              <a:t> </a:t>
            </a:r>
            <a:r>
              <a:rPr lang="de-DE" sz="1400" dirty="0" err="1"/>
              <a:t>their</a:t>
            </a:r>
            <a:r>
              <a:rPr lang="de-DE" sz="1400" dirty="0"/>
              <a:t> </a:t>
            </a:r>
            <a:r>
              <a:rPr lang="de-DE" sz="1400" dirty="0" err="1"/>
              <a:t>copy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chain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84432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01E93-1104-8156-6747-8E3827B9F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8C621273-8179-1376-6180-317B04431803}"/>
              </a:ext>
            </a:extLst>
          </p:cNvPr>
          <p:cNvCxnSpPr>
            <a:cxnSpLocks/>
          </p:cNvCxnSpPr>
          <p:nvPr/>
        </p:nvCxnSpPr>
        <p:spPr bwMode="gray">
          <a:xfrm flipV="1">
            <a:off x="10691155" y="3486149"/>
            <a:ext cx="0" cy="2881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5A9134F5-1090-E035-C558-947BA83EDE5D}"/>
              </a:ext>
            </a:extLst>
          </p:cNvPr>
          <p:cNvCxnSpPr>
            <a:cxnSpLocks/>
          </p:cNvCxnSpPr>
          <p:nvPr/>
        </p:nvCxnSpPr>
        <p:spPr bwMode="gray">
          <a:xfrm flipV="1">
            <a:off x="8419051" y="3501008"/>
            <a:ext cx="0" cy="27089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207C748C-2000-780E-98CF-330D3BB5AA6D}"/>
              </a:ext>
            </a:extLst>
          </p:cNvPr>
          <p:cNvCxnSpPr>
            <a:cxnSpLocks/>
          </p:cNvCxnSpPr>
          <p:nvPr/>
        </p:nvCxnSpPr>
        <p:spPr bwMode="gray">
          <a:xfrm flipV="1">
            <a:off x="10340434" y="3762375"/>
            <a:ext cx="0" cy="35119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EE61E491-3455-11EB-0729-4026E98D94B6}"/>
              </a:ext>
            </a:extLst>
          </p:cNvPr>
          <p:cNvCxnSpPr>
            <a:cxnSpLocks/>
          </p:cNvCxnSpPr>
          <p:nvPr/>
        </p:nvCxnSpPr>
        <p:spPr bwMode="gray">
          <a:xfrm flipV="1">
            <a:off x="7669497" y="3743325"/>
            <a:ext cx="0" cy="37024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98DE0B4E-F474-60C1-B820-E00D0BCF12D8}"/>
              </a:ext>
            </a:extLst>
          </p:cNvPr>
          <p:cNvCxnSpPr>
            <a:cxnSpLocks/>
          </p:cNvCxnSpPr>
          <p:nvPr/>
        </p:nvCxnSpPr>
        <p:spPr bwMode="gray">
          <a:xfrm flipV="1">
            <a:off x="9184480" y="3767138"/>
            <a:ext cx="0" cy="3464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825E9D92-8389-E590-B501-4CCD0402404A}"/>
              </a:ext>
            </a:extLst>
          </p:cNvPr>
          <p:cNvGrpSpPr>
            <a:grpSpLocks noChangeAspect="1"/>
          </p:cNvGrpSpPr>
          <p:nvPr/>
        </p:nvGrpSpPr>
        <p:grpSpPr>
          <a:xfrm>
            <a:off x="10393232" y="4016375"/>
            <a:ext cx="736862" cy="241706"/>
            <a:chOff x="8023724" y="4482298"/>
            <a:chExt cx="2277000" cy="746902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EB6619D9-ACE5-839D-3E01-001496AD58A1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1" name="Gruppieren 10">
                <a:extLst>
                  <a:ext uri="{FF2B5EF4-FFF2-40B4-BE49-F238E27FC236}">
                    <a16:creationId xmlns:a16="http://schemas.microsoft.com/office/drawing/2014/main" id="{5FD610C5-B9E7-5B07-9475-270502A5BE61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3" name="Rechteck: abgerundete Ecken 12">
                  <a:extLst>
                    <a:ext uri="{FF2B5EF4-FFF2-40B4-BE49-F238E27FC236}">
                      <a16:creationId xmlns:a16="http://schemas.microsoft.com/office/drawing/2014/main" id="{A79097FC-6010-0564-1638-27521190E391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Rechteck: abgerundete Ecken 13">
                  <a:extLst>
                    <a:ext uri="{FF2B5EF4-FFF2-40B4-BE49-F238E27FC236}">
                      <a16:creationId xmlns:a16="http://schemas.microsoft.com/office/drawing/2014/main" id="{E33B7F50-C1FE-0C78-032D-4932B5AA463C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Rechteck: abgerundete Ecken 14">
                  <a:extLst>
                    <a:ext uri="{FF2B5EF4-FFF2-40B4-BE49-F238E27FC236}">
                      <a16:creationId xmlns:a16="http://schemas.microsoft.com/office/drawing/2014/main" id="{80181D6F-B50F-DE30-B058-C7713D70A5D0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Rechteck: abgerundete Ecken 15">
                  <a:extLst>
                    <a:ext uri="{FF2B5EF4-FFF2-40B4-BE49-F238E27FC236}">
                      <a16:creationId xmlns:a16="http://schemas.microsoft.com/office/drawing/2014/main" id="{6FE07CD7-337B-B52A-744A-743B2EB2DC07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Rechteck: abgerundete Ecken 16">
                  <a:extLst>
                    <a:ext uri="{FF2B5EF4-FFF2-40B4-BE49-F238E27FC236}">
                      <a16:creationId xmlns:a16="http://schemas.microsoft.com/office/drawing/2014/main" id="{14ED964F-932B-B238-AD7F-7B6FC62D4564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Rechteck: abgerundete Ecken 18">
                  <a:extLst>
                    <a:ext uri="{FF2B5EF4-FFF2-40B4-BE49-F238E27FC236}">
                      <a16:creationId xmlns:a16="http://schemas.microsoft.com/office/drawing/2014/main" id="{894CBD4A-A1E2-A1EF-74B3-5C6EC6CAEA5E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13D7307B-8A37-437B-6C6B-CCEE108ACB05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0" name="Grafik 9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9CDF3160-7FF2-11B5-DDA9-9DE3D3024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8B35F2F-1A0C-F576-60DA-E32CA188E861}"/>
              </a:ext>
            </a:extLst>
          </p:cNvPr>
          <p:cNvGrpSpPr>
            <a:grpSpLocks noChangeAspect="1"/>
          </p:cNvGrpSpPr>
          <p:nvPr/>
        </p:nvGrpSpPr>
        <p:grpSpPr>
          <a:xfrm>
            <a:off x="9240707" y="4016375"/>
            <a:ext cx="736862" cy="241706"/>
            <a:chOff x="8023724" y="4482298"/>
            <a:chExt cx="2277000" cy="746902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CD467A9F-31AD-D010-4149-AC5345FFE68D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24" name="Gruppieren 23">
                <a:extLst>
                  <a:ext uri="{FF2B5EF4-FFF2-40B4-BE49-F238E27FC236}">
                    <a16:creationId xmlns:a16="http://schemas.microsoft.com/office/drawing/2014/main" id="{FA80E628-81AA-FA2D-C7C9-13F9BB1C2451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26" name="Rechteck: abgerundete Ecken 25">
                  <a:extLst>
                    <a:ext uri="{FF2B5EF4-FFF2-40B4-BE49-F238E27FC236}">
                      <a16:creationId xmlns:a16="http://schemas.microsoft.com/office/drawing/2014/main" id="{F70E71FA-B20C-FAA6-4D0D-301149F5F617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" name="Rechteck: abgerundete Ecken 34">
                  <a:extLst>
                    <a:ext uri="{FF2B5EF4-FFF2-40B4-BE49-F238E27FC236}">
                      <a16:creationId xmlns:a16="http://schemas.microsoft.com/office/drawing/2014/main" id="{02563C63-E80B-6BF1-797D-40CA3BC2F591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" name="Rechteck: abgerundete Ecken 35">
                  <a:extLst>
                    <a:ext uri="{FF2B5EF4-FFF2-40B4-BE49-F238E27FC236}">
                      <a16:creationId xmlns:a16="http://schemas.microsoft.com/office/drawing/2014/main" id="{8E4303C2-1BD0-534C-E42A-7548DF373E1C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" name="Rechteck: abgerundete Ecken 36">
                  <a:extLst>
                    <a:ext uri="{FF2B5EF4-FFF2-40B4-BE49-F238E27FC236}">
                      <a16:creationId xmlns:a16="http://schemas.microsoft.com/office/drawing/2014/main" id="{DD894E2E-92CE-54A8-BAF3-F9A879C96260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" name="Rechteck: abgerundete Ecken 44">
                  <a:extLst>
                    <a:ext uri="{FF2B5EF4-FFF2-40B4-BE49-F238E27FC236}">
                      <a16:creationId xmlns:a16="http://schemas.microsoft.com/office/drawing/2014/main" id="{4B3122E8-87DE-E4E5-81BF-BE145F6A47A9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6" name="Rechteck: abgerundete Ecken 45">
                  <a:extLst>
                    <a:ext uri="{FF2B5EF4-FFF2-40B4-BE49-F238E27FC236}">
                      <a16:creationId xmlns:a16="http://schemas.microsoft.com/office/drawing/2014/main" id="{A1EAC55F-A5F6-0CFB-9E6D-71BF55C48385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E94C067B-AAF7-28CE-A7F5-89BC704DF2F1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22" name="Grafik 21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41BE96A4-38D1-F42D-25AF-70D51ED8F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C8AC6EC0-0C5E-4997-E168-E5E5B18CB84C}"/>
              </a:ext>
            </a:extLst>
          </p:cNvPr>
          <p:cNvGrpSpPr>
            <a:grpSpLocks noChangeAspect="1"/>
          </p:cNvGrpSpPr>
          <p:nvPr/>
        </p:nvGrpSpPr>
        <p:grpSpPr>
          <a:xfrm>
            <a:off x="7719751" y="4016375"/>
            <a:ext cx="736862" cy="241706"/>
            <a:chOff x="8023724" y="4482298"/>
            <a:chExt cx="2277000" cy="746902"/>
          </a:xfrm>
        </p:grpSpPr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2D9FB47A-8E40-EEC7-3E04-BCB9C4E94AF4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263264DF-033E-F6D3-8AE4-10127E98FFCB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65" name="Rechteck: abgerundete Ecken 64">
                  <a:extLst>
                    <a:ext uri="{FF2B5EF4-FFF2-40B4-BE49-F238E27FC236}">
                      <a16:creationId xmlns:a16="http://schemas.microsoft.com/office/drawing/2014/main" id="{63F88717-12F9-AF49-1BD3-7095F5E267E8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6" name="Rechteck: abgerundete Ecken 65">
                  <a:extLst>
                    <a:ext uri="{FF2B5EF4-FFF2-40B4-BE49-F238E27FC236}">
                      <a16:creationId xmlns:a16="http://schemas.microsoft.com/office/drawing/2014/main" id="{9B3D84D4-72DB-010F-9DDF-1D4D5863A38C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7" name="Rechteck: abgerundete Ecken 66">
                  <a:extLst>
                    <a:ext uri="{FF2B5EF4-FFF2-40B4-BE49-F238E27FC236}">
                      <a16:creationId xmlns:a16="http://schemas.microsoft.com/office/drawing/2014/main" id="{0BE126B2-0B8E-5F33-B3EA-6D14066B8F1F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8" name="Rechteck: abgerundete Ecken 67">
                  <a:extLst>
                    <a:ext uri="{FF2B5EF4-FFF2-40B4-BE49-F238E27FC236}">
                      <a16:creationId xmlns:a16="http://schemas.microsoft.com/office/drawing/2014/main" id="{FBF6AE8C-934F-E314-D648-DC65DF6AFFC1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9" name="Rechteck: abgerundete Ecken 68">
                  <a:extLst>
                    <a:ext uri="{FF2B5EF4-FFF2-40B4-BE49-F238E27FC236}">
                      <a16:creationId xmlns:a16="http://schemas.microsoft.com/office/drawing/2014/main" id="{BCC8DFCA-81E0-28C4-A222-521CB33D907B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Rechteck: abgerundete Ecken 69">
                  <a:extLst>
                    <a:ext uri="{FF2B5EF4-FFF2-40B4-BE49-F238E27FC236}">
                      <a16:creationId xmlns:a16="http://schemas.microsoft.com/office/drawing/2014/main" id="{2F3E0C51-F914-51A2-FCED-E216A4215B49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6F208369-39CF-7530-E6C2-5C5EB630C5BD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53" name="Grafik 52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B0DB4C1E-0A3F-18CD-2349-E8CF151C1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40C2747-C407-DBBE-92E2-50E609AD34E5}"/>
              </a:ext>
            </a:extLst>
          </p:cNvPr>
          <p:cNvGrpSpPr>
            <a:grpSpLocks noChangeAspect="1"/>
          </p:cNvGrpSpPr>
          <p:nvPr/>
        </p:nvGrpSpPr>
        <p:grpSpPr>
          <a:xfrm>
            <a:off x="10601063" y="2890800"/>
            <a:ext cx="736862" cy="241706"/>
            <a:chOff x="8023724" y="4482298"/>
            <a:chExt cx="2277000" cy="746902"/>
          </a:xfrm>
        </p:grpSpPr>
        <p:grpSp>
          <p:nvGrpSpPr>
            <p:cNvPr id="72" name="Gruppieren 71">
              <a:extLst>
                <a:ext uri="{FF2B5EF4-FFF2-40B4-BE49-F238E27FC236}">
                  <a16:creationId xmlns:a16="http://schemas.microsoft.com/office/drawing/2014/main" id="{4394C5AB-862D-8D23-C683-1C66265E0C78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90" name="Gruppieren 89">
                <a:extLst>
                  <a:ext uri="{FF2B5EF4-FFF2-40B4-BE49-F238E27FC236}">
                    <a16:creationId xmlns:a16="http://schemas.microsoft.com/office/drawing/2014/main" id="{5BF580A8-7395-43CF-3D16-83122C804AA2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92" name="Rechteck: abgerundete Ecken 91">
                  <a:extLst>
                    <a:ext uri="{FF2B5EF4-FFF2-40B4-BE49-F238E27FC236}">
                      <a16:creationId xmlns:a16="http://schemas.microsoft.com/office/drawing/2014/main" id="{82223218-E261-7543-0ABC-E76C1F0A4E9B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3" name="Rechteck: abgerundete Ecken 92">
                  <a:extLst>
                    <a:ext uri="{FF2B5EF4-FFF2-40B4-BE49-F238E27FC236}">
                      <a16:creationId xmlns:a16="http://schemas.microsoft.com/office/drawing/2014/main" id="{FD04DE17-1172-1067-CF65-2AC82F1AE300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4" name="Rechteck: abgerundete Ecken 93">
                  <a:extLst>
                    <a:ext uri="{FF2B5EF4-FFF2-40B4-BE49-F238E27FC236}">
                      <a16:creationId xmlns:a16="http://schemas.microsoft.com/office/drawing/2014/main" id="{F07EF867-AD99-F935-9881-EB7F5A0A80E0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5" name="Rechteck: abgerundete Ecken 94">
                  <a:extLst>
                    <a:ext uri="{FF2B5EF4-FFF2-40B4-BE49-F238E27FC236}">
                      <a16:creationId xmlns:a16="http://schemas.microsoft.com/office/drawing/2014/main" id="{7D792E78-C192-AF12-23FF-9ACA18093859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3" name="Rechteck: abgerundete Ecken 102">
                  <a:extLst>
                    <a:ext uri="{FF2B5EF4-FFF2-40B4-BE49-F238E27FC236}">
                      <a16:creationId xmlns:a16="http://schemas.microsoft.com/office/drawing/2014/main" id="{CC99795A-C6C2-0763-332A-8C8799BD5538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4" name="Rechteck: abgerundete Ecken 103">
                  <a:extLst>
                    <a:ext uri="{FF2B5EF4-FFF2-40B4-BE49-F238E27FC236}">
                      <a16:creationId xmlns:a16="http://schemas.microsoft.com/office/drawing/2014/main" id="{F296B662-1A5F-7644-27F3-21AD54B8618D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1" name="Rechteck 90">
                <a:extLst>
                  <a:ext uri="{FF2B5EF4-FFF2-40B4-BE49-F238E27FC236}">
                    <a16:creationId xmlns:a16="http://schemas.microsoft.com/office/drawing/2014/main" id="{EB218BD1-25F0-160E-3A28-48954AD9D75C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73" name="Grafik 72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83107E65-A91A-1F2C-008B-087FCD494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7B37F45C-206C-A70B-9D8E-6610231B6214}"/>
              </a:ext>
            </a:extLst>
          </p:cNvPr>
          <p:cNvGrpSpPr>
            <a:grpSpLocks noChangeAspect="1"/>
          </p:cNvGrpSpPr>
          <p:nvPr/>
        </p:nvGrpSpPr>
        <p:grpSpPr>
          <a:xfrm>
            <a:off x="8323001" y="2891243"/>
            <a:ext cx="736862" cy="241706"/>
            <a:chOff x="8023724" y="4482298"/>
            <a:chExt cx="2277000" cy="746902"/>
          </a:xfrm>
        </p:grpSpPr>
        <p:grpSp>
          <p:nvGrpSpPr>
            <p:cNvPr id="106" name="Gruppieren 105">
              <a:extLst>
                <a:ext uri="{FF2B5EF4-FFF2-40B4-BE49-F238E27FC236}">
                  <a16:creationId xmlns:a16="http://schemas.microsoft.com/office/drawing/2014/main" id="{7B7E9978-0C6E-2B12-67D7-050DD50A3B6C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08" name="Gruppieren 107">
                <a:extLst>
                  <a:ext uri="{FF2B5EF4-FFF2-40B4-BE49-F238E27FC236}">
                    <a16:creationId xmlns:a16="http://schemas.microsoft.com/office/drawing/2014/main" id="{8DA6171D-8459-7501-539B-0B9EEEC07387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10" name="Rechteck: abgerundete Ecken 109">
                  <a:extLst>
                    <a:ext uri="{FF2B5EF4-FFF2-40B4-BE49-F238E27FC236}">
                      <a16:creationId xmlns:a16="http://schemas.microsoft.com/office/drawing/2014/main" id="{4211DBFF-79AD-5BAC-E4B4-C56057F693E9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1" name="Rechteck: abgerundete Ecken 110">
                  <a:extLst>
                    <a:ext uri="{FF2B5EF4-FFF2-40B4-BE49-F238E27FC236}">
                      <a16:creationId xmlns:a16="http://schemas.microsoft.com/office/drawing/2014/main" id="{EF2567E9-90D3-B2BF-1AE1-B214ADD6855A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2" name="Rechteck: abgerundete Ecken 111">
                  <a:extLst>
                    <a:ext uri="{FF2B5EF4-FFF2-40B4-BE49-F238E27FC236}">
                      <a16:creationId xmlns:a16="http://schemas.microsoft.com/office/drawing/2014/main" id="{AAD7CD69-DBF5-9271-01B8-34A743C273CE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3" name="Rechteck: abgerundete Ecken 112">
                  <a:extLst>
                    <a:ext uri="{FF2B5EF4-FFF2-40B4-BE49-F238E27FC236}">
                      <a16:creationId xmlns:a16="http://schemas.microsoft.com/office/drawing/2014/main" id="{2C4759C6-E49F-7C78-691D-54968BE7036D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4" name="Rechteck: abgerundete Ecken 113">
                  <a:extLst>
                    <a:ext uri="{FF2B5EF4-FFF2-40B4-BE49-F238E27FC236}">
                      <a16:creationId xmlns:a16="http://schemas.microsoft.com/office/drawing/2014/main" id="{6F677E4F-5568-8D13-24CA-71C691AA2932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5" name="Rechteck: abgerundete Ecken 114">
                  <a:extLst>
                    <a:ext uri="{FF2B5EF4-FFF2-40B4-BE49-F238E27FC236}">
                      <a16:creationId xmlns:a16="http://schemas.microsoft.com/office/drawing/2014/main" id="{03903C7E-60C1-9182-739F-908D166DE7D2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09" name="Rechteck 108">
                <a:extLst>
                  <a:ext uri="{FF2B5EF4-FFF2-40B4-BE49-F238E27FC236}">
                    <a16:creationId xmlns:a16="http://schemas.microsoft.com/office/drawing/2014/main" id="{7916504B-A807-AFCF-641E-ECE58FEDF13A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07" name="Grafik 106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A83F29B8-5BFD-400D-0EDC-73A79B050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F44BAE-10CA-EA0D-D39D-AC2159571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000" b="1" dirty="0"/>
              <a:t>Type 2:</a:t>
            </a:r>
          </a:p>
          <a:p>
            <a:r>
              <a:rPr lang="de-DE" sz="2000" b="1" dirty="0"/>
              <a:t>Auditing </a:t>
            </a:r>
            <a:r>
              <a:rPr lang="de-DE" sz="2000" b="1" dirty="0" err="1"/>
              <a:t>functions</a:t>
            </a:r>
            <a:r>
              <a:rPr lang="de-DE" sz="2000" b="1" dirty="0"/>
              <a:t> </a:t>
            </a:r>
            <a:r>
              <a:rPr lang="de-DE" sz="2000" b="1" dirty="0" err="1"/>
              <a:t>built</a:t>
            </a:r>
            <a:r>
              <a:rPr lang="de-DE" sz="2000" b="1" dirty="0"/>
              <a:t> </a:t>
            </a:r>
            <a:r>
              <a:rPr lang="de-DE" sz="2000" b="1" dirty="0" err="1"/>
              <a:t>into</a:t>
            </a:r>
            <a:r>
              <a:rPr lang="de-DE" sz="2000" b="1" dirty="0"/>
              <a:t> </a:t>
            </a:r>
            <a:r>
              <a:rPr lang="de-DE" sz="2000" b="1" dirty="0" err="1"/>
              <a:t>the</a:t>
            </a:r>
            <a:r>
              <a:rPr lang="de-DE" sz="2000" b="1" dirty="0"/>
              <a:t> network</a:t>
            </a:r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 err="1"/>
              <a:t>Certificate</a:t>
            </a:r>
            <a:r>
              <a:rPr lang="de-DE" sz="2000" dirty="0"/>
              <a:t> </a:t>
            </a:r>
            <a:r>
              <a:rPr lang="de-DE" sz="2000" dirty="0" err="1"/>
              <a:t>lifecycle</a:t>
            </a:r>
            <a:r>
              <a:rPr lang="de-DE" sz="2000" dirty="0"/>
              <a:t> </a:t>
            </a:r>
            <a:r>
              <a:rPr lang="de-DE" sz="2000" dirty="0" err="1"/>
              <a:t>roughly</a:t>
            </a:r>
            <a:r>
              <a:rPr lang="de-DE" sz="2000" dirty="0"/>
              <a:t> </a:t>
            </a:r>
            <a:r>
              <a:rPr lang="de-DE" sz="2000" dirty="0" err="1"/>
              <a:t>identical</a:t>
            </a:r>
            <a:r>
              <a:rPr lang="de-DE" sz="2000" dirty="0"/>
              <a:t> </a:t>
            </a:r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 err="1"/>
              <a:t>Improved</a:t>
            </a:r>
            <a:r>
              <a:rPr lang="de-DE" sz="2000" dirty="0"/>
              <a:t> </a:t>
            </a:r>
            <a:r>
              <a:rPr lang="de-DE" sz="2000" dirty="0" err="1"/>
              <a:t>certificate</a:t>
            </a:r>
            <a:r>
              <a:rPr lang="de-DE" sz="2000" dirty="0"/>
              <a:t> </a:t>
            </a:r>
            <a:r>
              <a:rPr lang="de-DE" sz="2000" dirty="0" err="1"/>
              <a:t>auditing</a:t>
            </a:r>
            <a:r>
              <a:rPr lang="de-DE" sz="2000" dirty="0"/>
              <a:t> </a:t>
            </a:r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/>
              <a:t>Additional </a:t>
            </a:r>
            <a:r>
              <a:rPr lang="de-DE" sz="2000" dirty="0" err="1"/>
              <a:t>checks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honest </a:t>
            </a:r>
            <a:r>
              <a:rPr lang="de-DE" sz="2000" dirty="0" err="1"/>
              <a:t>behaviour</a:t>
            </a:r>
            <a:endParaRPr lang="de-DE" sz="20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/>
              <a:t>Still </a:t>
            </a:r>
            <a:r>
              <a:rPr lang="de-DE" sz="2000" dirty="0" err="1"/>
              <a:t>mostly</a:t>
            </a:r>
            <a:r>
              <a:rPr lang="de-DE" sz="2000" dirty="0"/>
              <a:t> </a:t>
            </a:r>
            <a:r>
              <a:rPr lang="de-DE" sz="2000" dirty="0" err="1"/>
              <a:t>centralized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a CA</a:t>
            </a:r>
            <a:endParaRPr lang="de-DE" dirty="0"/>
          </a:p>
        </p:txBody>
      </p: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00E82C5F-32ED-E2BC-29BA-EAD6C41A1B95}"/>
              </a:ext>
            </a:extLst>
          </p:cNvPr>
          <p:cNvGrpSpPr/>
          <p:nvPr/>
        </p:nvGrpSpPr>
        <p:grpSpPr>
          <a:xfrm>
            <a:off x="550800" y="2350800"/>
            <a:ext cx="323957" cy="321940"/>
            <a:chOff x="6203950" y="2825279"/>
            <a:chExt cx="432000" cy="432000"/>
          </a:xfrm>
        </p:grpSpPr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A0BA2177-40D8-A5FB-D8DB-A460C6953EAF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77" name="Gruppieren 76">
              <a:extLst>
                <a:ext uri="{FF2B5EF4-FFF2-40B4-BE49-F238E27FC236}">
                  <a16:creationId xmlns:a16="http://schemas.microsoft.com/office/drawing/2014/main" id="{1EE7F12B-3DA0-2389-BE35-F3A16235639E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78" name="Gerader Verbinder 77">
                <a:extLst>
                  <a:ext uri="{FF2B5EF4-FFF2-40B4-BE49-F238E27FC236}">
                    <a16:creationId xmlns:a16="http://schemas.microsoft.com/office/drawing/2014/main" id="{EA2E4069-E690-7EC7-CD71-E2AD9EFECDC2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319FC2FA-BE2C-28AE-E151-82F15D4D65B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1067E29-DFAE-7F68-4D80-C4AD95AB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Blockchain-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69DDE9-E4C9-23F3-01F3-0FF8E8B31F6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5380BC-C27F-4143-4C45-6CBC41753C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709707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BEDAB0-B7FD-B4E0-B2FB-2A9FAAECC52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37</a:t>
            </a:fld>
            <a:endParaRPr lang="de-DE" dirty="0"/>
          </a:p>
        </p:txBody>
      </p:sp>
      <p:sp>
        <p:nvSpPr>
          <p:cNvPr id="23" name="Textplatzhalter 76">
            <a:extLst>
              <a:ext uri="{FF2B5EF4-FFF2-40B4-BE49-F238E27FC236}">
                <a16:creationId xmlns:a16="http://schemas.microsoft.com/office/drawing/2014/main" id="{EFDA3DAE-0E64-4A4F-6157-0737DF647893}"/>
              </a:ext>
            </a:extLst>
          </p:cNvPr>
          <p:cNvSpPr txBox="1">
            <a:spLocks/>
          </p:cNvSpPr>
          <p:nvPr/>
        </p:nvSpPr>
        <p:spPr bwMode="gray">
          <a:xfrm>
            <a:off x="8730000" y="1592262"/>
            <a:ext cx="907200" cy="68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CA</a:t>
            </a:r>
          </a:p>
        </p:txBody>
      </p: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A537B016-5C32-5C06-D31D-F8CA234B32EA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904288" y="4114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F54C42B9-5AFB-47D7-F6B2-CD2A14B8BF50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069200" y="4114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3EE52FF6-2F48-C521-2D66-912FDD758195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48384" y="2962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7F0C91F8-5BAA-F395-5D7E-A73BC0E282F7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90800" y="4114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93FA390B-4EEC-3C7A-1A74-FEF718B3CF36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416212" y="2962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50" name="Textplatzhalter 76">
            <a:extLst>
              <a:ext uri="{FF2B5EF4-FFF2-40B4-BE49-F238E27FC236}">
                <a16:creationId xmlns:a16="http://schemas.microsoft.com/office/drawing/2014/main" id="{55052657-9467-E348-860E-219EF7E2B40E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761155" y="1592263"/>
            <a:ext cx="906845" cy="6846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Gov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3904516D-0A0E-3D96-2306-132AF769C653}"/>
              </a:ext>
            </a:extLst>
          </p:cNvPr>
          <p:cNvGrpSpPr/>
          <p:nvPr/>
        </p:nvGrpSpPr>
        <p:grpSpPr>
          <a:xfrm>
            <a:off x="550800" y="2728800"/>
            <a:ext cx="323957" cy="321940"/>
            <a:chOff x="6203950" y="2825279"/>
            <a:chExt cx="432000" cy="432000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6EF2C691-635B-6966-2950-0F2BB4C8DE13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C8B83460-FF21-00FE-290F-F48C7CFD981C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62" name="Gerader Verbinder 61">
                <a:extLst>
                  <a:ext uri="{FF2B5EF4-FFF2-40B4-BE49-F238E27FC236}">
                    <a16:creationId xmlns:a16="http://schemas.microsoft.com/office/drawing/2014/main" id="{B2D2642E-99FD-86F2-FD91-3495C79AD2C8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0AC4758A-DB28-A3B7-C303-03BC681F7E0F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4526EE2F-E89C-CC74-F7CC-200749615272}"/>
              </a:ext>
            </a:extLst>
          </p:cNvPr>
          <p:cNvGrpSpPr/>
          <p:nvPr/>
        </p:nvGrpSpPr>
        <p:grpSpPr>
          <a:xfrm>
            <a:off x="550800" y="3110400"/>
            <a:ext cx="323957" cy="321940"/>
            <a:chOff x="6203950" y="2825279"/>
            <a:chExt cx="432000" cy="432000"/>
          </a:xfrm>
        </p:grpSpPr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30CC922A-849D-9AFF-7FA4-3095D526DBAF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82" name="Gruppieren 81">
              <a:extLst>
                <a:ext uri="{FF2B5EF4-FFF2-40B4-BE49-F238E27FC236}">
                  <a16:creationId xmlns:a16="http://schemas.microsoft.com/office/drawing/2014/main" id="{5C4FDFB3-F372-7501-529E-A561A0D8176E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600C2171-3B7E-EF38-9B67-EB5CE35C5521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r Verbinder 83">
                <a:extLst>
                  <a:ext uri="{FF2B5EF4-FFF2-40B4-BE49-F238E27FC236}">
                    <a16:creationId xmlns:a16="http://schemas.microsoft.com/office/drawing/2014/main" id="{25B5907C-296A-1ABF-3F5D-8F3995A421A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9D6B9A4F-03AD-BBC9-DC80-D15FC258B983}"/>
              </a:ext>
            </a:extLst>
          </p:cNvPr>
          <p:cNvGrpSpPr/>
          <p:nvPr/>
        </p:nvGrpSpPr>
        <p:grpSpPr>
          <a:xfrm>
            <a:off x="550800" y="3495600"/>
            <a:ext cx="323957" cy="321940"/>
            <a:chOff x="6817001" y="3335951"/>
            <a:chExt cx="432000" cy="432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1416E21C-472B-69D2-5AB6-8852219F27EB}"/>
                </a:ext>
              </a:extLst>
            </p:cNvPr>
            <p:cNvSpPr/>
            <p:nvPr/>
          </p:nvSpPr>
          <p:spPr bwMode="gray">
            <a:xfrm>
              <a:off x="6817001" y="3335951"/>
              <a:ext cx="432000" cy="432000"/>
            </a:xfrm>
            <a:prstGeom prst="ellipse">
              <a:avLst/>
            </a:prstGeom>
            <a:solidFill>
              <a:srgbClr val="D30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CCE13EC3-F91F-4223-9537-9A5F7AD13420}"/>
                </a:ext>
              </a:extLst>
            </p:cNvPr>
            <p:cNvGrpSpPr/>
            <p:nvPr/>
          </p:nvGrpSpPr>
          <p:grpSpPr>
            <a:xfrm>
              <a:off x="6945062" y="3464012"/>
              <a:ext cx="175878" cy="175878"/>
              <a:chOff x="7104112" y="2564904"/>
              <a:chExt cx="360313" cy="360313"/>
            </a:xfrm>
          </p:grpSpPr>
          <p:cxnSp>
            <p:nvCxnSpPr>
              <p:cNvPr id="88" name="Gerader Verbinder 87">
                <a:extLst>
                  <a:ext uri="{FF2B5EF4-FFF2-40B4-BE49-F238E27FC236}">
                    <a16:creationId xmlns:a16="http://schemas.microsoft.com/office/drawing/2014/main" id="{7DDD8756-EA05-13F3-8BCE-17511244D4E8}"/>
                  </a:ext>
                </a:extLst>
              </p:cNvPr>
              <p:cNvCxnSpPr/>
              <p:nvPr/>
            </p:nvCxnSpPr>
            <p:spPr bwMode="gray">
              <a:xfrm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erader Verbinder 88">
                <a:extLst>
                  <a:ext uri="{FF2B5EF4-FFF2-40B4-BE49-F238E27FC236}">
                    <a16:creationId xmlns:a16="http://schemas.microsoft.com/office/drawing/2014/main" id="{46B72004-09F3-61EC-F507-E1F994D7EAE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6" name="Textplatzhalter 2">
            <a:extLst>
              <a:ext uri="{FF2B5EF4-FFF2-40B4-BE49-F238E27FC236}">
                <a16:creationId xmlns:a16="http://schemas.microsoft.com/office/drawing/2014/main" id="{6BD48173-373D-F272-54FA-1C9B4D196E44}"/>
              </a:ext>
            </a:extLst>
          </p:cNvPr>
          <p:cNvSpPr txBox="1">
            <a:spLocks/>
          </p:cNvSpPr>
          <p:nvPr/>
        </p:nvSpPr>
        <p:spPr bwMode="gray">
          <a:xfrm>
            <a:off x="371475" y="4041775"/>
            <a:ext cx="5616575" cy="2232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 err="1"/>
              <a:t>Applicable</a:t>
            </a:r>
            <a:r>
              <a:rPr lang="de-DE" sz="2000" dirty="0"/>
              <a:t> </a:t>
            </a:r>
            <a:r>
              <a:rPr lang="de-DE" sz="2000" dirty="0" err="1"/>
              <a:t>as</a:t>
            </a:r>
            <a:r>
              <a:rPr lang="de-DE" sz="2000" dirty="0"/>
              <a:t> a </a:t>
            </a:r>
            <a:r>
              <a:rPr lang="de-DE" sz="2000" dirty="0" err="1"/>
              <a:t>replacement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CRLs and additional CA </a:t>
            </a:r>
            <a:r>
              <a:rPr lang="de-DE" sz="2000" dirty="0" err="1"/>
              <a:t>sanity</a:t>
            </a:r>
            <a:r>
              <a:rPr lang="de-DE" sz="2000" dirty="0"/>
              <a:t> </a:t>
            </a:r>
            <a:r>
              <a:rPr lang="de-DE" sz="2000" dirty="0" err="1"/>
              <a:t>checks</a:t>
            </a:r>
            <a:endParaRPr lang="de-DE" sz="2000" dirty="0"/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 err="1"/>
              <a:t>Redundancy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trust</a:t>
            </a:r>
            <a:r>
              <a:rPr lang="de-DE" sz="2000" dirty="0"/>
              <a:t> </a:t>
            </a:r>
            <a:r>
              <a:rPr lang="de-DE" sz="2000" dirty="0" err="1"/>
              <a:t>placed</a:t>
            </a:r>
            <a:r>
              <a:rPr lang="de-DE" sz="2000" dirty="0"/>
              <a:t> in </a:t>
            </a:r>
            <a:r>
              <a:rPr lang="de-DE" sz="2000" dirty="0" err="1"/>
              <a:t>governing</a:t>
            </a:r>
            <a:r>
              <a:rPr lang="de-DE" sz="2000" dirty="0"/>
              <a:t> </a:t>
            </a:r>
            <a:r>
              <a:rPr lang="de-DE" sz="2000" dirty="0" err="1"/>
              <a:t>entity</a:t>
            </a:r>
            <a:endParaRPr lang="de-DE" sz="2000" dirty="0"/>
          </a:p>
          <a:p>
            <a:pPr marL="612900" lvl="1" indent="-34290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612900" lvl="1" indent="-342900">
              <a:buFont typeface="Arial" panose="020B0604020202020204" pitchFamily="34" charset="0"/>
              <a:buChar char="•"/>
            </a:pPr>
            <a:endParaRPr lang="de-DE" sz="2000" dirty="0"/>
          </a:p>
        </p:txBody>
      </p: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0B0895E4-292C-A060-6E9E-1447D1010E43}"/>
              </a:ext>
            </a:extLst>
          </p:cNvPr>
          <p:cNvGrpSpPr/>
          <p:nvPr/>
        </p:nvGrpSpPr>
        <p:grpSpPr>
          <a:xfrm>
            <a:off x="550800" y="4033719"/>
            <a:ext cx="342000" cy="342000"/>
            <a:chOff x="7320136" y="4043360"/>
            <a:chExt cx="432000" cy="432000"/>
          </a:xfrm>
        </p:grpSpPr>
        <p:sp>
          <p:nvSpPr>
            <p:cNvPr id="98" name="Textplatzhalter 76">
              <a:extLst>
                <a:ext uri="{FF2B5EF4-FFF2-40B4-BE49-F238E27FC236}">
                  <a16:creationId xmlns:a16="http://schemas.microsoft.com/office/drawing/2014/main" id="{19C5A588-8202-7F97-448B-4A0D54D281C5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C56C4CCB-FA72-4AD8-459E-919026B0A67B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E145E751-17FF-2FC3-58BA-4ED27BFEB7FC}"/>
              </a:ext>
            </a:extLst>
          </p:cNvPr>
          <p:cNvGrpSpPr/>
          <p:nvPr/>
        </p:nvGrpSpPr>
        <p:grpSpPr>
          <a:xfrm>
            <a:off x="550800" y="4700469"/>
            <a:ext cx="342000" cy="342000"/>
            <a:chOff x="7320136" y="4043360"/>
            <a:chExt cx="432000" cy="432000"/>
          </a:xfrm>
        </p:grpSpPr>
        <p:sp>
          <p:nvSpPr>
            <p:cNvPr id="101" name="Textplatzhalter 76">
              <a:extLst>
                <a:ext uri="{FF2B5EF4-FFF2-40B4-BE49-F238E27FC236}">
                  <a16:creationId xmlns:a16="http://schemas.microsoft.com/office/drawing/2014/main" id="{A702D048-7AA9-56D3-7C0A-ABD93D088C7F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02" name="Gerader Verbinder 101">
              <a:extLst>
                <a:ext uri="{FF2B5EF4-FFF2-40B4-BE49-F238E27FC236}">
                  <a16:creationId xmlns:a16="http://schemas.microsoft.com/office/drawing/2014/main" id="{8E47495C-6E66-1EB0-8053-5AF4F34C0A27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467BADF-C11B-BC67-5808-05600FC2487E}"/>
              </a:ext>
            </a:extLst>
          </p:cNvPr>
          <p:cNvCxnSpPr>
            <a:cxnSpLocks/>
          </p:cNvCxnSpPr>
          <p:nvPr/>
        </p:nvCxnSpPr>
        <p:spPr bwMode="gray">
          <a:xfrm flipV="1">
            <a:off x="9183896" y="2276263"/>
            <a:ext cx="0" cy="1483731"/>
          </a:xfrm>
          <a:prstGeom prst="line">
            <a:avLst/>
          </a:prstGeom>
          <a:ln w="31750">
            <a:solidFill>
              <a:srgbClr val="D30015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fik 120" descr="Glühbirne und Zahnrad Silhouette">
            <a:extLst>
              <a:ext uri="{FF2B5EF4-FFF2-40B4-BE49-F238E27FC236}">
                <a16:creationId xmlns:a16="http://schemas.microsoft.com/office/drawing/2014/main" id="{0ED63FB6-705E-FCDF-87AB-C0590171B20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2918" y="4162463"/>
            <a:ext cx="438150" cy="438150"/>
          </a:xfrm>
          <a:prstGeom prst="rect">
            <a:avLst/>
          </a:prstGeom>
        </p:spPr>
      </p:pic>
      <p:pic>
        <p:nvPicPr>
          <p:cNvPr id="122" name="Grafik 121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ED3835C1-0889-20E3-4E57-1568906709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8202387" y="3087574"/>
            <a:ext cx="438560" cy="274752"/>
          </a:xfrm>
          <a:prstGeom prst="rect">
            <a:avLst/>
          </a:prstGeom>
        </p:spPr>
      </p:pic>
      <p:pic>
        <p:nvPicPr>
          <p:cNvPr id="123" name="Grafik 122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7F29E143-B450-024A-8F92-A2017E76FC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38085" y="2986360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rafik 123" descr="Glühbirne und Zahnrad Silhouette">
            <a:extLst>
              <a:ext uri="{FF2B5EF4-FFF2-40B4-BE49-F238E27FC236}">
                <a16:creationId xmlns:a16="http://schemas.microsoft.com/office/drawing/2014/main" id="{17CD36B1-A4DB-938F-A5DC-503D4268D67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1045" y="4163256"/>
            <a:ext cx="438150" cy="438150"/>
          </a:xfrm>
          <a:prstGeom prst="rect">
            <a:avLst/>
          </a:prstGeom>
        </p:spPr>
      </p:pic>
      <p:pic>
        <p:nvPicPr>
          <p:cNvPr id="125" name="Grafik 124" descr="Glühbirne und Zahnrad Silhouette">
            <a:extLst>
              <a:ext uri="{FF2B5EF4-FFF2-40B4-BE49-F238E27FC236}">
                <a16:creationId xmlns:a16="http://schemas.microsoft.com/office/drawing/2014/main" id="{7D70D05A-D8CB-8C72-42A2-CE469952FF7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4682" y="4163256"/>
            <a:ext cx="438150" cy="438150"/>
          </a:xfrm>
          <a:prstGeom prst="rect">
            <a:avLst/>
          </a:prstGeom>
        </p:spPr>
      </p:pic>
      <p:cxnSp>
        <p:nvCxnSpPr>
          <p:cNvPr id="126" name="Gerader Verbinder 125">
            <a:extLst>
              <a:ext uri="{FF2B5EF4-FFF2-40B4-BE49-F238E27FC236}">
                <a16:creationId xmlns:a16="http://schemas.microsoft.com/office/drawing/2014/main" id="{39F130D1-31B1-73CB-6D5E-9376039A920A}"/>
              </a:ext>
            </a:extLst>
          </p:cNvPr>
          <p:cNvCxnSpPr>
            <a:cxnSpLocks/>
          </p:cNvCxnSpPr>
          <p:nvPr/>
        </p:nvCxnSpPr>
        <p:spPr bwMode="gray">
          <a:xfrm>
            <a:off x="7658100" y="3757613"/>
            <a:ext cx="3019425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feld 126">
            <a:extLst>
              <a:ext uri="{FF2B5EF4-FFF2-40B4-BE49-F238E27FC236}">
                <a16:creationId xmlns:a16="http://schemas.microsoft.com/office/drawing/2014/main" id="{FBCD8010-0E34-09F5-485A-1E096119E87B}"/>
              </a:ext>
            </a:extLst>
          </p:cNvPr>
          <p:cNvSpPr txBox="1"/>
          <p:nvPr/>
        </p:nvSpPr>
        <p:spPr bwMode="gray">
          <a:xfrm>
            <a:off x="7397750" y="3064709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PLC</a:t>
            </a:r>
          </a:p>
        </p:txBody>
      </p:sp>
      <p:sp>
        <p:nvSpPr>
          <p:cNvPr id="128" name="Textfeld 127">
            <a:extLst>
              <a:ext uri="{FF2B5EF4-FFF2-40B4-BE49-F238E27FC236}">
                <a16:creationId xmlns:a16="http://schemas.microsoft.com/office/drawing/2014/main" id="{81C57BFA-7351-5D96-6B1B-FD43E10A1986}"/>
              </a:ext>
            </a:extLst>
          </p:cNvPr>
          <p:cNvSpPr txBox="1"/>
          <p:nvPr/>
        </p:nvSpPr>
        <p:spPr bwMode="gray">
          <a:xfrm>
            <a:off x="9677400" y="3063600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HMI</a:t>
            </a:r>
          </a:p>
        </p:txBody>
      </p:sp>
      <p:cxnSp>
        <p:nvCxnSpPr>
          <p:cNvPr id="129" name="Gerader Verbinder 128">
            <a:extLst>
              <a:ext uri="{FF2B5EF4-FFF2-40B4-BE49-F238E27FC236}">
                <a16:creationId xmlns:a16="http://schemas.microsoft.com/office/drawing/2014/main" id="{C223140F-9AC6-D60F-D57A-2D1C0DF2FF39}"/>
              </a:ext>
            </a:extLst>
          </p:cNvPr>
          <p:cNvCxnSpPr>
            <a:cxnSpLocks/>
            <a:endCxn id="50" idx="4"/>
          </p:cNvCxnSpPr>
          <p:nvPr/>
        </p:nvCxnSpPr>
        <p:spPr bwMode="gray">
          <a:xfrm flipV="1">
            <a:off x="10214578" y="2276872"/>
            <a:ext cx="0" cy="539353"/>
          </a:xfrm>
          <a:prstGeom prst="line">
            <a:avLst/>
          </a:prstGeom>
          <a:ln w="31750">
            <a:solidFill>
              <a:srgbClr val="D30015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9AC29D2B-49FB-8AB9-BD62-577FD37011F1}"/>
              </a:ext>
            </a:extLst>
          </p:cNvPr>
          <p:cNvCxnSpPr>
            <a:cxnSpLocks/>
          </p:cNvCxnSpPr>
          <p:nvPr/>
        </p:nvCxnSpPr>
        <p:spPr bwMode="gray">
          <a:xfrm>
            <a:off x="9196388" y="2816225"/>
            <a:ext cx="1035843" cy="0"/>
          </a:xfrm>
          <a:prstGeom prst="line">
            <a:avLst/>
          </a:prstGeom>
          <a:ln w="31750">
            <a:solidFill>
              <a:srgbClr val="D30015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16DFCBED-66D7-7996-F1C7-CC6803C603A1}"/>
              </a:ext>
            </a:extLst>
          </p:cNvPr>
          <p:cNvSpPr txBox="1"/>
          <p:nvPr/>
        </p:nvSpPr>
        <p:spPr bwMode="gray">
          <a:xfrm>
            <a:off x="10711885" y="4220409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858852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9863-8288-CC17-75A0-B831D44CD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66F56900-50B6-D160-4FA1-F9669188F01E}"/>
              </a:ext>
            </a:extLst>
          </p:cNvPr>
          <p:cNvCxnSpPr>
            <a:cxnSpLocks/>
            <a:stCxn id="35" idx="0"/>
            <a:endCxn id="43" idx="4"/>
          </p:cNvCxnSpPr>
          <p:nvPr/>
        </p:nvCxnSpPr>
        <p:spPr bwMode="gray">
          <a:xfrm flipV="1">
            <a:off x="9152819" y="3501008"/>
            <a:ext cx="1511719" cy="98244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846375E2-647A-E5C9-13D6-0636FC9C5061}"/>
              </a:ext>
            </a:extLst>
          </p:cNvPr>
          <p:cNvCxnSpPr>
            <a:cxnSpLocks/>
            <a:stCxn id="35" idx="0"/>
            <a:endCxn id="40" idx="4"/>
          </p:cNvCxnSpPr>
          <p:nvPr/>
        </p:nvCxnSpPr>
        <p:spPr bwMode="gray">
          <a:xfrm flipV="1">
            <a:off x="9152819" y="3501008"/>
            <a:ext cx="755815" cy="98244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C3018D4A-E0F5-15E1-6C97-9A177BC3756B}"/>
              </a:ext>
            </a:extLst>
          </p:cNvPr>
          <p:cNvCxnSpPr>
            <a:cxnSpLocks/>
            <a:stCxn id="35" idx="0"/>
            <a:endCxn id="39" idx="4"/>
          </p:cNvCxnSpPr>
          <p:nvPr/>
        </p:nvCxnSpPr>
        <p:spPr bwMode="gray">
          <a:xfrm flipH="1" flipV="1">
            <a:off x="9152730" y="3501008"/>
            <a:ext cx="89" cy="98244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79A953F8-EEEA-C289-3ABF-37CCF81EE3BC}"/>
              </a:ext>
            </a:extLst>
          </p:cNvPr>
          <p:cNvCxnSpPr>
            <a:cxnSpLocks/>
            <a:stCxn id="35" idx="0"/>
            <a:endCxn id="41" idx="4"/>
          </p:cNvCxnSpPr>
          <p:nvPr/>
        </p:nvCxnSpPr>
        <p:spPr bwMode="gray">
          <a:xfrm flipH="1" flipV="1">
            <a:off x="8396826" y="3501008"/>
            <a:ext cx="755993" cy="98244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90EFEBE0-BBB6-2ED9-9E60-345880961542}"/>
              </a:ext>
            </a:extLst>
          </p:cNvPr>
          <p:cNvCxnSpPr>
            <a:cxnSpLocks/>
            <a:stCxn id="35" idx="0"/>
            <a:endCxn id="42" idx="4"/>
          </p:cNvCxnSpPr>
          <p:nvPr/>
        </p:nvCxnSpPr>
        <p:spPr bwMode="gray">
          <a:xfrm flipH="1" flipV="1">
            <a:off x="7640922" y="3501008"/>
            <a:ext cx="1511897" cy="982448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EC1C7D-C72C-7D22-1D65-64B1469AC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616575" cy="2232025"/>
          </a:xfrm>
        </p:spPr>
        <p:txBody>
          <a:bodyPr/>
          <a:lstStyle/>
          <a:p>
            <a:r>
              <a:rPr lang="de-DE" sz="2000" b="1" dirty="0"/>
              <a:t>Type 3:</a:t>
            </a:r>
          </a:p>
          <a:p>
            <a:r>
              <a:rPr lang="de-DE" sz="2000" b="1" dirty="0"/>
              <a:t>CA </a:t>
            </a:r>
            <a:r>
              <a:rPr lang="de-DE" sz="2000" b="1" dirty="0" err="1"/>
              <a:t>certificates</a:t>
            </a:r>
            <a:r>
              <a:rPr lang="de-DE" sz="2000" b="1" dirty="0"/>
              <a:t> </a:t>
            </a:r>
            <a:r>
              <a:rPr lang="de-DE" sz="2000" b="1" dirty="0" err="1"/>
              <a:t>are</a:t>
            </a:r>
            <a:r>
              <a:rPr lang="de-DE" sz="2000" b="1" dirty="0"/>
              <a:t> </a:t>
            </a:r>
            <a:r>
              <a:rPr lang="de-DE" sz="2000" b="1" dirty="0" err="1"/>
              <a:t>checked</a:t>
            </a:r>
            <a:r>
              <a:rPr lang="de-DE" sz="2000" b="1" dirty="0"/>
              <a:t> </a:t>
            </a:r>
            <a:r>
              <a:rPr lang="de-DE" sz="2000" b="1" dirty="0" err="1"/>
              <a:t>by</a:t>
            </a:r>
            <a:r>
              <a:rPr lang="de-DE" sz="2000" b="1" dirty="0"/>
              <a:t> </a:t>
            </a:r>
            <a:r>
              <a:rPr lang="de-DE" sz="2000" b="1" dirty="0" err="1"/>
              <a:t>consensus</a:t>
            </a:r>
            <a:endParaRPr lang="de-DE" sz="2000" b="1" dirty="0"/>
          </a:p>
          <a:p>
            <a:pPr marL="6129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Trust </a:t>
            </a:r>
            <a:r>
              <a:rPr lang="de-DE" sz="2000" dirty="0" err="1"/>
              <a:t>decentralized</a:t>
            </a:r>
            <a:r>
              <a:rPr lang="de-DE" sz="2000" dirty="0"/>
              <a:t> in </a:t>
            </a:r>
            <a:r>
              <a:rPr lang="de-DE" sz="2000" dirty="0" err="1"/>
              <a:t>the</a:t>
            </a:r>
            <a:r>
              <a:rPr lang="de-DE" sz="2000" dirty="0"/>
              <a:t> network</a:t>
            </a:r>
          </a:p>
          <a:p>
            <a:pPr marL="6129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Still </a:t>
            </a:r>
            <a:r>
              <a:rPr lang="de-DE" sz="2000" dirty="0" err="1"/>
              <a:t>reliant</a:t>
            </a:r>
            <a:r>
              <a:rPr lang="de-DE" sz="2000" dirty="0"/>
              <a:t> on a CA 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3314B83-7235-A86C-2B28-E56239B0E72F}"/>
              </a:ext>
            </a:extLst>
          </p:cNvPr>
          <p:cNvGrpSpPr/>
          <p:nvPr/>
        </p:nvGrpSpPr>
        <p:grpSpPr>
          <a:xfrm>
            <a:off x="550368" y="2727377"/>
            <a:ext cx="323957" cy="321940"/>
            <a:chOff x="6817001" y="3335951"/>
            <a:chExt cx="432000" cy="432000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C2D0C1FD-48BA-82E9-F480-B21F12695F73}"/>
                </a:ext>
              </a:extLst>
            </p:cNvPr>
            <p:cNvSpPr/>
            <p:nvPr/>
          </p:nvSpPr>
          <p:spPr bwMode="gray">
            <a:xfrm>
              <a:off x="6817001" y="3335951"/>
              <a:ext cx="432000" cy="432000"/>
            </a:xfrm>
            <a:prstGeom prst="ellipse">
              <a:avLst/>
            </a:prstGeom>
            <a:solidFill>
              <a:srgbClr val="D30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5FED7D42-EAEE-756D-61F6-D28D435D56A6}"/>
                </a:ext>
              </a:extLst>
            </p:cNvPr>
            <p:cNvGrpSpPr/>
            <p:nvPr/>
          </p:nvGrpSpPr>
          <p:grpSpPr>
            <a:xfrm>
              <a:off x="6945062" y="3464012"/>
              <a:ext cx="175878" cy="175878"/>
              <a:chOff x="7104112" y="2564904"/>
              <a:chExt cx="360313" cy="360313"/>
            </a:xfrm>
          </p:grpSpPr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048B523E-B9CF-6529-B894-25F3BA58A9D5}"/>
                  </a:ext>
                </a:extLst>
              </p:cNvPr>
              <p:cNvCxnSpPr/>
              <p:nvPr/>
            </p:nvCxnSpPr>
            <p:spPr bwMode="gray">
              <a:xfrm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6BC1824-A654-FC5B-4585-5D8F7000682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66CE0B9-3AA7-AFE5-FB67-D60600243F98}"/>
              </a:ext>
            </a:extLst>
          </p:cNvPr>
          <p:cNvCxnSpPr>
            <a:cxnSpLocks/>
            <a:stCxn id="42" idx="0"/>
            <a:endCxn id="18" idx="4"/>
          </p:cNvCxnSpPr>
          <p:nvPr/>
        </p:nvCxnSpPr>
        <p:spPr bwMode="gray">
          <a:xfrm flipV="1">
            <a:off x="7640922" y="2323082"/>
            <a:ext cx="1513878" cy="637926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88E7940C-D30C-EE1B-369A-5B4F308D1713}"/>
              </a:ext>
            </a:extLst>
          </p:cNvPr>
          <p:cNvCxnSpPr>
            <a:cxnSpLocks/>
            <a:stCxn id="41" idx="0"/>
            <a:endCxn id="18" idx="4"/>
          </p:cNvCxnSpPr>
          <p:nvPr/>
        </p:nvCxnSpPr>
        <p:spPr bwMode="gray">
          <a:xfrm flipV="1">
            <a:off x="8396826" y="2323082"/>
            <a:ext cx="757974" cy="637926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601A604C-12C0-E51A-C567-78861E50A7AC}"/>
              </a:ext>
            </a:extLst>
          </p:cNvPr>
          <p:cNvCxnSpPr>
            <a:cxnSpLocks/>
            <a:stCxn id="39" idx="0"/>
            <a:endCxn id="18" idx="4"/>
          </p:cNvCxnSpPr>
          <p:nvPr/>
        </p:nvCxnSpPr>
        <p:spPr bwMode="gray">
          <a:xfrm flipV="1">
            <a:off x="9152730" y="2323082"/>
            <a:ext cx="2070" cy="637926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1252035D-40D2-3500-20A0-5168E06820AB}"/>
              </a:ext>
            </a:extLst>
          </p:cNvPr>
          <p:cNvCxnSpPr>
            <a:cxnSpLocks/>
            <a:stCxn id="40" idx="0"/>
            <a:endCxn id="18" idx="4"/>
          </p:cNvCxnSpPr>
          <p:nvPr/>
        </p:nvCxnSpPr>
        <p:spPr bwMode="gray">
          <a:xfrm flipH="1" flipV="1">
            <a:off x="9154800" y="2323082"/>
            <a:ext cx="753834" cy="637926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32AD672C-38DC-5A33-1642-F6916B397400}"/>
              </a:ext>
            </a:extLst>
          </p:cNvPr>
          <p:cNvCxnSpPr>
            <a:cxnSpLocks/>
            <a:stCxn id="43" idx="0"/>
            <a:endCxn id="18" idx="4"/>
          </p:cNvCxnSpPr>
          <p:nvPr/>
        </p:nvCxnSpPr>
        <p:spPr bwMode="gray">
          <a:xfrm flipH="1" flipV="1">
            <a:off x="9154800" y="2323082"/>
            <a:ext cx="1509738" cy="637926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91434438-6A8D-85A8-3154-FDFDF625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 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A2E4EA-AFB6-A4FF-83A0-50186C48A5E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B6B464-7B2D-2AB7-E522-3BEB4CD3C7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40365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4A8ED0-92EE-B05F-57FF-0F4446DA70B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38</a:t>
            </a:fld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71DCBBA-5308-6FAC-011D-D208C4B11445}"/>
              </a:ext>
            </a:extLst>
          </p:cNvPr>
          <p:cNvGrpSpPr/>
          <p:nvPr/>
        </p:nvGrpSpPr>
        <p:grpSpPr>
          <a:xfrm>
            <a:off x="551384" y="2348880"/>
            <a:ext cx="323957" cy="319065"/>
            <a:chOff x="6203950" y="2825279"/>
            <a:chExt cx="432000" cy="432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82CD2D44-DF20-1865-CE86-C5C4B318DD84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C6542357-CE4A-2ADD-6A38-0347987374BB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AB30C020-A05B-67A2-368D-5A923558C4F8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DBCE852E-6CF8-6DFE-BD19-5812F3F8CB2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Textplatzhalter 76">
            <a:extLst>
              <a:ext uri="{FF2B5EF4-FFF2-40B4-BE49-F238E27FC236}">
                <a16:creationId xmlns:a16="http://schemas.microsoft.com/office/drawing/2014/main" id="{288B6CBC-5635-F220-E577-9C91EE7DE963}"/>
              </a:ext>
            </a:extLst>
          </p:cNvPr>
          <p:cNvSpPr txBox="1">
            <a:spLocks/>
          </p:cNvSpPr>
          <p:nvPr/>
        </p:nvSpPr>
        <p:spPr bwMode="gray">
          <a:xfrm>
            <a:off x="6672387" y="1638607"/>
            <a:ext cx="907200" cy="687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CA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57518B4-45FB-178D-E345-8B5DCBBCDBC3}"/>
              </a:ext>
            </a:extLst>
          </p:cNvPr>
          <p:cNvSpPr txBox="1"/>
          <p:nvPr/>
        </p:nvSpPr>
        <p:spPr bwMode="gray">
          <a:xfrm>
            <a:off x="8076076" y="1709214"/>
            <a:ext cx="448266" cy="2640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Signs</a:t>
            </a:r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AB1B6178-CCB2-DE84-8AF7-11A155A2C551}"/>
              </a:ext>
            </a:extLst>
          </p:cNvPr>
          <p:cNvGrpSpPr/>
          <p:nvPr/>
        </p:nvGrpSpPr>
        <p:grpSpPr>
          <a:xfrm>
            <a:off x="551384" y="2348880"/>
            <a:ext cx="323957" cy="319065"/>
            <a:chOff x="6203950" y="2825279"/>
            <a:chExt cx="432000" cy="432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A6E04C11-B55E-483A-0620-23B4CE590234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3C8BF392-9CAA-AFEA-9EDB-80130802206D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50C68AE3-C75A-B334-1E01-B5ED3008DA26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CD635E37-F6AB-1397-4F28-241173412B3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" name="Textplatzhalter 76">
            <a:extLst>
              <a:ext uri="{FF2B5EF4-FFF2-40B4-BE49-F238E27FC236}">
                <a16:creationId xmlns:a16="http://schemas.microsoft.com/office/drawing/2014/main" id="{12BD4B5B-0F6D-ADDA-0EB9-F877A3B07E30}"/>
              </a:ext>
            </a:extLst>
          </p:cNvPr>
          <p:cNvSpPr txBox="1">
            <a:spLocks/>
          </p:cNvSpPr>
          <p:nvPr/>
        </p:nvSpPr>
        <p:spPr bwMode="gray">
          <a:xfrm>
            <a:off x="8701200" y="1635482"/>
            <a:ext cx="907200" cy="687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New Node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766CE746-A879-857C-A4CC-15AF5BC92917}"/>
              </a:ext>
            </a:extLst>
          </p:cNvPr>
          <p:cNvCxnSpPr>
            <a:cxnSpLocks/>
            <a:stCxn id="18" idx="2"/>
            <a:endCxn id="23" idx="6"/>
          </p:cNvCxnSpPr>
          <p:nvPr/>
        </p:nvCxnSpPr>
        <p:spPr bwMode="gray">
          <a:xfrm flipH="1">
            <a:off x="7579587" y="1979282"/>
            <a:ext cx="1121613" cy="3125"/>
          </a:xfrm>
          <a:prstGeom prst="line">
            <a:avLst/>
          </a:prstGeom>
          <a:ln w="31750">
            <a:solidFill>
              <a:schemeClr val="bg2"/>
            </a:solidFill>
            <a:headEnd type="arrow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C50F5209-C3B2-13ED-0568-C2FACBF24128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882730" y="296100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42C659F5-C540-D27A-2530-39E52EDFC49D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9638634" y="296100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AEE06BFB-7ABE-7D1E-5473-7A5F7CC05926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26826" y="296100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E5B31F1E-ADC8-F74B-E196-139ACD6BBAF1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70922" y="296100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4A99D047-E4F6-F5AE-9770-95CFE4BD29A4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394538" y="296100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3D056C44-BB0D-D149-8A49-B2943F1BE613}"/>
              </a:ext>
            </a:extLst>
          </p:cNvPr>
          <p:cNvSpPr txBox="1"/>
          <p:nvPr/>
        </p:nvSpPr>
        <p:spPr bwMode="gray">
          <a:xfrm>
            <a:off x="10577043" y="2357832"/>
            <a:ext cx="1078651" cy="4849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/>
              <a:t>Broadcasts </a:t>
            </a:r>
            <a:r>
              <a:rPr lang="de-DE" sz="1400" dirty="0" err="1"/>
              <a:t>join</a:t>
            </a:r>
            <a:r>
              <a:rPr lang="de-DE" sz="1400" dirty="0"/>
              <a:t> </a:t>
            </a:r>
            <a:r>
              <a:rPr lang="de-DE" sz="1400" dirty="0" err="1"/>
              <a:t>request</a:t>
            </a:r>
            <a:endParaRPr lang="de-DE" sz="1400" dirty="0"/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A81033F0-DD7E-C395-09D2-4E44E013FFA1}"/>
              </a:ext>
            </a:extLst>
          </p:cNvPr>
          <p:cNvSpPr txBox="1"/>
          <p:nvPr/>
        </p:nvSpPr>
        <p:spPr bwMode="gray">
          <a:xfrm>
            <a:off x="10058400" y="4041775"/>
            <a:ext cx="1762125" cy="5560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400" dirty="0" err="1"/>
              <a:t>Approves</a:t>
            </a:r>
            <a:r>
              <a:rPr lang="de-DE" sz="1400" dirty="0"/>
              <a:t> </a:t>
            </a:r>
            <a:r>
              <a:rPr lang="de-DE" sz="1400" dirty="0" err="1"/>
              <a:t>join</a:t>
            </a:r>
            <a:r>
              <a:rPr lang="de-DE" sz="1400" dirty="0"/>
              <a:t> </a:t>
            </a:r>
            <a:r>
              <a:rPr lang="de-DE" sz="1400" dirty="0" err="1"/>
              <a:t>request</a:t>
            </a:r>
            <a:r>
              <a:rPr lang="de-DE" sz="1400" dirty="0"/>
              <a:t> and </a:t>
            </a:r>
            <a:r>
              <a:rPr lang="de-DE" sz="1400" dirty="0" err="1"/>
              <a:t>stores</a:t>
            </a:r>
            <a:r>
              <a:rPr lang="de-DE" sz="1400" dirty="0"/>
              <a:t> </a:t>
            </a:r>
            <a:r>
              <a:rPr lang="de-DE" sz="1400" dirty="0" err="1"/>
              <a:t>certificate</a:t>
            </a:r>
            <a:endParaRPr lang="de-DE" sz="1400" dirty="0"/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70DDFF00-96F4-6D1F-BC4A-1243BEC391D6}"/>
              </a:ext>
            </a:extLst>
          </p:cNvPr>
          <p:cNvGrpSpPr/>
          <p:nvPr/>
        </p:nvGrpSpPr>
        <p:grpSpPr>
          <a:xfrm>
            <a:off x="10001971" y="3795677"/>
            <a:ext cx="179534" cy="194097"/>
            <a:chOff x="6203950" y="2825279"/>
            <a:chExt cx="432000" cy="432000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D660F2B4-CCA9-477B-08E8-9F7F917B1F28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96AD7953-9054-86D8-E5E1-725DDD65D043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16" name="Gerader Verbinder 115">
                <a:extLst>
                  <a:ext uri="{FF2B5EF4-FFF2-40B4-BE49-F238E27FC236}">
                    <a16:creationId xmlns:a16="http://schemas.microsoft.com/office/drawing/2014/main" id="{C70B32A9-9EE1-D970-EA77-B5A2BD73ACAD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E4B41110-96A4-6626-DB7A-086B401F1A6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7B29C3B2-0399-7A73-54D3-F41B1E5A9582}"/>
              </a:ext>
            </a:extLst>
          </p:cNvPr>
          <p:cNvGrpSpPr/>
          <p:nvPr/>
        </p:nvGrpSpPr>
        <p:grpSpPr>
          <a:xfrm>
            <a:off x="9541613" y="3793772"/>
            <a:ext cx="179534" cy="194097"/>
            <a:chOff x="6203950" y="2825279"/>
            <a:chExt cx="432000" cy="432000"/>
          </a:xfrm>
        </p:grpSpPr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3CDD969D-B98F-F48D-B93E-C506423E1219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20" name="Gruppieren 119">
              <a:extLst>
                <a:ext uri="{FF2B5EF4-FFF2-40B4-BE49-F238E27FC236}">
                  <a16:creationId xmlns:a16="http://schemas.microsoft.com/office/drawing/2014/main" id="{BACA8820-A1AC-28A7-99FF-6BA173559C8F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21" name="Gerader Verbinder 120">
                <a:extLst>
                  <a:ext uri="{FF2B5EF4-FFF2-40B4-BE49-F238E27FC236}">
                    <a16:creationId xmlns:a16="http://schemas.microsoft.com/office/drawing/2014/main" id="{9127E5A1-F4A9-56C9-D90E-E9F4376A2DCA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Gerader Verbinder 121">
                <a:extLst>
                  <a:ext uri="{FF2B5EF4-FFF2-40B4-BE49-F238E27FC236}">
                    <a16:creationId xmlns:a16="http://schemas.microsoft.com/office/drawing/2014/main" id="{2CF447CA-5DE2-BEE7-E8EF-BCAC72F4827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A7D8844D-F05A-D659-8FE2-B2B1CD3AAC3D}"/>
              </a:ext>
            </a:extLst>
          </p:cNvPr>
          <p:cNvGrpSpPr/>
          <p:nvPr/>
        </p:nvGrpSpPr>
        <p:grpSpPr>
          <a:xfrm>
            <a:off x="8605096" y="3804145"/>
            <a:ext cx="179534" cy="194097"/>
            <a:chOff x="6203950" y="2825279"/>
            <a:chExt cx="432000" cy="432000"/>
          </a:xfrm>
        </p:grpSpPr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C6D391F7-ECB5-35D1-A3A3-55450B2BC2C0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25" name="Gruppieren 124">
              <a:extLst>
                <a:ext uri="{FF2B5EF4-FFF2-40B4-BE49-F238E27FC236}">
                  <a16:creationId xmlns:a16="http://schemas.microsoft.com/office/drawing/2014/main" id="{9602930B-1156-3A01-011A-5B6505A8F05A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26" name="Gerader Verbinder 125">
                <a:extLst>
                  <a:ext uri="{FF2B5EF4-FFF2-40B4-BE49-F238E27FC236}">
                    <a16:creationId xmlns:a16="http://schemas.microsoft.com/office/drawing/2014/main" id="{C09233AB-D31F-ABD4-3687-D7E835DD2646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F9AB8260-7FA0-5F2A-21D1-2E2BCC1CBA6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8" name="Gruppieren 127">
            <a:extLst>
              <a:ext uri="{FF2B5EF4-FFF2-40B4-BE49-F238E27FC236}">
                <a16:creationId xmlns:a16="http://schemas.microsoft.com/office/drawing/2014/main" id="{5E50EB0B-5CC0-D487-6457-AD9144BC8742}"/>
              </a:ext>
            </a:extLst>
          </p:cNvPr>
          <p:cNvGrpSpPr/>
          <p:nvPr/>
        </p:nvGrpSpPr>
        <p:grpSpPr>
          <a:xfrm>
            <a:off x="9066666" y="3804144"/>
            <a:ext cx="179534" cy="194097"/>
            <a:chOff x="6203950" y="2825279"/>
            <a:chExt cx="432000" cy="432000"/>
          </a:xfrm>
        </p:grpSpPr>
        <p:sp>
          <p:nvSpPr>
            <p:cNvPr id="129" name="Ellipse 128">
              <a:extLst>
                <a:ext uri="{FF2B5EF4-FFF2-40B4-BE49-F238E27FC236}">
                  <a16:creationId xmlns:a16="http://schemas.microsoft.com/office/drawing/2014/main" id="{A87053EB-14CF-ED84-3890-31DA71B71219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30" name="Gruppieren 129">
              <a:extLst>
                <a:ext uri="{FF2B5EF4-FFF2-40B4-BE49-F238E27FC236}">
                  <a16:creationId xmlns:a16="http://schemas.microsoft.com/office/drawing/2014/main" id="{40DB2ED4-59F5-3B09-21B1-EF3727233149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31" name="Gerader Verbinder 130">
                <a:extLst>
                  <a:ext uri="{FF2B5EF4-FFF2-40B4-BE49-F238E27FC236}">
                    <a16:creationId xmlns:a16="http://schemas.microsoft.com/office/drawing/2014/main" id="{975B196C-8CEC-939E-6CDD-5F424D00EBA9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Gerader Verbinder 131">
                <a:extLst>
                  <a:ext uri="{FF2B5EF4-FFF2-40B4-BE49-F238E27FC236}">
                    <a16:creationId xmlns:a16="http://schemas.microsoft.com/office/drawing/2014/main" id="{6A46E78E-FCC4-4455-B1AE-8F4BD1670A0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065CB92A-3E72-64E1-3708-AB392FBE2522}"/>
              </a:ext>
            </a:extLst>
          </p:cNvPr>
          <p:cNvGrpSpPr/>
          <p:nvPr/>
        </p:nvGrpSpPr>
        <p:grpSpPr>
          <a:xfrm>
            <a:off x="8148638" y="3804908"/>
            <a:ext cx="179534" cy="194097"/>
            <a:chOff x="6203950" y="2825279"/>
            <a:chExt cx="432000" cy="432000"/>
          </a:xfrm>
        </p:grpSpPr>
        <p:sp>
          <p:nvSpPr>
            <p:cNvPr id="134" name="Ellipse 133">
              <a:extLst>
                <a:ext uri="{FF2B5EF4-FFF2-40B4-BE49-F238E27FC236}">
                  <a16:creationId xmlns:a16="http://schemas.microsoft.com/office/drawing/2014/main" id="{38121149-7CC0-09B3-4EC9-2EE7B6DFE468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35" name="Gruppieren 134">
              <a:extLst>
                <a:ext uri="{FF2B5EF4-FFF2-40B4-BE49-F238E27FC236}">
                  <a16:creationId xmlns:a16="http://schemas.microsoft.com/office/drawing/2014/main" id="{71B7C807-88AD-99D6-FDDD-DCD0B252734B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36" name="Gerader Verbinder 135">
                <a:extLst>
                  <a:ext uri="{FF2B5EF4-FFF2-40B4-BE49-F238E27FC236}">
                    <a16:creationId xmlns:a16="http://schemas.microsoft.com/office/drawing/2014/main" id="{5F201698-BF36-A8B0-FD90-2CB0401343A9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Gerader Verbinder 136">
                <a:extLst>
                  <a:ext uri="{FF2B5EF4-FFF2-40B4-BE49-F238E27FC236}">
                    <a16:creationId xmlns:a16="http://schemas.microsoft.com/office/drawing/2014/main" id="{7BCBD652-C919-1A3A-1AD8-84E57F0D111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8" name="Textfeld 137">
            <a:extLst>
              <a:ext uri="{FF2B5EF4-FFF2-40B4-BE49-F238E27FC236}">
                <a16:creationId xmlns:a16="http://schemas.microsoft.com/office/drawing/2014/main" id="{EB50CA86-8C23-A962-BD62-2BA406EC7C7F}"/>
              </a:ext>
            </a:extLst>
          </p:cNvPr>
          <p:cNvSpPr txBox="1"/>
          <p:nvPr/>
        </p:nvSpPr>
        <p:spPr bwMode="gray">
          <a:xfrm>
            <a:off x="6241485" y="2950408"/>
            <a:ext cx="1078651" cy="539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 err="1"/>
              <a:t>Existing</a:t>
            </a:r>
            <a:r>
              <a:rPr lang="de-DE" sz="2000" b="1" dirty="0"/>
              <a:t> Nodes</a:t>
            </a:r>
          </a:p>
        </p:txBody>
      </p:sp>
      <p:pic>
        <p:nvPicPr>
          <p:cNvPr id="140" name="Grafik 139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6BE051D1-2CC7-93C8-EADA-D30EA7D499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16036" y="1629228"/>
            <a:ext cx="337289" cy="337289"/>
          </a:xfrm>
          <a:prstGeom prst="rect">
            <a:avLst/>
          </a:prstGeom>
        </p:spPr>
      </p:pic>
      <p:pic>
        <p:nvPicPr>
          <p:cNvPr id="142" name="Grafik 14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FFD7440F-D1ED-AE9A-D295-364FB575AA0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54245" y="2635297"/>
            <a:ext cx="180928" cy="180928"/>
          </a:xfrm>
          <a:prstGeom prst="rect">
            <a:avLst/>
          </a:prstGeom>
        </p:spPr>
      </p:pic>
      <p:pic>
        <p:nvPicPr>
          <p:cNvPr id="143" name="Grafik 142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3F9CEDD5-FBDB-0762-BDDC-26F9710981A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39821" y="2635297"/>
            <a:ext cx="180928" cy="180928"/>
          </a:xfrm>
          <a:prstGeom prst="rect">
            <a:avLst/>
          </a:prstGeom>
        </p:spPr>
      </p:pic>
      <p:pic>
        <p:nvPicPr>
          <p:cNvPr id="144" name="Grafik 143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82A51AD4-F5ED-F7FA-9AB7-5E639BF3D91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082040" y="2635297"/>
            <a:ext cx="180928" cy="180928"/>
          </a:xfrm>
          <a:prstGeom prst="rect">
            <a:avLst/>
          </a:prstGeom>
        </p:spPr>
      </p:pic>
      <p:pic>
        <p:nvPicPr>
          <p:cNvPr id="145" name="Grafik 14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312E529A-34BB-F893-BD4C-B59F9F2FF94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29115" y="2635297"/>
            <a:ext cx="180928" cy="180928"/>
          </a:xfrm>
          <a:prstGeom prst="rect">
            <a:avLst/>
          </a:prstGeom>
        </p:spPr>
      </p:pic>
      <p:pic>
        <p:nvPicPr>
          <p:cNvPr id="146" name="Grafik 14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F10582E9-D4CB-5A58-F381-12E36D762E8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67710" y="2635297"/>
            <a:ext cx="180928" cy="180928"/>
          </a:xfrm>
          <a:prstGeom prst="rect">
            <a:avLst/>
          </a:prstGeom>
        </p:spPr>
      </p:pic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0D2516C1-00F4-FFC7-BCD4-B2B327EDF1FB}"/>
              </a:ext>
            </a:extLst>
          </p:cNvPr>
          <p:cNvGrpSpPr/>
          <p:nvPr/>
        </p:nvGrpSpPr>
        <p:grpSpPr>
          <a:xfrm>
            <a:off x="7447442" y="4482298"/>
            <a:ext cx="2277000" cy="746902"/>
            <a:chOff x="7842567" y="2883600"/>
            <a:chExt cx="2277000" cy="746902"/>
          </a:xfrm>
        </p:grpSpPr>
        <p:sp>
          <p:nvSpPr>
            <p:cNvPr id="21" name="Rechteck: abgerundete Ecken 20">
              <a:extLst>
                <a:ext uri="{FF2B5EF4-FFF2-40B4-BE49-F238E27FC236}">
                  <a16:creationId xmlns:a16="http://schemas.microsoft.com/office/drawing/2014/main" id="{C6E59ED9-0EA8-0334-0EE2-3174181BE117}"/>
                </a:ext>
              </a:extLst>
            </p:cNvPr>
            <p:cNvSpPr/>
            <p:nvPr/>
          </p:nvSpPr>
          <p:spPr bwMode="gray">
            <a:xfrm>
              <a:off x="7842567" y="2884758"/>
              <a:ext cx="1143247" cy="74574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 w="3175">
              <a:solidFill>
                <a:srgbClr val="000000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31675BDB-B761-BEF8-112F-DD00C9F0BBAB}"/>
                </a:ext>
              </a:extLst>
            </p:cNvPr>
            <p:cNvSpPr/>
            <p:nvPr/>
          </p:nvSpPr>
          <p:spPr bwMode="gray">
            <a:xfrm>
              <a:off x="8067157" y="2883600"/>
              <a:ext cx="1143247" cy="745744"/>
            </a:xfrm>
            <a:prstGeom prst="roundRect">
              <a:avLst/>
            </a:prstGeom>
            <a:solidFill>
              <a:schemeClr val="accent1">
                <a:alpha val="60000"/>
              </a:schemeClr>
            </a:solidFill>
            <a:ln w="3175">
              <a:solidFill>
                <a:srgbClr val="000000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064EF820-FD87-EC5F-694B-923A5419BE96}"/>
                </a:ext>
              </a:extLst>
            </p:cNvPr>
            <p:cNvSpPr/>
            <p:nvPr/>
          </p:nvSpPr>
          <p:spPr bwMode="gray">
            <a:xfrm>
              <a:off x="8289903" y="2883600"/>
              <a:ext cx="1143247" cy="745744"/>
            </a:xfrm>
            <a:prstGeom prst="roundRect">
              <a:avLst/>
            </a:prstGeom>
            <a:solidFill>
              <a:schemeClr val="accent1">
                <a:alpha val="80000"/>
              </a:schemeClr>
            </a:solidFill>
            <a:ln w="3175">
              <a:solidFill>
                <a:srgbClr val="000000">
                  <a:alpha val="8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Rechteck: abgerundete Ecken 25">
              <a:extLst>
                <a:ext uri="{FF2B5EF4-FFF2-40B4-BE49-F238E27FC236}">
                  <a16:creationId xmlns:a16="http://schemas.microsoft.com/office/drawing/2014/main" id="{164A074F-6576-192B-E897-FD506011666F}"/>
                </a:ext>
              </a:extLst>
            </p:cNvPr>
            <p:cNvSpPr/>
            <p:nvPr/>
          </p:nvSpPr>
          <p:spPr bwMode="gray">
            <a:xfrm>
              <a:off x="8517144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6FDEB217-EA29-EE70-B31D-1531331E8410}"/>
                </a:ext>
              </a:extLst>
            </p:cNvPr>
            <p:cNvSpPr/>
            <p:nvPr/>
          </p:nvSpPr>
          <p:spPr bwMode="gray">
            <a:xfrm>
              <a:off x="8746732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8B03042F-FBAD-A432-FAE3-B6D587A23F67}"/>
                </a:ext>
              </a:extLst>
            </p:cNvPr>
            <p:cNvSpPr/>
            <p:nvPr/>
          </p:nvSpPr>
          <p:spPr bwMode="gray">
            <a:xfrm>
              <a:off x="8976320" y="2884758"/>
              <a:ext cx="1143247" cy="745744"/>
            </a:xfrm>
            <a:prstGeom prst="roundRect">
              <a:avLst/>
            </a:prstGeom>
            <a:solidFill>
              <a:schemeClr val="accent1"/>
            </a:solidFill>
            <a:ln w="31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de-DE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7" name="Rechteck 36">
            <a:extLst>
              <a:ext uri="{FF2B5EF4-FFF2-40B4-BE49-F238E27FC236}">
                <a16:creationId xmlns:a16="http://schemas.microsoft.com/office/drawing/2014/main" id="{A5678257-C73B-7F63-2A5D-CFEF29334CD6}"/>
              </a:ext>
            </a:extLst>
          </p:cNvPr>
          <p:cNvSpPr/>
          <p:nvPr/>
        </p:nvSpPr>
        <p:spPr bwMode="gray">
          <a:xfrm>
            <a:off x="8643918" y="4548204"/>
            <a:ext cx="1019175" cy="609600"/>
          </a:xfrm>
          <a:prstGeom prst="rect">
            <a:avLst/>
          </a:prstGeom>
          <a:solidFill>
            <a:schemeClr val="tx2"/>
          </a:solidFill>
          <a:ln w="31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de-DE" sz="1400" b="1" dirty="0">
              <a:solidFill>
                <a:srgbClr val="000000"/>
              </a:solidFill>
            </a:endParaRPr>
          </a:p>
        </p:txBody>
      </p:sp>
      <p:pic>
        <p:nvPicPr>
          <p:cNvPr id="45" name="Grafik 44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88960EE9-75D7-4A17-3597-8300FC71C6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19783" y="4621145"/>
            <a:ext cx="471025" cy="47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4368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442A-8692-4E84-2B44-E5DA017E8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platzhalter 76">
            <a:extLst>
              <a:ext uri="{FF2B5EF4-FFF2-40B4-BE49-F238E27FC236}">
                <a16:creationId xmlns:a16="http://schemas.microsoft.com/office/drawing/2014/main" id="{5287C783-1ED4-774C-0B6B-1213E44A2101}"/>
              </a:ext>
            </a:extLst>
          </p:cNvPr>
          <p:cNvSpPr txBox="1">
            <a:spLocks/>
          </p:cNvSpPr>
          <p:nvPr/>
        </p:nvSpPr>
        <p:spPr bwMode="gray">
          <a:xfrm>
            <a:off x="8701996" y="1635482"/>
            <a:ext cx="907200" cy="687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de-DE" sz="2000" dirty="0">
                <a:solidFill>
                  <a:schemeClr val="bg1"/>
                </a:solidFill>
              </a:rPr>
              <a:t>New Node</a:t>
            </a:r>
          </a:p>
        </p:txBody>
      </p: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EAA3BBF5-D2E0-DC91-AE5A-4945444CF53F}"/>
              </a:ext>
            </a:extLst>
          </p:cNvPr>
          <p:cNvGrpSpPr>
            <a:grpSpLocks noChangeAspect="1"/>
          </p:cNvGrpSpPr>
          <p:nvPr/>
        </p:nvGrpSpPr>
        <p:grpSpPr>
          <a:xfrm>
            <a:off x="10601063" y="2890800"/>
            <a:ext cx="736862" cy="241706"/>
            <a:chOff x="8023724" y="4482298"/>
            <a:chExt cx="2277000" cy="746902"/>
          </a:xfrm>
        </p:grpSpPr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205E0912-ED1F-9CE4-319A-C2FECE5EDAFA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09" name="Gruppieren 108">
                <a:extLst>
                  <a:ext uri="{FF2B5EF4-FFF2-40B4-BE49-F238E27FC236}">
                    <a16:creationId xmlns:a16="http://schemas.microsoft.com/office/drawing/2014/main" id="{7B7DC0CC-5A44-9828-6882-816CE6CA3AB2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39" name="Rechteck: abgerundete Ecken 138">
                  <a:extLst>
                    <a:ext uri="{FF2B5EF4-FFF2-40B4-BE49-F238E27FC236}">
                      <a16:creationId xmlns:a16="http://schemas.microsoft.com/office/drawing/2014/main" id="{FA2A5DFA-C5F6-C6EF-CC94-0A63C71085F2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1" name="Rechteck: abgerundete Ecken 140">
                  <a:extLst>
                    <a:ext uri="{FF2B5EF4-FFF2-40B4-BE49-F238E27FC236}">
                      <a16:creationId xmlns:a16="http://schemas.microsoft.com/office/drawing/2014/main" id="{7979B1EA-963C-C646-931F-3748BAC7F1EA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8" name="Rechteck: abgerundete Ecken 147">
                  <a:extLst>
                    <a:ext uri="{FF2B5EF4-FFF2-40B4-BE49-F238E27FC236}">
                      <a16:creationId xmlns:a16="http://schemas.microsoft.com/office/drawing/2014/main" id="{1C80A6D9-AF74-568F-2DD4-86656DE31313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9" name="Rechteck: abgerundete Ecken 148">
                  <a:extLst>
                    <a:ext uri="{FF2B5EF4-FFF2-40B4-BE49-F238E27FC236}">
                      <a16:creationId xmlns:a16="http://schemas.microsoft.com/office/drawing/2014/main" id="{6C95DFC6-DA8B-66CB-B8CB-80911264DD5A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0" name="Rechteck: abgerundete Ecken 149">
                  <a:extLst>
                    <a:ext uri="{FF2B5EF4-FFF2-40B4-BE49-F238E27FC236}">
                      <a16:creationId xmlns:a16="http://schemas.microsoft.com/office/drawing/2014/main" id="{611737D9-7CDC-2F0B-4E6D-FA42D0EFA635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Rechteck: abgerundete Ecken 150">
                  <a:extLst>
                    <a:ext uri="{FF2B5EF4-FFF2-40B4-BE49-F238E27FC236}">
                      <a16:creationId xmlns:a16="http://schemas.microsoft.com/office/drawing/2014/main" id="{901FA5CD-BD43-F612-9DC2-E5FC6CD1F8CB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10" name="Rechteck 109">
                <a:extLst>
                  <a:ext uri="{FF2B5EF4-FFF2-40B4-BE49-F238E27FC236}">
                    <a16:creationId xmlns:a16="http://schemas.microsoft.com/office/drawing/2014/main" id="{CA8F1F70-06AE-2699-45ED-1502B5CCA356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08" name="Grafik 107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CCDF83ED-702F-4C16-D532-A3D8543DE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31BDD1B3-6C5A-081D-C7CB-D4C894BFBDD6}"/>
              </a:ext>
            </a:extLst>
          </p:cNvPr>
          <p:cNvGrpSpPr>
            <a:grpSpLocks noChangeAspect="1"/>
          </p:cNvGrpSpPr>
          <p:nvPr/>
        </p:nvGrpSpPr>
        <p:grpSpPr>
          <a:xfrm>
            <a:off x="8323001" y="2891243"/>
            <a:ext cx="736862" cy="241706"/>
            <a:chOff x="8023724" y="4482298"/>
            <a:chExt cx="2277000" cy="746902"/>
          </a:xfrm>
        </p:grpSpPr>
        <p:grpSp>
          <p:nvGrpSpPr>
            <p:cNvPr id="153" name="Gruppieren 152">
              <a:extLst>
                <a:ext uri="{FF2B5EF4-FFF2-40B4-BE49-F238E27FC236}">
                  <a16:creationId xmlns:a16="http://schemas.microsoft.com/office/drawing/2014/main" id="{99D8E9AB-B383-5889-DB69-81C82A606D15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155" name="Gruppieren 154">
                <a:extLst>
                  <a:ext uri="{FF2B5EF4-FFF2-40B4-BE49-F238E27FC236}">
                    <a16:creationId xmlns:a16="http://schemas.microsoft.com/office/drawing/2014/main" id="{CFE6C281-DEA8-C641-627F-7C9AE1DB7A0A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57" name="Rechteck: abgerundete Ecken 156">
                  <a:extLst>
                    <a:ext uri="{FF2B5EF4-FFF2-40B4-BE49-F238E27FC236}">
                      <a16:creationId xmlns:a16="http://schemas.microsoft.com/office/drawing/2014/main" id="{1F3DB8DA-3E9B-0A0D-BEBE-56B26D2438F9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8" name="Rechteck: abgerundete Ecken 157">
                  <a:extLst>
                    <a:ext uri="{FF2B5EF4-FFF2-40B4-BE49-F238E27FC236}">
                      <a16:creationId xmlns:a16="http://schemas.microsoft.com/office/drawing/2014/main" id="{D49516D6-757B-BCA1-DC11-05EA51D6F0BE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9" name="Rechteck: abgerundete Ecken 158">
                  <a:extLst>
                    <a:ext uri="{FF2B5EF4-FFF2-40B4-BE49-F238E27FC236}">
                      <a16:creationId xmlns:a16="http://schemas.microsoft.com/office/drawing/2014/main" id="{8DE9C04A-8B9B-9720-1D10-B5800E7A638E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0" name="Rechteck: abgerundete Ecken 159">
                  <a:extLst>
                    <a:ext uri="{FF2B5EF4-FFF2-40B4-BE49-F238E27FC236}">
                      <a16:creationId xmlns:a16="http://schemas.microsoft.com/office/drawing/2014/main" id="{52B62B67-E46D-4100-8A4B-FDE0307EDB55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1" name="Rechteck: abgerundete Ecken 160">
                  <a:extLst>
                    <a:ext uri="{FF2B5EF4-FFF2-40B4-BE49-F238E27FC236}">
                      <a16:creationId xmlns:a16="http://schemas.microsoft.com/office/drawing/2014/main" id="{47DA3911-AC31-C632-9723-C63853688701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2" name="Rechteck: abgerundete Ecken 161">
                  <a:extLst>
                    <a:ext uri="{FF2B5EF4-FFF2-40B4-BE49-F238E27FC236}">
                      <a16:creationId xmlns:a16="http://schemas.microsoft.com/office/drawing/2014/main" id="{BF444C62-780C-1DC7-8A67-86FCB737C888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B3D9B5CB-8238-B1BE-E473-D90BFB40839E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154" name="Grafik 153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1ADF1C65-ABC0-1404-714A-A03707C47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19F2E854-AE4C-CF95-64F0-6E07E6392877}"/>
              </a:ext>
            </a:extLst>
          </p:cNvPr>
          <p:cNvCxnSpPr>
            <a:cxnSpLocks/>
          </p:cNvCxnSpPr>
          <p:nvPr/>
        </p:nvCxnSpPr>
        <p:spPr bwMode="gray">
          <a:xfrm flipV="1">
            <a:off x="10691155" y="3486149"/>
            <a:ext cx="0" cy="2881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E7E63AF-9D97-E92E-DAA0-D2F4CC2F907D}"/>
              </a:ext>
            </a:extLst>
          </p:cNvPr>
          <p:cNvCxnSpPr>
            <a:cxnSpLocks/>
          </p:cNvCxnSpPr>
          <p:nvPr/>
        </p:nvCxnSpPr>
        <p:spPr bwMode="gray">
          <a:xfrm flipV="1">
            <a:off x="8419051" y="3501008"/>
            <a:ext cx="0" cy="27089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F1169EC2-452C-E09A-EF2F-634593E225FF}"/>
              </a:ext>
            </a:extLst>
          </p:cNvPr>
          <p:cNvGrpSpPr>
            <a:grpSpLocks noChangeAspect="1"/>
          </p:cNvGrpSpPr>
          <p:nvPr/>
        </p:nvGrpSpPr>
        <p:grpSpPr>
          <a:xfrm>
            <a:off x="10393232" y="4016375"/>
            <a:ext cx="736862" cy="241706"/>
            <a:chOff x="8023724" y="4482298"/>
            <a:chExt cx="2277000" cy="746902"/>
          </a:xfrm>
        </p:grpSpPr>
        <p:grpSp>
          <p:nvGrpSpPr>
            <p:cNvPr id="72" name="Gruppieren 71">
              <a:extLst>
                <a:ext uri="{FF2B5EF4-FFF2-40B4-BE49-F238E27FC236}">
                  <a16:creationId xmlns:a16="http://schemas.microsoft.com/office/drawing/2014/main" id="{D0C77EE2-9E09-A246-926B-C6623C3A1D07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74" name="Gruppieren 73">
                <a:extLst>
                  <a:ext uri="{FF2B5EF4-FFF2-40B4-BE49-F238E27FC236}">
                    <a16:creationId xmlns:a16="http://schemas.microsoft.com/office/drawing/2014/main" id="{61ECCEA8-402D-D20F-20ED-D89D536BC03E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77" name="Rechteck: abgerundete Ecken 76">
                  <a:extLst>
                    <a:ext uri="{FF2B5EF4-FFF2-40B4-BE49-F238E27FC236}">
                      <a16:creationId xmlns:a16="http://schemas.microsoft.com/office/drawing/2014/main" id="{2D4711AD-2D99-5824-FCDF-2D419DD2767B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9" name="Rechteck: abgerundete Ecken 78">
                  <a:extLst>
                    <a:ext uri="{FF2B5EF4-FFF2-40B4-BE49-F238E27FC236}">
                      <a16:creationId xmlns:a16="http://schemas.microsoft.com/office/drawing/2014/main" id="{F4D0DDDE-718B-ECF8-085B-803CB4E8077B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Rechteck: abgerundete Ecken 79">
                  <a:extLst>
                    <a:ext uri="{FF2B5EF4-FFF2-40B4-BE49-F238E27FC236}">
                      <a16:creationId xmlns:a16="http://schemas.microsoft.com/office/drawing/2014/main" id="{CD713CAE-8539-50B4-6986-735FA1F9EB90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Rechteck: abgerundete Ecken 80">
                  <a:extLst>
                    <a:ext uri="{FF2B5EF4-FFF2-40B4-BE49-F238E27FC236}">
                      <a16:creationId xmlns:a16="http://schemas.microsoft.com/office/drawing/2014/main" id="{CE939526-3688-371B-42B2-689EAE2B9604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2" name="Rechteck: abgerundete Ecken 81">
                  <a:extLst>
                    <a:ext uri="{FF2B5EF4-FFF2-40B4-BE49-F238E27FC236}">
                      <a16:creationId xmlns:a16="http://schemas.microsoft.com/office/drawing/2014/main" id="{3FC1D33A-731D-65D1-BE5A-9B99075E0EFE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3" name="Rechteck: abgerundete Ecken 82">
                  <a:extLst>
                    <a:ext uri="{FF2B5EF4-FFF2-40B4-BE49-F238E27FC236}">
                      <a16:creationId xmlns:a16="http://schemas.microsoft.com/office/drawing/2014/main" id="{06507D0D-977A-3C10-ECB4-9BF8B82D7A27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6" name="Rechteck 75">
                <a:extLst>
                  <a:ext uri="{FF2B5EF4-FFF2-40B4-BE49-F238E27FC236}">
                    <a16:creationId xmlns:a16="http://schemas.microsoft.com/office/drawing/2014/main" id="{1388E322-AEA4-7197-C7D5-418E37AFA0F3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73" name="Grafik 72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87D63938-402E-7859-0E88-724C535A8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560DBCD8-EC40-3264-3D76-29328E92392E}"/>
              </a:ext>
            </a:extLst>
          </p:cNvPr>
          <p:cNvCxnSpPr>
            <a:cxnSpLocks/>
          </p:cNvCxnSpPr>
          <p:nvPr/>
        </p:nvCxnSpPr>
        <p:spPr bwMode="gray">
          <a:xfrm flipV="1">
            <a:off x="9167813" y="3767138"/>
            <a:ext cx="0" cy="34643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B300FA34-8BB0-FA85-CA09-4E18CE03A99C}"/>
              </a:ext>
            </a:extLst>
          </p:cNvPr>
          <p:cNvGrpSpPr>
            <a:grpSpLocks noChangeAspect="1"/>
          </p:cNvGrpSpPr>
          <p:nvPr/>
        </p:nvGrpSpPr>
        <p:grpSpPr>
          <a:xfrm>
            <a:off x="9240707" y="4016375"/>
            <a:ext cx="736862" cy="241706"/>
            <a:chOff x="8023724" y="4482298"/>
            <a:chExt cx="2277000" cy="746902"/>
          </a:xfrm>
        </p:grpSpPr>
        <p:grpSp>
          <p:nvGrpSpPr>
            <p:cNvPr id="85" name="Gruppieren 84">
              <a:extLst>
                <a:ext uri="{FF2B5EF4-FFF2-40B4-BE49-F238E27FC236}">
                  <a16:creationId xmlns:a16="http://schemas.microsoft.com/office/drawing/2014/main" id="{B501D82B-1773-62FC-3D9D-CA3FA06AB605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87" name="Gruppieren 86">
                <a:extLst>
                  <a:ext uri="{FF2B5EF4-FFF2-40B4-BE49-F238E27FC236}">
                    <a16:creationId xmlns:a16="http://schemas.microsoft.com/office/drawing/2014/main" id="{E10AE32C-8986-F5BD-3C18-0CA42A5BBE6E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89" name="Rechteck: abgerundete Ecken 88">
                  <a:extLst>
                    <a:ext uri="{FF2B5EF4-FFF2-40B4-BE49-F238E27FC236}">
                      <a16:creationId xmlns:a16="http://schemas.microsoft.com/office/drawing/2014/main" id="{12E48023-9D3A-B2AA-1480-4341EEA73304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0" name="Rechteck: abgerundete Ecken 89">
                  <a:extLst>
                    <a:ext uri="{FF2B5EF4-FFF2-40B4-BE49-F238E27FC236}">
                      <a16:creationId xmlns:a16="http://schemas.microsoft.com/office/drawing/2014/main" id="{8E1C2879-DF9A-C4E0-9825-F344B753058F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1" name="Rechteck: abgerundete Ecken 90">
                  <a:extLst>
                    <a:ext uri="{FF2B5EF4-FFF2-40B4-BE49-F238E27FC236}">
                      <a16:creationId xmlns:a16="http://schemas.microsoft.com/office/drawing/2014/main" id="{234B7DB6-BC85-496B-2A35-C1645989CF11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2" name="Rechteck: abgerundete Ecken 91">
                  <a:extLst>
                    <a:ext uri="{FF2B5EF4-FFF2-40B4-BE49-F238E27FC236}">
                      <a16:creationId xmlns:a16="http://schemas.microsoft.com/office/drawing/2014/main" id="{88628FA4-4403-F81B-DE1D-D9EF404947FB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3" name="Rechteck: abgerundete Ecken 92">
                  <a:extLst>
                    <a:ext uri="{FF2B5EF4-FFF2-40B4-BE49-F238E27FC236}">
                      <a16:creationId xmlns:a16="http://schemas.microsoft.com/office/drawing/2014/main" id="{D6EB272E-A31B-CA6D-8EC4-50D094FDE526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4" name="Rechteck: abgerundete Ecken 93">
                  <a:extLst>
                    <a:ext uri="{FF2B5EF4-FFF2-40B4-BE49-F238E27FC236}">
                      <a16:creationId xmlns:a16="http://schemas.microsoft.com/office/drawing/2014/main" id="{ACD29027-E2B6-5684-5362-469D0BAB9703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8" name="Rechteck 87">
                <a:extLst>
                  <a:ext uri="{FF2B5EF4-FFF2-40B4-BE49-F238E27FC236}">
                    <a16:creationId xmlns:a16="http://schemas.microsoft.com/office/drawing/2014/main" id="{F1217599-8015-BE18-1033-ECAF6DEA8626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86" name="Grafik 85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EEBD8FDB-A3B9-DB1C-D738-CA2FA1B32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C0DE05A3-BE32-2C2B-B346-0094F064B509}"/>
              </a:ext>
            </a:extLst>
          </p:cNvPr>
          <p:cNvCxnSpPr>
            <a:cxnSpLocks/>
          </p:cNvCxnSpPr>
          <p:nvPr/>
        </p:nvCxnSpPr>
        <p:spPr bwMode="gray">
          <a:xfrm flipV="1">
            <a:off x="7669497" y="3743325"/>
            <a:ext cx="0" cy="37024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375A7D19-B8C7-49C0-EA8F-6D88C6E47454}"/>
              </a:ext>
            </a:extLst>
          </p:cNvPr>
          <p:cNvGrpSpPr>
            <a:grpSpLocks noChangeAspect="1"/>
          </p:cNvGrpSpPr>
          <p:nvPr/>
        </p:nvGrpSpPr>
        <p:grpSpPr>
          <a:xfrm>
            <a:off x="7719751" y="4016375"/>
            <a:ext cx="736862" cy="241706"/>
            <a:chOff x="8023724" y="4482298"/>
            <a:chExt cx="2277000" cy="746902"/>
          </a:xfrm>
        </p:grpSpPr>
        <p:grpSp>
          <p:nvGrpSpPr>
            <p:cNvPr id="96" name="Gruppieren 95">
              <a:extLst>
                <a:ext uri="{FF2B5EF4-FFF2-40B4-BE49-F238E27FC236}">
                  <a16:creationId xmlns:a16="http://schemas.microsoft.com/office/drawing/2014/main" id="{2F89E5C9-57F9-EFB3-A1EE-81F7C2FA4CC7}"/>
                </a:ext>
              </a:extLst>
            </p:cNvPr>
            <p:cNvGrpSpPr/>
            <p:nvPr/>
          </p:nvGrpSpPr>
          <p:grpSpPr>
            <a:xfrm>
              <a:off x="8023724" y="4482298"/>
              <a:ext cx="2277000" cy="746902"/>
              <a:chOff x="8023724" y="4482298"/>
              <a:chExt cx="2277000" cy="746902"/>
            </a:xfrm>
          </p:grpSpPr>
          <p:grpSp>
            <p:nvGrpSpPr>
              <p:cNvPr id="98" name="Gruppieren 97">
                <a:extLst>
                  <a:ext uri="{FF2B5EF4-FFF2-40B4-BE49-F238E27FC236}">
                    <a16:creationId xmlns:a16="http://schemas.microsoft.com/office/drawing/2014/main" id="{5768D42C-F268-944F-33DF-0775651E475F}"/>
                  </a:ext>
                </a:extLst>
              </p:cNvPr>
              <p:cNvGrpSpPr/>
              <p:nvPr/>
            </p:nvGrpSpPr>
            <p:grpSpPr>
              <a:xfrm>
                <a:off x="8023724" y="4482298"/>
                <a:ext cx="2277000" cy="746902"/>
                <a:chOff x="7842567" y="2883600"/>
                <a:chExt cx="2277000" cy="746902"/>
              </a:xfrm>
            </p:grpSpPr>
            <p:sp>
              <p:nvSpPr>
                <p:cNvPr id="100" name="Rechteck: abgerundete Ecken 99">
                  <a:extLst>
                    <a:ext uri="{FF2B5EF4-FFF2-40B4-BE49-F238E27FC236}">
                      <a16:creationId xmlns:a16="http://schemas.microsoft.com/office/drawing/2014/main" id="{53C43777-7C7D-6DFC-7C6E-67ADB34CE2BB}"/>
                    </a:ext>
                  </a:extLst>
                </p:cNvPr>
                <p:cNvSpPr/>
                <p:nvPr/>
              </p:nvSpPr>
              <p:spPr bwMode="gray">
                <a:xfrm>
                  <a:off x="7842567" y="2884758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40000"/>
                  </a:schemeClr>
                </a:solidFill>
                <a:ln w="3175">
                  <a:solidFill>
                    <a:srgbClr val="000000">
                      <a:alpha val="4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1" name="Rechteck: abgerundete Ecken 100">
                  <a:extLst>
                    <a:ext uri="{FF2B5EF4-FFF2-40B4-BE49-F238E27FC236}">
                      <a16:creationId xmlns:a16="http://schemas.microsoft.com/office/drawing/2014/main" id="{FE69DAE9-05B0-716C-4D8A-D11D5A2884B2}"/>
                    </a:ext>
                  </a:extLst>
                </p:cNvPr>
                <p:cNvSpPr/>
                <p:nvPr/>
              </p:nvSpPr>
              <p:spPr bwMode="gray">
                <a:xfrm>
                  <a:off x="8067157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60000"/>
                  </a:schemeClr>
                </a:solidFill>
                <a:ln w="3175">
                  <a:solidFill>
                    <a:srgbClr val="000000">
                      <a:alpha val="6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2" name="Rechteck: abgerundete Ecken 101">
                  <a:extLst>
                    <a:ext uri="{FF2B5EF4-FFF2-40B4-BE49-F238E27FC236}">
                      <a16:creationId xmlns:a16="http://schemas.microsoft.com/office/drawing/2014/main" id="{EB4AD4CB-E982-60D7-CA1F-5B5CE1BD0AEB}"/>
                    </a:ext>
                  </a:extLst>
                </p:cNvPr>
                <p:cNvSpPr/>
                <p:nvPr/>
              </p:nvSpPr>
              <p:spPr bwMode="gray">
                <a:xfrm>
                  <a:off x="8289903" y="2883600"/>
                  <a:ext cx="1143247" cy="745744"/>
                </a:xfrm>
                <a:prstGeom prst="roundRect">
                  <a:avLst/>
                </a:prstGeom>
                <a:solidFill>
                  <a:schemeClr val="accent1">
                    <a:alpha val="80000"/>
                  </a:schemeClr>
                </a:solidFill>
                <a:ln w="3175">
                  <a:solidFill>
                    <a:srgbClr val="000000">
                      <a:alpha val="8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3" name="Rechteck: abgerundete Ecken 102">
                  <a:extLst>
                    <a:ext uri="{FF2B5EF4-FFF2-40B4-BE49-F238E27FC236}">
                      <a16:creationId xmlns:a16="http://schemas.microsoft.com/office/drawing/2014/main" id="{F982A0A5-BFA5-A069-FD2B-D28B184EFCC4}"/>
                    </a:ext>
                  </a:extLst>
                </p:cNvPr>
                <p:cNvSpPr/>
                <p:nvPr/>
              </p:nvSpPr>
              <p:spPr bwMode="gray">
                <a:xfrm>
                  <a:off x="8517144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4" name="Rechteck: abgerundete Ecken 103">
                  <a:extLst>
                    <a:ext uri="{FF2B5EF4-FFF2-40B4-BE49-F238E27FC236}">
                      <a16:creationId xmlns:a16="http://schemas.microsoft.com/office/drawing/2014/main" id="{96AF1F61-6811-E99E-8648-C0348D41E96F}"/>
                    </a:ext>
                  </a:extLst>
                </p:cNvPr>
                <p:cNvSpPr/>
                <p:nvPr/>
              </p:nvSpPr>
              <p:spPr bwMode="gray">
                <a:xfrm>
                  <a:off x="8746732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5" name="Rechteck: abgerundete Ecken 104">
                  <a:extLst>
                    <a:ext uri="{FF2B5EF4-FFF2-40B4-BE49-F238E27FC236}">
                      <a16:creationId xmlns:a16="http://schemas.microsoft.com/office/drawing/2014/main" id="{44506B41-A198-0622-FE50-BAD9C4D1AA58}"/>
                    </a:ext>
                  </a:extLst>
                </p:cNvPr>
                <p:cNvSpPr/>
                <p:nvPr/>
              </p:nvSpPr>
              <p:spPr bwMode="gray">
                <a:xfrm>
                  <a:off x="8976320" y="2884758"/>
                  <a:ext cx="1143247" cy="745744"/>
                </a:xfrm>
                <a:prstGeom prst="roundRect">
                  <a:avLst/>
                </a:prstGeom>
                <a:solidFill>
                  <a:schemeClr val="accent1"/>
                </a:solidFill>
                <a:ln w="31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44000" tIns="144000" rIns="144000" bIns="144000" rtlCol="0" anchor="ctr"/>
                <a:lstStyle/>
                <a:p>
                  <a:pPr algn="ctr"/>
                  <a:endParaRPr lang="de-DE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531256FF-05C2-8EEF-2585-8BB4DF0B7FB1}"/>
                  </a:ext>
                </a:extLst>
              </p:cNvPr>
              <p:cNvSpPr/>
              <p:nvPr/>
            </p:nvSpPr>
            <p:spPr bwMode="gray">
              <a:xfrm>
                <a:off x="9220200" y="4548204"/>
                <a:ext cx="1019175" cy="609600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44000" rIns="144000" bIns="144000" rtlCol="0" anchor="ctr"/>
              <a:lstStyle/>
              <a:p>
                <a:pPr algn="ctr"/>
                <a:endParaRPr lang="de-DE" sz="1400" b="1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97" name="Grafik 96" descr="Ein Bild, das Schwarz, Dunkelheit enthält.&#10;&#10;KI-generierte Inhalte können fehlerhaft sein.">
              <a:extLst>
                <a:ext uri="{FF2B5EF4-FFF2-40B4-BE49-F238E27FC236}">
                  <a16:creationId xmlns:a16="http://schemas.microsoft.com/office/drawing/2014/main" id="{321FC862-D3F7-86BA-88AB-E471FFB63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00828" y="4621145"/>
              <a:ext cx="471025" cy="471025"/>
            </a:xfrm>
            <a:prstGeom prst="rect">
              <a:avLst/>
            </a:prstGeom>
          </p:spPr>
        </p:pic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015178-582E-E614-812A-ADF51F6BF7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616575" cy="2232025"/>
          </a:xfrm>
        </p:spPr>
        <p:txBody>
          <a:bodyPr/>
          <a:lstStyle/>
          <a:p>
            <a:r>
              <a:rPr lang="de-DE" sz="2000" b="1" dirty="0"/>
              <a:t>Type 3:</a:t>
            </a:r>
          </a:p>
          <a:p>
            <a:r>
              <a:rPr lang="de-DE" sz="2000" b="1" dirty="0"/>
              <a:t>CA </a:t>
            </a:r>
            <a:r>
              <a:rPr lang="de-DE" sz="2000" b="1" dirty="0" err="1"/>
              <a:t>certificates</a:t>
            </a:r>
            <a:r>
              <a:rPr lang="de-DE" sz="2000" b="1" dirty="0"/>
              <a:t> </a:t>
            </a:r>
            <a:r>
              <a:rPr lang="de-DE" sz="2000" b="1" dirty="0" err="1"/>
              <a:t>are</a:t>
            </a:r>
            <a:r>
              <a:rPr lang="de-DE" sz="2000" b="1" dirty="0"/>
              <a:t> </a:t>
            </a:r>
            <a:r>
              <a:rPr lang="de-DE" sz="2000" b="1" dirty="0" err="1"/>
              <a:t>checked</a:t>
            </a:r>
            <a:r>
              <a:rPr lang="de-DE" sz="2000" b="1" dirty="0"/>
              <a:t> </a:t>
            </a:r>
            <a:r>
              <a:rPr lang="de-DE" sz="2000" b="1" dirty="0" err="1"/>
              <a:t>by</a:t>
            </a:r>
            <a:r>
              <a:rPr lang="de-DE" sz="2000" b="1" dirty="0"/>
              <a:t> </a:t>
            </a:r>
            <a:r>
              <a:rPr lang="de-DE" sz="2000" b="1" dirty="0" err="1"/>
              <a:t>consensus</a:t>
            </a:r>
            <a:endParaRPr lang="de-DE" sz="2000" b="1" dirty="0"/>
          </a:p>
          <a:p>
            <a:pPr marL="6129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Trust </a:t>
            </a:r>
            <a:r>
              <a:rPr lang="de-DE" sz="2000" dirty="0" err="1"/>
              <a:t>decentralized</a:t>
            </a:r>
            <a:r>
              <a:rPr lang="de-DE" sz="2000" dirty="0"/>
              <a:t> in </a:t>
            </a:r>
            <a:r>
              <a:rPr lang="de-DE" sz="2000" dirty="0" err="1"/>
              <a:t>the</a:t>
            </a:r>
            <a:r>
              <a:rPr lang="de-DE" sz="2000" dirty="0"/>
              <a:t> network</a:t>
            </a:r>
          </a:p>
          <a:p>
            <a:pPr marL="6129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Still </a:t>
            </a:r>
            <a:r>
              <a:rPr lang="de-DE" sz="2000" dirty="0" err="1"/>
              <a:t>reliant</a:t>
            </a:r>
            <a:r>
              <a:rPr lang="de-DE" sz="2000" dirty="0"/>
              <a:t> on a CA 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21051DB5-A30F-A477-8D46-982E1A8FDDE0}"/>
              </a:ext>
            </a:extLst>
          </p:cNvPr>
          <p:cNvGrpSpPr/>
          <p:nvPr/>
        </p:nvGrpSpPr>
        <p:grpSpPr>
          <a:xfrm>
            <a:off x="550368" y="2727377"/>
            <a:ext cx="323957" cy="321940"/>
            <a:chOff x="6817001" y="3335951"/>
            <a:chExt cx="432000" cy="432000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0450D987-DE5B-8E95-0D2B-32B5EF12A9BA}"/>
                </a:ext>
              </a:extLst>
            </p:cNvPr>
            <p:cNvSpPr/>
            <p:nvPr/>
          </p:nvSpPr>
          <p:spPr bwMode="gray">
            <a:xfrm>
              <a:off x="6817001" y="3335951"/>
              <a:ext cx="432000" cy="432000"/>
            </a:xfrm>
            <a:prstGeom prst="ellipse">
              <a:avLst/>
            </a:prstGeom>
            <a:solidFill>
              <a:srgbClr val="D30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DDB3C57F-0BEC-0D1B-D5C9-D1C4928F0A2E}"/>
                </a:ext>
              </a:extLst>
            </p:cNvPr>
            <p:cNvGrpSpPr/>
            <p:nvPr/>
          </p:nvGrpSpPr>
          <p:grpSpPr>
            <a:xfrm>
              <a:off x="6945062" y="3464012"/>
              <a:ext cx="175878" cy="175878"/>
              <a:chOff x="7104112" y="2564904"/>
              <a:chExt cx="360313" cy="360313"/>
            </a:xfrm>
          </p:grpSpPr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3D9B355F-70F1-A8FC-2353-BE15FF14A1AD}"/>
                  </a:ext>
                </a:extLst>
              </p:cNvPr>
              <p:cNvCxnSpPr/>
              <p:nvPr/>
            </p:nvCxnSpPr>
            <p:spPr bwMode="gray">
              <a:xfrm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B552F543-D70E-2CFD-15D2-45F82D14F6C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45BD7E8-747A-9258-2837-DD2B1A48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Blockchain-</a:t>
            </a:r>
            <a:r>
              <a:rPr lang="de-DE" sz="3200" dirty="0" err="1">
                <a:solidFill>
                  <a:schemeClr val="bg2"/>
                </a:solidFill>
              </a:rPr>
              <a:t>Based</a:t>
            </a:r>
            <a:r>
              <a:rPr lang="de-DE" sz="3200" dirty="0">
                <a:solidFill>
                  <a:schemeClr val="bg2"/>
                </a:solidFill>
              </a:rPr>
              <a:t> PKI </a:t>
            </a:r>
            <a:r>
              <a:rPr lang="de-DE" sz="3200" dirty="0" err="1">
                <a:solidFill>
                  <a:schemeClr val="bg2"/>
                </a:solidFill>
              </a:rPr>
              <a:t>Variants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3FA051-2E05-9E5F-BECF-ABA76A1537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A2782D-FE88-F6AA-5BCF-2F99770215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44937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93F550-7BAE-6340-A739-0653B14C31F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39</a:t>
            </a:fld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5F9FF5E-06D9-E10D-7276-CF28F3D51316}"/>
              </a:ext>
            </a:extLst>
          </p:cNvPr>
          <p:cNvGrpSpPr/>
          <p:nvPr/>
        </p:nvGrpSpPr>
        <p:grpSpPr>
          <a:xfrm>
            <a:off x="551384" y="2348880"/>
            <a:ext cx="323957" cy="319065"/>
            <a:chOff x="6203950" y="2825279"/>
            <a:chExt cx="432000" cy="432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3061905A-AAB9-4E7C-958B-399A3A7EDAA9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EC92DCD9-E606-80EA-FA38-57C8B4201978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F9A1F8B4-6A40-338B-2C0A-87A2C6F06277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28A8E16E-9E55-7709-E719-A261466C66E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6369823C-BFFC-502A-0501-40529360E1FC}"/>
              </a:ext>
            </a:extLst>
          </p:cNvPr>
          <p:cNvGrpSpPr/>
          <p:nvPr/>
        </p:nvGrpSpPr>
        <p:grpSpPr>
          <a:xfrm>
            <a:off x="551384" y="2348880"/>
            <a:ext cx="323957" cy="319065"/>
            <a:chOff x="6203950" y="2825279"/>
            <a:chExt cx="432000" cy="43200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116E4F8B-E96E-F034-6D3C-ED526B56CF2E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de-DE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F4983B80-57A5-5C8D-E0EF-AB1CE9FD582C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F49D18CA-E064-0C95-4935-9AC09737E759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Gerader Verbinder 67">
                <a:extLst>
                  <a:ext uri="{FF2B5EF4-FFF2-40B4-BE49-F238E27FC236}">
                    <a16:creationId xmlns:a16="http://schemas.microsoft.com/office/drawing/2014/main" id="{3C30EAD7-AF34-801D-F44F-7F045FF350F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" name="Textplatzhalter 76">
            <a:extLst>
              <a:ext uri="{FF2B5EF4-FFF2-40B4-BE49-F238E27FC236}">
                <a16:creationId xmlns:a16="http://schemas.microsoft.com/office/drawing/2014/main" id="{66C9FCAF-14B1-D960-41D7-64408E66CB10}"/>
              </a:ext>
            </a:extLst>
          </p:cNvPr>
          <p:cNvSpPr txBox="1">
            <a:spLocks/>
          </p:cNvSpPr>
          <p:nvPr/>
        </p:nvSpPr>
        <p:spPr bwMode="gray">
          <a:xfrm>
            <a:off x="8701200" y="1635482"/>
            <a:ext cx="907200" cy="68773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39" name="Textplatzhalter 76">
            <a:extLst>
              <a:ext uri="{FF2B5EF4-FFF2-40B4-BE49-F238E27FC236}">
                <a16:creationId xmlns:a16="http://schemas.microsoft.com/office/drawing/2014/main" id="{9BF1105F-6A47-9224-B991-445E235C24D1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906540" y="4114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0" name="Textplatzhalter 76">
            <a:extLst>
              <a:ext uri="{FF2B5EF4-FFF2-40B4-BE49-F238E27FC236}">
                <a16:creationId xmlns:a16="http://schemas.microsoft.com/office/drawing/2014/main" id="{6EB5206D-ACFE-B695-2840-F54FB4721DC2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069640" y="4114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1" name="Textplatzhalter 76">
            <a:extLst>
              <a:ext uri="{FF2B5EF4-FFF2-40B4-BE49-F238E27FC236}">
                <a16:creationId xmlns:a16="http://schemas.microsoft.com/office/drawing/2014/main" id="{8757FFB6-FBEC-BE20-9B1D-20EEC4085F33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8149051" y="296100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2" name="Textplatzhalter 76">
            <a:extLst>
              <a:ext uri="{FF2B5EF4-FFF2-40B4-BE49-F238E27FC236}">
                <a16:creationId xmlns:a16="http://schemas.microsoft.com/office/drawing/2014/main" id="{D203EF4D-B902-E632-A680-BDD7B7C3533A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7399494" y="4114800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43" name="Textplatzhalter 76">
            <a:extLst>
              <a:ext uri="{FF2B5EF4-FFF2-40B4-BE49-F238E27FC236}">
                <a16:creationId xmlns:a16="http://schemas.microsoft.com/office/drawing/2014/main" id="{11F3D9D4-DC9D-5B97-1B3B-E02ABBA89813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10419938" y="2961008"/>
            <a:ext cx="540000" cy="54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37" name="Textplatzhalter 2">
            <a:extLst>
              <a:ext uri="{FF2B5EF4-FFF2-40B4-BE49-F238E27FC236}">
                <a16:creationId xmlns:a16="http://schemas.microsoft.com/office/drawing/2014/main" id="{61B8FDCD-26DC-48F5-A084-92966D8D8DAA}"/>
              </a:ext>
            </a:extLst>
          </p:cNvPr>
          <p:cNvSpPr txBox="1">
            <a:spLocks/>
          </p:cNvSpPr>
          <p:nvPr/>
        </p:nvSpPr>
        <p:spPr bwMode="gray">
          <a:xfrm>
            <a:off x="371475" y="4041775"/>
            <a:ext cx="5616575" cy="2232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 err="1"/>
              <a:t>Applicable</a:t>
            </a:r>
            <a:r>
              <a:rPr lang="de-DE" sz="2000" dirty="0"/>
              <a:t> </a:t>
            </a:r>
            <a:r>
              <a:rPr lang="de-DE" sz="2000" dirty="0" err="1"/>
              <a:t>as</a:t>
            </a:r>
            <a:r>
              <a:rPr lang="de-DE" sz="2000" dirty="0"/>
              <a:t> a </a:t>
            </a:r>
            <a:r>
              <a:rPr lang="de-DE" sz="2000" dirty="0" err="1"/>
              <a:t>decentralized</a:t>
            </a:r>
            <a:r>
              <a:rPr lang="de-DE" sz="2000" dirty="0"/>
              <a:t> </a:t>
            </a:r>
            <a:r>
              <a:rPr lang="de-DE" sz="2000" dirty="0" err="1"/>
              <a:t>safeguard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compromised</a:t>
            </a:r>
            <a:r>
              <a:rPr lang="de-DE" sz="2000" dirty="0"/>
              <a:t> CAs </a:t>
            </a:r>
          </a:p>
          <a:p>
            <a:pPr marL="61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de-DE" sz="2000" dirty="0" err="1"/>
              <a:t>Can‘t</a:t>
            </a:r>
            <a:r>
              <a:rPr lang="de-DE" sz="2000" dirty="0"/>
              <a:t> perform PKI </a:t>
            </a:r>
            <a:r>
              <a:rPr lang="de-DE" sz="2000" dirty="0" err="1"/>
              <a:t>functions</a:t>
            </a:r>
            <a:r>
              <a:rPr lang="de-DE" sz="2000" dirty="0"/>
              <a:t> on </a:t>
            </a:r>
            <a:r>
              <a:rPr lang="de-DE" sz="2000" dirty="0" err="1"/>
              <a:t>its</a:t>
            </a:r>
            <a:r>
              <a:rPr lang="de-DE" sz="2000" dirty="0"/>
              <a:t> own</a:t>
            </a:r>
          </a:p>
          <a:p>
            <a:pPr marL="612900" lvl="1" indent="-342900">
              <a:buFont typeface="Arial" panose="020B0604020202020204" pitchFamily="34" charset="0"/>
              <a:buChar char="•"/>
            </a:pPr>
            <a:endParaRPr lang="de-DE" sz="2000" dirty="0"/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E6A82D9C-47CB-B8BA-EAB2-5F64C3B71DFA}"/>
              </a:ext>
            </a:extLst>
          </p:cNvPr>
          <p:cNvGrpSpPr/>
          <p:nvPr/>
        </p:nvGrpSpPr>
        <p:grpSpPr>
          <a:xfrm>
            <a:off x="550800" y="4033719"/>
            <a:ext cx="342000" cy="342000"/>
            <a:chOff x="7320136" y="4043360"/>
            <a:chExt cx="432000" cy="432000"/>
          </a:xfrm>
        </p:grpSpPr>
        <p:sp>
          <p:nvSpPr>
            <p:cNvPr id="46" name="Textplatzhalter 76">
              <a:extLst>
                <a:ext uri="{FF2B5EF4-FFF2-40B4-BE49-F238E27FC236}">
                  <a16:creationId xmlns:a16="http://schemas.microsoft.com/office/drawing/2014/main" id="{BCEE5E13-2BFB-89D0-DC16-26208DDCAB01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C814F9BB-79B0-D4EA-6F69-F47E1E3D6895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2783CDF5-43B6-21F8-3E08-E9E9E566AAC6}"/>
              </a:ext>
            </a:extLst>
          </p:cNvPr>
          <p:cNvGrpSpPr/>
          <p:nvPr/>
        </p:nvGrpSpPr>
        <p:grpSpPr>
          <a:xfrm>
            <a:off x="550800" y="4700469"/>
            <a:ext cx="342000" cy="342000"/>
            <a:chOff x="7320136" y="4043360"/>
            <a:chExt cx="432000" cy="432000"/>
          </a:xfrm>
        </p:grpSpPr>
        <p:sp>
          <p:nvSpPr>
            <p:cNvPr id="59" name="Textplatzhalter 76">
              <a:extLst>
                <a:ext uri="{FF2B5EF4-FFF2-40B4-BE49-F238E27FC236}">
                  <a16:creationId xmlns:a16="http://schemas.microsoft.com/office/drawing/2014/main" id="{C929DC5E-42D9-57AA-C6F7-C586C68318FB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de-DE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5A2CEE90-390F-F8EB-399C-90AC0388E065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" name="Grafik 60" descr="Roboterhand Silhouette">
            <a:extLst>
              <a:ext uri="{FF2B5EF4-FFF2-40B4-BE49-F238E27FC236}">
                <a16:creationId xmlns:a16="http://schemas.microsoft.com/office/drawing/2014/main" id="{DC19841E-0D16-EA5B-2649-E2EDF42FE1E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8081" y="1644630"/>
            <a:ext cx="656450" cy="656450"/>
          </a:xfrm>
          <a:prstGeom prst="rect">
            <a:avLst/>
          </a:prstGeom>
        </p:spPr>
      </p:pic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F76DB27D-562B-581E-7D8F-DAECD3A7BB4D}"/>
              </a:ext>
            </a:extLst>
          </p:cNvPr>
          <p:cNvCxnSpPr>
            <a:cxnSpLocks/>
          </p:cNvCxnSpPr>
          <p:nvPr/>
        </p:nvCxnSpPr>
        <p:spPr bwMode="gray">
          <a:xfrm flipV="1">
            <a:off x="10340434" y="3762375"/>
            <a:ext cx="0" cy="351195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3" name="Grafik 162" descr="Glühbirne und Zahnrad Silhouette">
            <a:extLst>
              <a:ext uri="{FF2B5EF4-FFF2-40B4-BE49-F238E27FC236}">
                <a16:creationId xmlns:a16="http://schemas.microsoft.com/office/drawing/2014/main" id="{F801F540-6FC0-0A25-00EA-8EAC8D831F93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2918" y="4162463"/>
            <a:ext cx="438150" cy="438150"/>
          </a:xfrm>
          <a:prstGeom prst="rect">
            <a:avLst/>
          </a:prstGeom>
        </p:spPr>
      </p:pic>
      <p:pic>
        <p:nvPicPr>
          <p:cNvPr id="164" name="Grafik 163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D126CC36-AC41-0D19-63B8-54219ACD86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16514" t="28162" r="15247" b="29088"/>
          <a:stretch>
            <a:fillRect/>
          </a:stretch>
        </p:blipFill>
        <p:spPr>
          <a:xfrm>
            <a:off x="8202387" y="3087574"/>
            <a:ext cx="438560" cy="274752"/>
          </a:xfrm>
          <a:prstGeom prst="rect">
            <a:avLst/>
          </a:prstGeom>
        </p:spPr>
      </p:pic>
      <p:pic>
        <p:nvPicPr>
          <p:cNvPr id="165" name="Grafik 164" descr="Ein Bild, das Screenshot, Küchengerät, Schwarz, Gerät enthält.&#10;&#10;KI-generierte Inhalte können fehlerhaft sein.">
            <a:extLst>
              <a:ext uri="{FF2B5EF4-FFF2-40B4-BE49-F238E27FC236}">
                <a16:creationId xmlns:a16="http://schemas.microsoft.com/office/drawing/2014/main" id="{65546E2E-69C1-6AF1-744D-8C26CCA2FF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38085" y="2986360"/>
            <a:ext cx="499789" cy="499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rafik 165" descr="Glühbirne und Zahnrad Silhouette">
            <a:extLst>
              <a:ext uri="{FF2B5EF4-FFF2-40B4-BE49-F238E27FC236}">
                <a16:creationId xmlns:a16="http://schemas.microsoft.com/office/drawing/2014/main" id="{504152AF-6F6F-AE50-5DB1-4F946DC3939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61045" y="4163256"/>
            <a:ext cx="438150" cy="438150"/>
          </a:xfrm>
          <a:prstGeom prst="rect">
            <a:avLst/>
          </a:prstGeom>
        </p:spPr>
      </p:pic>
      <p:pic>
        <p:nvPicPr>
          <p:cNvPr id="167" name="Grafik 166" descr="Glühbirne und Zahnrad Silhouette">
            <a:extLst>
              <a:ext uri="{FF2B5EF4-FFF2-40B4-BE49-F238E27FC236}">
                <a16:creationId xmlns:a16="http://schemas.microsoft.com/office/drawing/2014/main" id="{7325825E-E43E-B28B-2144-9A13B64C3CE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4682" y="4163256"/>
            <a:ext cx="438150" cy="438150"/>
          </a:xfrm>
          <a:prstGeom prst="rect">
            <a:avLst/>
          </a:prstGeom>
        </p:spPr>
      </p:pic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2355DEF1-547C-7F13-19B5-7F69FC1E9E3A}"/>
              </a:ext>
            </a:extLst>
          </p:cNvPr>
          <p:cNvCxnSpPr>
            <a:cxnSpLocks/>
          </p:cNvCxnSpPr>
          <p:nvPr/>
        </p:nvCxnSpPr>
        <p:spPr bwMode="gray">
          <a:xfrm>
            <a:off x="7658100" y="3757613"/>
            <a:ext cx="3019425" cy="0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feld 168">
            <a:extLst>
              <a:ext uri="{FF2B5EF4-FFF2-40B4-BE49-F238E27FC236}">
                <a16:creationId xmlns:a16="http://schemas.microsoft.com/office/drawing/2014/main" id="{5E631EC7-471B-D92F-1D04-727C5B2AF3F5}"/>
              </a:ext>
            </a:extLst>
          </p:cNvPr>
          <p:cNvSpPr txBox="1"/>
          <p:nvPr/>
        </p:nvSpPr>
        <p:spPr bwMode="gray">
          <a:xfrm>
            <a:off x="7397750" y="3064709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PLC</a:t>
            </a:r>
          </a:p>
        </p:txBody>
      </p:sp>
      <p:sp>
        <p:nvSpPr>
          <p:cNvPr id="170" name="Textfeld 169">
            <a:extLst>
              <a:ext uri="{FF2B5EF4-FFF2-40B4-BE49-F238E27FC236}">
                <a16:creationId xmlns:a16="http://schemas.microsoft.com/office/drawing/2014/main" id="{1C69DECE-37F0-7FBD-60D1-676B0CCC028E}"/>
              </a:ext>
            </a:extLst>
          </p:cNvPr>
          <p:cNvSpPr txBox="1"/>
          <p:nvPr/>
        </p:nvSpPr>
        <p:spPr bwMode="gray">
          <a:xfrm>
            <a:off x="9677400" y="3063600"/>
            <a:ext cx="690736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HMI</a:t>
            </a:r>
          </a:p>
        </p:txBody>
      </p:sp>
      <p:pic>
        <p:nvPicPr>
          <p:cNvPr id="173" name="Grafik 172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2E91B0D1-D405-A29E-3832-34DFF3F63D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74859" y="1629228"/>
            <a:ext cx="337289" cy="337289"/>
          </a:xfrm>
          <a:prstGeom prst="rect">
            <a:avLst/>
          </a:prstGeom>
        </p:spPr>
      </p:pic>
      <p:sp>
        <p:nvSpPr>
          <p:cNvPr id="175" name="Textfeld 174">
            <a:extLst>
              <a:ext uri="{FF2B5EF4-FFF2-40B4-BE49-F238E27FC236}">
                <a16:creationId xmlns:a16="http://schemas.microsoft.com/office/drawing/2014/main" id="{2A69D2BE-75B2-8085-37EE-2EA3C4D12C4E}"/>
              </a:ext>
            </a:extLst>
          </p:cNvPr>
          <p:cNvSpPr txBox="1"/>
          <p:nvPr/>
        </p:nvSpPr>
        <p:spPr bwMode="gray">
          <a:xfrm>
            <a:off x="9623415" y="1820587"/>
            <a:ext cx="814387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Robot</a:t>
            </a:r>
          </a:p>
        </p:txBody>
      </p:sp>
      <p:cxnSp>
        <p:nvCxnSpPr>
          <p:cNvPr id="177" name="Gerader Verbinder 176">
            <a:extLst>
              <a:ext uri="{FF2B5EF4-FFF2-40B4-BE49-F238E27FC236}">
                <a16:creationId xmlns:a16="http://schemas.microsoft.com/office/drawing/2014/main" id="{50DDA188-29CF-B552-006A-006FBC45ED70}"/>
              </a:ext>
            </a:extLst>
          </p:cNvPr>
          <p:cNvCxnSpPr>
            <a:cxnSpLocks/>
          </p:cNvCxnSpPr>
          <p:nvPr/>
        </p:nvCxnSpPr>
        <p:spPr bwMode="gray">
          <a:xfrm flipV="1">
            <a:off x="9166705" y="2323216"/>
            <a:ext cx="0" cy="1424872"/>
          </a:xfrm>
          <a:prstGeom prst="line">
            <a:avLst/>
          </a:prstGeom>
          <a:ln w="31750">
            <a:solidFill>
              <a:schemeClr val="bg2"/>
            </a:solidFill>
            <a:headEnd type="none"/>
            <a:tailEnd type="non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0B72A40A-1E53-5883-AA7B-ECF3EFE5318E}"/>
              </a:ext>
            </a:extLst>
          </p:cNvPr>
          <p:cNvSpPr txBox="1"/>
          <p:nvPr/>
        </p:nvSpPr>
        <p:spPr bwMode="gray">
          <a:xfrm>
            <a:off x="10711885" y="4220409"/>
            <a:ext cx="1078651" cy="345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2000" b="1" dirty="0"/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07570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1FAD4-50F0-1E35-717F-38526428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Structured </a:t>
            </a:r>
            <a:r>
              <a:rPr lang="de-DE" sz="3200" dirty="0" err="1">
                <a:solidFill>
                  <a:schemeClr val="bg2"/>
                </a:solidFill>
              </a:rPr>
              <a:t>Literature</a:t>
            </a:r>
            <a:r>
              <a:rPr lang="de-DE" sz="3200" dirty="0">
                <a:solidFill>
                  <a:schemeClr val="bg2"/>
                </a:solidFill>
              </a:rPr>
              <a:t> Research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9BBD3A-35AA-7342-ED45-9C0551CF6E9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26A405-545E-5C21-76C3-A889572DD6B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56367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815D6E-0481-2833-0975-3F4A63F11DF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40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3A54D4A-4157-C1D9-0ADC-A0041A882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685"/>
          <a:stretch>
            <a:fillRect/>
          </a:stretch>
        </p:blipFill>
        <p:spPr>
          <a:xfrm>
            <a:off x="1191578" y="1483543"/>
            <a:ext cx="8854440" cy="468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38262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E70F7-C5A8-943F-F6DE-CF947152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435FF-6E81-B729-618F-93529D38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Structured </a:t>
            </a:r>
            <a:r>
              <a:rPr lang="de-DE" sz="3200" dirty="0" err="1">
                <a:solidFill>
                  <a:schemeClr val="bg2"/>
                </a:solidFill>
              </a:rPr>
              <a:t>Literature</a:t>
            </a:r>
            <a:r>
              <a:rPr lang="de-DE" sz="3200" dirty="0">
                <a:solidFill>
                  <a:schemeClr val="bg2"/>
                </a:solidFill>
              </a:rPr>
              <a:t> Research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8446D6-59A0-26FF-CFC1-14F32EA365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FD6F52-B00F-FECA-52E0-B5F3393EE5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725709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95D95C-9E66-EB45-B2B4-5C2C1F92AC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41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44B2342-459B-C2F8-DFB3-79A2B8226B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415"/>
          <a:stretch>
            <a:fillRect/>
          </a:stretch>
        </p:blipFill>
        <p:spPr>
          <a:xfrm>
            <a:off x="2453640" y="1634334"/>
            <a:ext cx="6568440" cy="470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30221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DDD0D-7F89-E2DE-93DE-5D46E2C2D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FCDB6-4874-82E2-FE47-699803DF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Art</a:t>
            </a:r>
            <a:br>
              <a:rPr lang="de-DE" dirty="0"/>
            </a:br>
            <a:r>
              <a:rPr lang="de-DE" sz="3200" dirty="0">
                <a:solidFill>
                  <a:schemeClr val="bg2"/>
                </a:solidFill>
              </a:rPr>
              <a:t>Structured </a:t>
            </a:r>
            <a:r>
              <a:rPr lang="de-DE" sz="3200" dirty="0" err="1">
                <a:solidFill>
                  <a:schemeClr val="bg2"/>
                </a:solidFill>
              </a:rPr>
              <a:t>Literature</a:t>
            </a:r>
            <a:r>
              <a:rPr lang="de-DE" sz="3200" dirty="0">
                <a:solidFill>
                  <a:schemeClr val="bg2"/>
                </a:solidFill>
              </a:rPr>
              <a:t> Research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717900-4D56-BD9C-83B4-EB5B92A7A61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6C23486-27A5-42C9-9C1C-D6BADE75FA4A}" type="datetime1">
              <a:rPr lang="de-DE" smtClean="0"/>
              <a:t>24.03.2026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D45671-8401-DDE8-1DF5-F932E9461B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100263" y="6273800"/>
            <a:ext cx="6594157" cy="584200"/>
          </a:xfrm>
        </p:spPr>
        <p:txBody>
          <a:bodyPr/>
          <a:lstStyle/>
          <a:p>
            <a:r>
              <a:rPr lang="de-DE" dirty="0"/>
              <a:t>Tobias Schill - </a:t>
            </a:r>
            <a:r>
              <a:rPr lang="en-US" dirty="0"/>
              <a:t>Blockchain-Based Digital Certificate Management in Modular Automation Systems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A7DD1E-077D-877D-3986-6AD8FEEC808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de-DE" smtClean="0"/>
              <a:pPr/>
              <a:t>42</a:t>
            </a:fld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222250A-B926-D1EE-FB43-47AB1E23E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491" y="1425258"/>
            <a:ext cx="6540817" cy="494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2153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KIT">
  <a:themeElements>
    <a:clrScheme name="Benutzerdefiniert 3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D30015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 defTabSz="914347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Wingdings" panose="05000000000000000000" pitchFamily="2" charset="2"/>
          <a:buChar char="§"/>
          <a:defRPr sz="1400" dirty="0" err="1" smtClean="0"/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Presentation3" id="{62E0C1AC-C007-44D9-88D1-9CEF6E63615F}" vid="{0C69BC98-3490-4EB8-AD82-5472C20DF46D}"/>
    </a:ext>
  </a:extLst>
</a:theme>
</file>

<file path=ppt/theme/theme2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12AF8F975C04AAAC8C9AE9BCBECB5" ma:contentTypeVersion="5" ma:contentTypeDescription="Create a new document." ma:contentTypeScope="" ma:versionID="5d6c9fb75cae1489085b40a507c9ceac">
  <xsd:schema xmlns:xsd="http://www.w3.org/2001/XMLSchema" xmlns:xs="http://www.w3.org/2001/XMLSchema" xmlns:p="http://schemas.microsoft.com/office/2006/metadata/properties" xmlns:ns3="fa9ed6a0-8c35-40c1-b598-9e0433561831" targetNamespace="http://schemas.microsoft.com/office/2006/metadata/properties" ma:root="true" ma:fieldsID="b34fec66454248cc07044152bde833ce" ns3:_="">
    <xsd:import namespace="fa9ed6a0-8c35-40c1-b598-9e043356183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ed6a0-8c35-40c1-b598-9e043356183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159617-DEC9-404F-99CE-1D26659791CE}">
  <ds:schemaRefs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fa9ed6a0-8c35-40c1-b598-9e0433561831"/>
  </ds:schemaRefs>
</ds:datastoreItem>
</file>

<file path=customXml/itemProps2.xml><?xml version="1.0" encoding="utf-8"?>
<ds:datastoreItem xmlns:ds="http://schemas.openxmlformats.org/officeDocument/2006/customXml" ds:itemID="{5E359DD4-3818-4294-9945-2CC7AB3D12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2ABB1F-18B4-4E42-B163-AF46C07ECC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9ed6a0-8c35-40c1-b598-9e04335618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IRS_PPT Template DE 2025</Template>
  <TotalTime>0</TotalTime>
  <Words>2368</Words>
  <Application>Microsoft Office PowerPoint</Application>
  <PresentationFormat>Breitbild</PresentationFormat>
  <Paragraphs>652</Paragraphs>
  <Slides>42</Slides>
  <Notes>28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42</vt:i4>
      </vt:variant>
    </vt:vector>
  </HeadingPairs>
  <TitlesOfParts>
    <vt:vector size="47" baseType="lpstr">
      <vt:lpstr>Arial</vt:lpstr>
      <vt:lpstr>Franklin Gothic Medium</vt:lpstr>
      <vt:lpstr>Symbol</vt:lpstr>
      <vt:lpstr>Wingdings</vt:lpstr>
      <vt:lpstr>KIT</vt:lpstr>
      <vt:lpstr>Blockchain-Based Digital Certificate Management in Modular Automation Systems</vt:lpstr>
      <vt:lpstr>Motivation and Problem</vt:lpstr>
      <vt:lpstr>Problem Statement Benefits of Modular Automation Architecture</vt:lpstr>
      <vt:lpstr>Problem Statement Public Key Infrastructure (PKI)</vt:lpstr>
      <vt:lpstr>Problem Statement Given Modular Environment</vt:lpstr>
      <vt:lpstr>Problem Statement Given Modular Environment</vt:lpstr>
      <vt:lpstr>Problem Statement Proposed Blockchain Solution</vt:lpstr>
      <vt:lpstr>Fundamentals</vt:lpstr>
      <vt:lpstr>Fundamentals Blockchain Structure </vt:lpstr>
      <vt:lpstr> Immutability</vt:lpstr>
      <vt:lpstr>Fundamentals Execute-Order-Validate Model </vt:lpstr>
      <vt:lpstr>Fundamentals Practical Example</vt:lpstr>
      <vt:lpstr>State of the Art</vt:lpstr>
      <vt:lpstr>State of the Art Structured Literature Research</vt:lpstr>
      <vt:lpstr>State of the Art Blockchain-Based PKI Variants</vt:lpstr>
      <vt:lpstr>State of the Art Blockchain-Based PKI Variants</vt:lpstr>
      <vt:lpstr>State of the Art Blockchain-Based PKI Variants</vt:lpstr>
      <vt:lpstr>State of the Art Blockchain Based PKI Variants</vt:lpstr>
      <vt:lpstr>State of the Art Blockchain-Based PKI Variants</vt:lpstr>
      <vt:lpstr>State of the Art Blockchain-Based PKI Variants</vt:lpstr>
      <vt:lpstr>Concept</vt:lpstr>
      <vt:lpstr>Concept  Synthesized Adopted System</vt:lpstr>
      <vt:lpstr>Concept  Synthesized Adopted System</vt:lpstr>
      <vt:lpstr>Concept  Technical Implementation Concept</vt:lpstr>
      <vt:lpstr>Concept  Used Certificate and Governance Operations</vt:lpstr>
      <vt:lpstr>Benchmarks</vt:lpstr>
      <vt:lpstr>Benchmarks System Latency</vt:lpstr>
      <vt:lpstr>Benchmarks Storage Consumption per Operation</vt:lpstr>
      <vt:lpstr>Discussion</vt:lpstr>
      <vt:lpstr>Discussion Suitability for OT</vt:lpstr>
      <vt:lpstr>Demonstration</vt:lpstr>
      <vt:lpstr>PowerPoint-Präsentation</vt:lpstr>
      <vt:lpstr>PowerPoint-Präsentation</vt:lpstr>
      <vt:lpstr>PowerPoint-Präsentation</vt:lpstr>
      <vt:lpstr>Fundamentals Basic Blockchain Consensus (PoW)</vt:lpstr>
      <vt:lpstr>State of the Art Blockchain-Based PKI Variants</vt:lpstr>
      <vt:lpstr>State of the Art Blockchain-Based PKI Variants</vt:lpstr>
      <vt:lpstr>State of the Art Blockchain Based PKI Variants</vt:lpstr>
      <vt:lpstr>State of the Art Blockchain-Based PKI Variants</vt:lpstr>
      <vt:lpstr>State of the Art Structured Literature Research</vt:lpstr>
      <vt:lpstr>State of the Art Structured Literature Research</vt:lpstr>
      <vt:lpstr>State of the Art Structured Literature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Schill</dc:creator>
  <cp:lastModifiedBy>Tobias Schill</cp:lastModifiedBy>
  <cp:revision>40</cp:revision>
  <dcterms:created xsi:type="dcterms:W3CDTF">2026-01-04T08:37:35Z</dcterms:created>
  <dcterms:modified xsi:type="dcterms:W3CDTF">2026-03-24T09:35:18Z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0x01010095312AF8F975C04AAAC8C9AE9BCBECB5</vt:lpwstr>
  </property>
</Properties>
</file>